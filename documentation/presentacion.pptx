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2"/>
  </p:notesMasterIdLst>
  <p:sldIdLst>
    <p:sldId id="301" r:id="rId5"/>
    <p:sldId id="302" r:id="rId6"/>
    <p:sldId id="303" r:id="rId7"/>
    <p:sldId id="304" r:id="rId8"/>
    <p:sldId id="305" r:id="rId9"/>
    <p:sldId id="306" r:id="rId10"/>
    <p:sldId id="307" r:id="rId11"/>
  </p:sldIdLst>
  <p:sldSz cx="12192000" cy="6858000"/>
  <p:notesSz cx="7099300" cy="102346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60AB"/>
    <a:srgbClr val="065CA9"/>
    <a:srgbClr val="0A849F"/>
    <a:srgbClr val="2F528F"/>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4"/>
    <p:restoredTop sz="94606"/>
  </p:normalViewPr>
  <p:slideViewPr>
    <p:cSldViewPr snapToGrid="0">
      <p:cViewPr>
        <p:scale>
          <a:sx n="114" d="100"/>
          <a:sy n="114" d="100"/>
        </p:scale>
        <p:origin x="1048"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3076363" cy="513508"/>
          </a:xfrm>
          <a:prstGeom prst="rect">
            <a:avLst/>
          </a:prstGeom>
        </p:spPr>
        <p:txBody>
          <a:bodyPr vert="horz" lIns="99048" tIns="49524" rIns="99048" bIns="49524" rtlCol="0"/>
          <a:lstStyle>
            <a:lvl1pPr algn="l">
              <a:defRPr sz="1300"/>
            </a:lvl1pPr>
          </a:lstStyle>
          <a:p>
            <a:endParaRPr lang="es-ES_tradnl"/>
          </a:p>
        </p:txBody>
      </p:sp>
      <p:sp>
        <p:nvSpPr>
          <p:cNvPr id="3" name="Marcador de fecha 2"/>
          <p:cNvSpPr>
            <a:spLocks noGrp="1"/>
          </p:cNvSpPr>
          <p:nvPr>
            <p:ph type="dt" idx="1"/>
          </p:nvPr>
        </p:nvSpPr>
        <p:spPr>
          <a:xfrm>
            <a:off x="4021294" y="0"/>
            <a:ext cx="3076363" cy="513508"/>
          </a:xfrm>
          <a:prstGeom prst="rect">
            <a:avLst/>
          </a:prstGeom>
        </p:spPr>
        <p:txBody>
          <a:bodyPr vert="horz" lIns="99048" tIns="49524" rIns="99048" bIns="49524" rtlCol="0"/>
          <a:lstStyle>
            <a:lvl1pPr algn="r">
              <a:defRPr sz="1300"/>
            </a:lvl1pPr>
          </a:lstStyle>
          <a:p>
            <a:fld id="{6F5C5E53-F147-8644-A0CF-46FCFCB7C5D6}" type="datetimeFigureOut">
              <a:rPr lang="es-ES_tradnl" smtClean="0"/>
              <a:t>30/10/26</a:t>
            </a:fld>
            <a:endParaRPr lang="es-ES_tradnl"/>
          </a:p>
        </p:txBody>
      </p:sp>
      <p:sp>
        <p:nvSpPr>
          <p:cNvPr id="4" name="Marcador de imagen de diapositiva 3"/>
          <p:cNvSpPr>
            <a:spLocks noGrp="1" noRot="1" noChangeAspect="1"/>
          </p:cNvSpPr>
          <p:nvPr>
            <p:ph type="sldImg" idx="2"/>
          </p:nvPr>
        </p:nvSpPr>
        <p:spPr>
          <a:xfrm>
            <a:off x="479425" y="1279525"/>
            <a:ext cx="6140450" cy="3454400"/>
          </a:xfrm>
          <a:prstGeom prst="rect">
            <a:avLst/>
          </a:prstGeom>
          <a:noFill/>
          <a:ln w="12700">
            <a:solidFill>
              <a:prstClr val="black"/>
            </a:solidFill>
          </a:ln>
        </p:spPr>
        <p:txBody>
          <a:bodyPr vert="horz" lIns="99048" tIns="49524" rIns="99048" bIns="49524" rtlCol="0" anchor="ctr"/>
          <a:lstStyle/>
          <a:p>
            <a:endParaRPr lang="es-ES_tradnl"/>
          </a:p>
        </p:txBody>
      </p:sp>
      <p:sp>
        <p:nvSpPr>
          <p:cNvPr id="5" name="Marcador de notas 4"/>
          <p:cNvSpPr>
            <a:spLocks noGrp="1"/>
          </p:cNvSpPr>
          <p:nvPr>
            <p:ph type="body" sz="quarter" idx="3"/>
          </p:nvPr>
        </p:nvSpPr>
        <p:spPr>
          <a:xfrm>
            <a:off x="709930" y="4925407"/>
            <a:ext cx="5679440" cy="4029879"/>
          </a:xfrm>
          <a:prstGeom prst="rect">
            <a:avLst/>
          </a:prstGeom>
        </p:spPr>
        <p:txBody>
          <a:bodyPr vert="horz" lIns="99048" tIns="49524" rIns="99048" bIns="49524"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6" name="Marcador de pie de página 5"/>
          <p:cNvSpPr>
            <a:spLocks noGrp="1"/>
          </p:cNvSpPr>
          <p:nvPr>
            <p:ph type="ftr" sz="quarter" idx="4"/>
          </p:nvPr>
        </p:nvSpPr>
        <p:spPr>
          <a:xfrm>
            <a:off x="0" y="9721107"/>
            <a:ext cx="3076363" cy="513507"/>
          </a:xfrm>
          <a:prstGeom prst="rect">
            <a:avLst/>
          </a:prstGeom>
        </p:spPr>
        <p:txBody>
          <a:bodyPr vert="horz" lIns="99048" tIns="49524" rIns="99048" bIns="49524" rtlCol="0" anchor="b"/>
          <a:lstStyle>
            <a:lvl1pPr algn="l">
              <a:defRPr sz="1300"/>
            </a:lvl1pPr>
          </a:lstStyle>
          <a:p>
            <a:endParaRPr lang="es-ES_tradnl"/>
          </a:p>
        </p:txBody>
      </p:sp>
      <p:sp>
        <p:nvSpPr>
          <p:cNvPr id="7" name="Marcador de número de diapositiva 6"/>
          <p:cNvSpPr>
            <a:spLocks noGrp="1"/>
          </p:cNvSpPr>
          <p:nvPr>
            <p:ph type="sldNum" sz="quarter" idx="5"/>
          </p:nvPr>
        </p:nvSpPr>
        <p:spPr>
          <a:xfrm>
            <a:off x="4021294" y="9721107"/>
            <a:ext cx="3076363" cy="513507"/>
          </a:xfrm>
          <a:prstGeom prst="rect">
            <a:avLst/>
          </a:prstGeom>
        </p:spPr>
        <p:txBody>
          <a:bodyPr vert="horz" lIns="99048" tIns="49524" rIns="99048" bIns="49524" rtlCol="0" anchor="b"/>
          <a:lstStyle>
            <a:lvl1pPr algn="r">
              <a:defRPr sz="1300"/>
            </a:lvl1pPr>
          </a:lstStyle>
          <a:p>
            <a:fld id="{447058AE-FEB0-D242-BCAE-44464DE802C9}" type="slidenum">
              <a:rPr lang="es-ES_tradnl" smtClean="0"/>
              <a:t>‹Nº›</a:t>
            </a:fld>
            <a:endParaRPr lang="es-ES_tradnl"/>
          </a:p>
        </p:txBody>
      </p:sp>
    </p:spTree>
    <p:extLst>
      <p:ext uri="{BB962C8B-B14F-4D97-AF65-F5344CB8AC3E}">
        <p14:creationId xmlns:p14="http://schemas.microsoft.com/office/powerpoint/2010/main" val="2743059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s-ES" dirty="0"/>
              <a:t>[5 s] Presento una red convolucional 2D, entrenada desde cero, que estima a partir de la resonancia previa al tratamiento la probabilidad de respuesta patológica completa en cáncer de mama.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s-ES" dirty="0"/>
              <a:t>[40 s] Algunas pacientes con cáncer de mama reciben el tratamiento antes de la cirugía: es el tratamiento neoadyuvante. Solo al operar se sabe si el tumor ha desaparecido; eso es la respuesta patológica completa, o pCR, y se asocia a mayor supervivencia. Contamos con la resonancia previa de 1.450 pacientes de tres cohortes, con su resultado; solo unas 3 de cada 10 alcanzan la pCR. La pregunta es si esa imagen permite anticipar la respuesta. Mi propuesta es Lector pCR: una red convolucional entrenada desde cero que estima la probabilidad de pCR de cada paciente y la compara con un umbral. Apoya al médico, no lo sustituye. Abajo está el proceso que voy a recorrer.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s-ES" dirty="0"/>
              <a:t>[35 s] Cada corte tiene tres fases de la resonancia: antes del contraste, poco después y más tarde. Son tres instantes, no colores, así que no uso normalización de ImageNet. La resta de la fase temprana menos la previa muestra dónde capta contraste el tejido; el tumor suele captar más. Hay 1.097 pacientes de entrenamiento con unos diez cortes cada una, repartidas en cinco folds por paciente: los cortes de una paciente nunca se separan. Solo el 29,4 % alcanza pCR, así que pondero la clase positiva con N0 entre N1, calculado en cada fold solo con su entrenamiento.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s-ES" dirty="0"/>
              <a:t>[70 s] La red recibe un tensor de 3 × 256 × 256 y recorta los 128 píxeles centrales, donde se concentra el tumor en las tres cohortes. Siguen cinco bloques: cada uno aplica dos convoluciones 3×3 con normalización por lotes y ReLU, y un max-pooling que reduce la resolución a la mitad, mientras los canales se duplican de 4 a 64. Al final, el campo receptivo es de 156 píxeles, de modo que cada salida ve todo el recorte. Una media global, dropout de 0,3 y una capa lineal dan un único logit; la sigmoide lo convierte en probabilidad. La anchura se eligió con validación: con 296.000 parámetros la red memoriza —tras 40 épocas el AUC de entrenamiento supera al de validación en 0,37— y con 19.000 no aprende lo suficiente. Con 74.000 se obtuvo el mejor AUC por paciente, 0,583, eligiendo la época sin mirar el fold evaluado.</a:t>
            </a:r>
          </a:p>
          <a:p>
            <a:endParaRPr lang="es-ES" dirty="0"/>
          </a:p>
          <a:p>
            <a:r>
              <a:rPr lang="es-ES" dirty="0"/>
              <a:t>Preguntas probables: ¿por qué no más profunda? Probé una variante profunda y no mejoró. ¿Por qué BatchNorm? Estabiliza el entrenamiento desde cero; por eso la penalización de pesos fuerte no ayuda (la escala de las convoluciones seguidas de BN no afecta a la salida).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s-ES" dirty="0"/>
              <a:t>[80 s] El entrenamiento usa BCE ponderada, AdamW, decaimiento coseno y media exponencial de los pesos, con aumentos geométricos idénticos en las tres fases. Las curvas de arriba son la media de los cinco folds: la pérdida de entrenamiento baja durante las 40 épocas, pero la de validación deja de bajar hacia la época 4 y después sube, señal de sobreajuste; el AUC de validación alcanza su máximo hacia la época 8. Por eso el modelo final se entrena 8 épocas, número elegido para cada fold con los otros cuatro. El AUC mide si el modelo ordena bien: es la probabilidad de que una paciente con pCR reciba más puntuación que una sin pCR; 0,5 es azar. La línea coral es una referencia que solo conoce la cohorte de origen. En validación, el modelo estrecho llega a 0,582, pero la diferencia no es significativa; en test, el ancho dio 0,591 y el estrecho 0,522, en una segunda evaluación que declaro como tal. A la derecha, el coste de equivocarse. Un falso positivo anuncia una respuesta completa que no llega; un falso negativo no reconoce a una paciente que sí responde. Fijé el umbral en validación para una especificidad del 90 %, para no dar falsas expectativas. En test eso deja 9 falsos positivos, pero solo detecta 5 de las 53 pCR.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s-ES" dirty="0"/>
              <a:t>[60 s, demostración] Abrir Lector pCR, elegir un estudio y mostrar la probabilidad, el umbral y la decisión.</a:t>
            </a:r>
          </a:p>
          <a:p>
            <a:endParaRPr lang="es-ES" dirty="0"/>
          </a:p>
          <a:p>
            <a:r>
              <a:rPr lang="es-ES" dirty="0"/>
              <a:t>[50 s] La aplicación funciona: carga la resonancia, da una probabilidad y una decisión en menos de un segundo, sin enviar imágenes fuera del hospital. Pero tiene tres límites. Acierta poco: en test el AUC es 0,52, casi azar, y solo detecta 5 de 53 respuestas completas. Mira un corte 2D cuando el tumor es un volumen. Y parte de lo que aprende es de qué hospital viene la imagen. La mejora que propongo tiene tres pasos: entrenar con el volumen 3D completo, que ya es público para 2.070 pacientes; que un radiólogo marque el tumor en unos mil estudios; y validar el modelo con pacientes nuevas de tres hospitales. Cuesta unos 72.000 € y el objetivo es un AUC de 0,75, cerca de lo publicado con 3D y tumor segmentado. ¿Para qué serviría? Imaginemos un hospital con 150 pacientes al año. En el ensayo PHERGain, un tercio de las pacientes HER2+ pudo evitar la quimioterapia porque una prueba de imagen (PET) mostró pronto que respondían. Si Lector pCR hiciera ese papel con la resonancia que ya se hace, 15 pacientes al año evitarían la quimioterapia y no harían falta 45 PET. Son unos 200.000 € al año por hospital, de modo que la mejora se pagaría en unos cuatro meses. Conclusión: el producto ya está listo; lo que falta es un modelo que vea el tumor entero y que se valide fuera de estos datos.</a:t>
            </a:r>
          </a:p>
          <a:p>
            <a:endParaRPr lang="es-ES" dirty="0"/>
          </a:p>
          <a:p>
            <a:r>
              <a:rPr lang="es-ES" dirty="0"/>
              <a:t>Supuestos y fuentes: 150 pacientes al año con neoadyuvancia en un hospital de referencia (supuesto). 30 % HER2+ = 45 pacientes (supuesto; la neoadyuvancia se usa sobre todo en HER2+ y triple negativo). Un tercio de las HER2+ evitó la quimioterapia con una estrategia guiada por PET y pCR: PHERGain, Pérez-García et al., Lancet 2024 (supervivencia libre de enfermedad invasiva a 3 años del 96,4 % en ese grupo). Quimioterapia evitada: 6 ciclos × 1.500 € (extremo bajo del precio privado por sesión, 1.500–4.500 €) = 9.000 € por paciente. PET-TAC: 1.300–1.800 $ en centros privados españoles; se usan 1.500 €. Mejora: GPU en la nube 2.000 € (supuesto); 1.000 estudios × 10 min de radiólogo = 170 h × 60 €/h ≈ 10.000 € (supuesto); validación en 3 hospitales 60.000 € (supuesto: gestión de datos y tiempo de radiólogos). Objetivo AUC 0,75: un modelo 3D con tumor segmentado obtuvo 0,72 en validación externa (Xu et al., 2025). Es un escenario: hoy el modelo no permite tomar ninguna de estas decisiones.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r>
              <a:rPr lang="es-ES" dirty="0"/>
              <a:t>Durante las preguntas, volver a la diapositiva 5 si hace falta mostrar las conclusiones.</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uax.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2_Custom Layout">
    <p:spTree>
      <p:nvGrpSpPr>
        <p:cNvPr id="1" name=""/>
        <p:cNvGrpSpPr/>
        <p:nvPr/>
      </p:nvGrpSpPr>
      <p:grpSpPr>
        <a:xfrm>
          <a:off x="0" y="0"/>
          <a:ext cx="0" cy="0"/>
          <a:chOff x="0" y="0"/>
          <a:chExt cx="0" cy="0"/>
        </a:xfrm>
      </p:grpSpPr>
      <p:pic>
        <p:nvPicPr>
          <p:cNvPr id="2" name="Imagen 1">
            <a:hlinkClick r:id="rId2"/>
            <a:extLst>
              <a:ext uri="{FF2B5EF4-FFF2-40B4-BE49-F238E27FC236}">
                <a16:creationId xmlns:a16="http://schemas.microsoft.com/office/drawing/2014/main" id="{5BF8870F-7094-C29D-E8ED-ECA89B036548}"/>
              </a:ext>
            </a:extLst>
          </p:cNvPr>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15346" y="260963"/>
            <a:ext cx="1874520" cy="411480"/>
          </a:xfrm>
          <a:prstGeom prst="rect">
            <a:avLst/>
          </a:prstGeom>
          <a:noFill/>
          <a:ln>
            <a:noFill/>
          </a:ln>
        </p:spPr>
      </p:pic>
    </p:spTree>
    <p:extLst>
      <p:ext uri="{BB962C8B-B14F-4D97-AF65-F5344CB8AC3E}">
        <p14:creationId xmlns:p14="http://schemas.microsoft.com/office/powerpoint/2010/main" val="187623493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12" name="object 25">
            <a:extLst>
              <a:ext uri="{FF2B5EF4-FFF2-40B4-BE49-F238E27FC236}">
                <a16:creationId xmlns:a16="http://schemas.microsoft.com/office/drawing/2014/main" id="{B5B8F871-0E84-42DA-BFCD-CDAC5D2E416E}"/>
              </a:ext>
            </a:extLst>
          </p:cNvPr>
          <p:cNvPicPr>
            <a:picLocks noChangeAspect="1"/>
          </p:cNvPicPr>
          <p:nvPr userDrawn="1"/>
        </p:nvPicPr>
        <p:blipFill rotWithShape="1">
          <a:blip r:embed="rId2" cstate="print"/>
          <a:srcRect b="9915"/>
          <a:stretch/>
        </p:blipFill>
        <p:spPr>
          <a:xfrm>
            <a:off x="9666514" y="5977316"/>
            <a:ext cx="2525486" cy="880683"/>
          </a:xfrm>
          <a:prstGeom prst="rect">
            <a:avLst/>
          </a:prstGeom>
        </p:spPr>
      </p:pic>
    </p:spTree>
    <p:extLst>
      <p:ext uri="{BB962C8B-B14F-4D97-AF65-F5344CB8AC3E}">
        <p14:creationId xmlns:p14="http://schemas.microsoft.com/office/powerpoint/2010/main" val="37440135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8580849"/>
      </p:ext>
    </p:extLst>
  </p:cSld>
  <p:clrMap bg1="lt1" tx1="dk1" bg2="lt2" tx2="dk2" accent1="accent1" accent2="accent2" accent3="accent3" accent4="accent4" accent5="accent5" accent6="accent6" hlink="hlink" folHlink="folHlink"/>
  <p:sldLayoutIdLst>
    <p:sldLayoutId id="2147483671" r:id="rId1"/>
    <p:sldLayoutId id="2147483649"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alejandrobarreche.github.io/breast-cnn/"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Forma libre 11">
            <a:extLst>
              <a:ext uri="{FF2B5EF4-FFF2-40B4-BE49-F238E27FC236}">
                <a16:creationId xmlns:a16="http://schemas.microsoft.com/office/drawing/2014/main" id="{D2B11345-E8EA-ACC7-79CF-9FA1F48C198A}"/>
              </a:ext>
            </a:extLst>
          </p:cNvPr>
          <p:cNvSpPr/>
          <p:nvPr/>
        </p:nvSpPr>
        <p:spPr>
          <a:xfrm>
            <a:off x="0" y="0"/>
            <a:ext cx="12192001" cy="6858000"/>
          </a:xfrm>
          <a:custGeom>
            <a:avLst/>
            <a:gdLst>
              <a:gd name="connsiteX0" fmla="*/ 1130164 w 5988108"/>
              <a:gd name="connsiteY0" fmla="*/ 0 h 6858123"/>
              <a:gd name="connsiteX1" fmla="*/ 4627399 w 5988108"/>
              <a:gd name="connsiteY1" fmla="*/ 0 h 6858123"/>
              <a:gd name="connsiteX2" fmla="*/ 4627399 w 5988108"/>
              <a:gd name="connsiteY2" fmla="*/ 121 h 6858123"/>
              <a:gd name="connsiteX3" fmla="*/ 5988108 w 5988108"/>
              <a:gd name="connsiteY3" fmla="*/ 121 h 6858123"/>
              <a:gd name="connsiteX4" fmla="*/ 3645379 w 5988108"/>
              <a:gd name="connsiteY4" fmla="*/ 6858120 h 6858123"/>
              <a:gd name="connsiteX5" fmla="*/ 3497235 w 5988108"/>
              <a:gd name="connsiteY5" fmla="*/ 6858120 h 6858123"/>
              <a:gd name="connsiteX6" fmla="*/ 3497235 w 5988108"/>
              <a:gd name="connsiteY6" fmla="*/ 6858123 h 6858123"/>
              <a:gd name="connsiteX7" fmla="*/ 0 w 5988108"/>
              <a:gd name="connsiteY7" fmla="*/ 6858123 h 6858123"/>
              <a:gd name="connsiteX8" fmla="*/ 0 w 5988108"/>
              <a:gd name="connsiteY8" fmla="*/ 123 h 6858123"/>
              <a:gd name="connsiteX9" fmla="*/ 1130164 w 5988108"/>
              <a:gd name="connsiteY9" fmla="*/ 123 h 6858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88108" h="6858123">
                <a:moveTo>
                  <a:pt x="1130164" y="0"/>
                </a:moveTo>
                <a:lnTo>
                  <a:pt x="4627399" y="0"/>
                </a:lnTo>
                <a:lnTo>
                  <a:pt x="4627399" y="121"/>
                </a:lnTo>
                <a:lnTo>
                  <a:pt x="5988108" y="121"/>
                </a:lnTo>
                <a:lnTo>
                  <a:pt x="3645379" y="6858120"/>
                </a:lnTo>
                <a:lnTo>
                  <a:pt x="3497235" y="6858120"/>
                </a:lnTo>
                <a:lnTo>
                  <a:pt x="3497235" y="6858123"/>
                </a:lnTo>
                <a:lnTo>
                  <a:pt x="0" y="6858123"/>
                </a:lnTo>
                <a:lnTo>
                  <a:pt x="0" y="123"/>
                </a:lnTo>
                <a:lnTo>
                  <a:pt x="1130164" y="123"/>
                </a:lnTo>
                <a:close/>
              </a:path>
            </a:pathLst>
          </a:custGeom>
          <a:solidFill>
            <a:srgbClr val="15191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dirty="0"/>
          </a:p>
        </p:txBody>
      </p:sp>
      <p:pic>
        <p:nvPicPr>
          <p:cNvPr id="10" name="object 16">
            <a:extLst>
              <a:ext uri="{FF2B5EF4-FFF2-40B4-BE49-F238E27FC236}">
                <a16:creationId xmlns:a16="http://schemas.microsoft.com/office/drawing/2014/main" id="{58731C1D-78BA-E384-79A1-F1D7DFBABCC3}"/>
              </a:ext>
            </a:extLst>
          </p:cNvPr>
          <p:cNvPicPr/>
          <p:nvPr/>
        </p:nvPicPr>
        <p:blipFill>
          <a:blip r:embed="rId3" cstate="print"/>
          <a:stretch>
            <a:fillRect/>
          </a:stretch>
        </p:blipFill>
        <p:spPr>
          <a:xfrm>
            <a:off x="0" y="5538902"/>
            <a:ext cx="3497234" cy="1319098"/>
          </a:xfrm>
          <a:prstGeom prst="rect">
            <a:avLst/>
          </a:prstGeom>
        </p:spPr>
      </p:pic>
      <p:pic>
        <p:nvPicPr>
          <p:cNvPr id="21" name="Fase PRE 21" descr="Fase PRE"/>
          <p:cNvPicPr>
            <a:picLocks noChangeAspect="1"/>
          </p:cNvPicPr>
          <p:nvPr/>
        </p:nvPicPr>
        <p:blipFill>
          <a:blip r:embed="rId4"/>
          <a:stretch>
            <a:fillRect/>
          </a:stretch>
        </p:blipFill>
        <p:spPr>
          <a:xfrm>
            <a:off x="822960" y="777240"/>
            <a:ext cx="1280160" cy="1280160"/>
          </a:xfrm>
          <a:prstGeom prst="roundRect">
            <a:avLst>
              <a:gd name="adj" fmla="val 7142"/>
            </a:avLst>
          </a:prstGeom>
        </p:spPr>
      </p:pic>
      <p:sp>
        <p:nvSpPr>
          <p:cNvPr id="22" name="Label 22"/>
          <p:cNvSpPr txBox="1"/>
          <p:nvPr/>
        </p:nvSpPr>
        <p:spPr>
          <a:xfrm>
            <a:off x="822960" y="2103120"/>
            <a:ext cx="1280160" cy="274320"/>
          </a:xfrm>
          <a:prstGeom prst="rect">
            <a:avLst/>
          </a:prstGeom>
          <a:noFill/>
          <a:ln>
            <a:noFill/>
          </a:ln>
        </p:spPr>
        <p:txBody>
          <a:bodyPr wrap="square" lIns="0" tIns="0" rIns="0" bIns="0" rtlCol="0" anchor="t">
            <a:noAutofit/>
          </a:bodyPr>
          <a:lstStyle/>
          <a:p>
            <a:pPr algn="l">
              <a:buNone/>
            </a:pPr>
            <a:r>
              <a:rPr lang="es-ES" sz="1100" b="0" i="0" dirty="0">
                <a:solidFill>
                  <a:srgbClr val="A4A9AE"/>
                </a:solidFill>
                <a:latin typeface="Arial"/>
                <a:cs typeface="Arial"/>
              </a:rPr>
              <a:t>PRE</a:t>
            </a:r>
          </a:p>
        </p:txBody>
      </p:sp>
      <p:pic>
        <p:nvPicPr>
          <p:cNvPr id="23" name="Fase EARLY 23" descr="Fase EARLY"/>
          <p:cNvPicPr>
            <a:picLocks noChangeAspect="1"/>
          </p:cNvPicPr>
          <p:nvPr/>
        </p:nvPicPr>
        <p:blipFill>
          <a:blip r:embed="rId5"/>
          <a:stretch>
            <a:fillRect/>
          </a:stretch>
        </p:blipFill>
        <p:spPr>
          <a:xfrm>
            <a:off x="2240280" y="777240"/>
            <a:ext cx="1280160" cy="1280160"/>
          </a:xfrm>
          <a:prstGeom prst="roundRect">
            <a:avLst>
              <a:gd name="adj" fmla="val 7142"/>
            </a:avLst>
          </a:prstGeom>
        </p:spPr>
      </p:pic>
      <p:sp>
        <p:nvSpPr>
          <p:cNvPr id="24" name="Label 24"/>
          <p:cNvSpPr txBox="1"/>
          <p:nvPr/>
        </p:nvSpPr>
        <p:spPr>
          <a:xfrm>
            <a:off x="2240280" y="2103120"/>
            <a:ext cx="1280160" cy="274320"/>
          </a:xfrm>
          <a:prstGeom prst="rect">
            <a:avLst/>
          </a:prstGeom>
          <a:noFill/>
          <a:ln>
            <a:noFill/>
          </a:ln>
        </p:spPr>
        <p:txBody>
          <a:bodyPr wrap="square" lIns="0" tIns="0" rIns="0" bIns="0" rtlCol="0" anchor="t">
            <a:noAutofit/>
          </a:bodyPr>
          <a:lstStyle/>
          <a:p>
            <a:pPr algn="l">
              <a:buNone/>
            </a:pPr>
            <a:r>
              <a:rPr lang="es-ES" sz="1100" b="0" i="0" dirty="0">
                <a:solidFill>
                  <a:srgbClr val="A4A9AE"/>
                </a:solidFill>
                <a:latin typeface="Arial"/>
                <a:cs typeface="Arial"/>
              </a:rPr>
              <a:t>EARLY</a:t>
            </a:r>
          </a:p>
        </p:txBody>
      </p:sp>
      <p:pic>
        <p:nvPicPr>
          <p:cNvPr id="25" name="Fase LATE 25" descr="Fase LATE"/>
          <p:cNvPicPr>
            <a:picLocks noChangeAspect="1"/>
          </p:cNvPicPr>
          <p:nvPr/>
        </p:nvPicPr>
        <p:blipFill>
          <a:blip r:embed="rId6"/>
          <a:stretch>
            <a:fillRect/>
          </a:stretch>
        </p:blipFill>
        <p:spPr>
          <a:xfrm>
            <a:off x="3657600" y="777240"/>
            <a:ext cx="1280160" cy="1280160"/>
          </a:xfrm>
          <a:prstGeom prst="roundRect">
            <a:avLst>
              <a:gd name="adj" fmla="val 7142"/>
            </a:avLst>
          </a:prstGeom>
        </p:spPr>
      </p:pic>
      <p:sp>
        <p:nvSpPr>
          <p:cNvPr id="26" name="Label 26"/>
          <p:cNvSpPr txBox="1"/>
          <p:nvPr/>
        </p:nvSpPr>
        <p:spPr>
          <a:xfrm>
            <a:off x="3657600" y="2103120"/>
            <a:ext cx="1280160" cy="274320"/>
          </a:xfrm>
          <a:prstGeom prst="rect">
            <a:avLst/>
          </a:prstGeom>
          <a:noFill/>
          <a:ln>
            <a:noFill/>
          </a:ln>
        </p:spPr>
        <p:txBody>
          <a:bodyPr wrap="square" lIns="0" tIns="0" rIns="0" bIns="0" rtlCol="0" anchor="t">
            <a:noAutofit/>
          </a:bodyPr>
          <a:lstStyle/>
          <a:p>
            <a:pPr algn="l">
              <a:buNone/>
            </a:pPr>
            <a:r>
              <a:rPr lang="es-ES" sz="1100" b="0" i="0" dirty="0">
                <a:solidFill>
                  <a:srgbClr val="A4A9AE"/>
                </a:solidFill>
                <a:latin typeface="Arial"/>
                <a:cs typeface="Arial"/>
              </a:rPr>
              <a:t>LATE</a:t>
            </a:r>
          </a:p>
        </p:txBody>
      </p:sp>
      <p:sp>
        <p:nvSpPr>
          <p:cNvPr id="27" name="Title 27"/>
          <p:cNvSpPr txBox="1"/>
          <p:nvPr/>
        </p:nvSpPr>
        <p:spPr>
          <a:xfrm>
            <a:off x="822960" y="2697480"/>
            <a:ext cx="6949440" cy="1737360"/>
          </a:xfrm>
          <a:prstGeom prst="rect">
            <a:avLst/>
          </a:prstGeom>
          <a:noFill/>
          <a:ln>
            <a:noFill/>
          </a:ln>
        </p:spPr>
        <p:txBody>
          <a:bodyPr wrap="square" lIns="0" tIns="0" rIns="0" bIns="0" rtlCol="0" anchor="t">
            <a:noAutofit/>
          </a:bodyPr>
          <a:lstStyle/>
          <a:p>
            <a:pPr algn="l">
              <a:lnSpc>
                <a:spcPct val="95000"/>
              </a:lnSpc>
              <a:buNone/>
            </a:pPr>
            <a:r>
              <a:rPr lang="es-ES" sz="3200" b="1" i="0" dirty="0">
                <a:solidFill>
                  <a:srgbClr val="FFFFFF"/>
                </a:solidFill>
                <a:latin typeface="Arial"/>
                <a:cs typeface="Arial"/>
              </a:rPr>
              <a:t>Predicción de respuesta patológica completa con una CNN 2D sobre DCE-MRI de mama</a:t>
            </a:r>
          </a:p>
        </p:txBody>
      </p:sp>
      <p:sp>
        <p:nvSpPr>
          <p:cNvPr id="28" name="Subtitle 28"/>
          <p:cNvSpPr txBox="1"/>
          <p:nvPr/>
        </p:nvSpPr>
        <p:spPr>
          <a:xfrm>
            <a:off x="822960" y="4343400"/>
            <a:ext cx="5943600" cy="365760"/>
          </a:xfrm>
          <a:prstGeom prst="rect">
            <a:avLst/>
          </a:prstGeom>
          <a:noFill/>
          <a:ln>
            <a:noFill/>
          </a:ln>
        </p:spPr>
        <p:txBody>
          <a:bodyPr wrap="square" lIns="0" tIns="0" rIns="0" bIns="0" rtlCol="0" anchor="t">
            <a:noAutofit/>
          </a:bodyPr>
          <a:lstStyle/>
          <a:p>
            <a:pPr algn="l">
              <a:buNone/>
            </a:pPr>
            <a:r>
              <a:rPr lang="es-ES" sz="1700" b="0" i="0" dirty="0">
                <a:solidFill>
                  <a:srgbClr val="E8EAEC"/>
                </a:solidFill>
                <a:latin typeface="Arial"/>
                <a:cs typeface="Arial"/>
              </a:rPr>
              <a:t>Alejandro Barreche · Aprendizaje Automático</a:t>
            </a:r>
          </a:p>
        </p:txBody>
      </p:sp>
      <p:sp>
        <p:nvSpPr>
          <p:cNvPr id="29" name="Date 29"/>
          <p:cNvSpPr txBox="1"/>
          <p:nvPr/>
        </p:nvSpPr>
        <p:spPr>
          <a:xfrm>
            <a:off x="822960" y="4709160"/>
            <a:ext cx="5486400" cy="365760"/>
          </a:xfrm>
          <a:prstGeom prst="rect">
            <a:avLst/>
          </a:prstGeom>
          <a:noFill/>
          <a:ln>
            <a:noFill/>
          </a:ln>
        </p:spPr>
        <p:txBody>
          <a:bodyPr wrap="square" lIns="0" tIns="0" rIns="0" bIns="0" rtlCol="0" anchor="t">
            <a:noAutofit/>
          </a:bodyPr>
          <a:lstStyle/>
          <a:p>
            <a:pPr algn="l">
              <a:buNone/>
            </a:pPr>
            <a:r>
              <a:rPr lang="es-ES" sz="1500" b="0" i="0" dirty="0">
                <a:solidFill>
                  <a:srgbClr val="A4A9AE"/>
                </a:solidFill>
                <a:latin typeface="Arial"/>
                <a:cs typeface="Arial"/>
              </a:rPr>
              <a:t>4 de noviembre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DEFF1"/>
        </a:solidFill>
        <a:effectLst/>
      </p:bgPr>
    </p:bg>
    <p:spTree>
      <p:nvGrpSpPr>
        <p:cNvPr id="1" name=""/>
        <p:cNvGrpSpPr/>
        <p:nvPr/>
      </p:nvGrpSpPr>
      <p:grpSpPr>
        <a:xfrm>
          <a:off x="0" y="0"/>
          <a:ext cx="0" cy="0"/>
          <a:chOff x="0" y="0"/>
          <a:chExt cx="0" cy="0"/>
        </a:xfrm>
      </p:grpSpPr>
      <p:sp>
        <p:nvSpPr>
          <p:cNvPr id="3" name="Blob 3"/>
          <p:cNvSpPr/>
          <p:nvPr/>
        </p:nvSpPr>
        <p:spPr>
          <a:xfrm>
            <a:off x="7863840" y="-1463040"/>
            <a:ext cx="5669280" cy="4572000"/>
          </a:xfrm>
          <a:prstGeom prst="ellipse">
            <a:avLst/>
          </a:prstGeom>
          <a:solidFill>
            <a:srgbClr val="D6E4E6">
              <a:alpha val="80000"/>
            </a:srgbClr>
          </a:solidFill>
          <a:ln>
            <a:noFill/>
          </a:ln>
          <a:effectLst>
            <a:softEdge rad="1280160"/>
          </a:effectLst>
        </p:spPr>
        <p:txBody>
          <a:bodyPr wrap="square" lIns="0" tIns="0" rIns="0" bIns="0" rtlCol="0" anchor="t">
            <a:noAutofit/>
          </a:bodyPr>
          <a:lstStyle/>
          <a:p>
            <a:endParaRPr lang="es-ES" dirty="0"/>
          </a:p>
        </p:txBody>
      </p:sp>
      <p:sp>
        <p:nvSpPr>
          <p:cNvPr id="4" name="Blob 4"/>
          <p:cNvSpPr/>
          <p:nvPr/>
        </p:nvSpPr>
        <p:spPr>
          <a:xfrm>
            <a:off x="-1645920" y="3566160"/>
            <a:ext cx="5852160" cy="4206240"/>
          </a:xfrm>
          <a:prstGeom prst="ellipse">
            <a:avLst/>
          </a:prstGeom>
          <a:solidFill>
            <a:srgbClr val="E6E0EE">
              <a:alpha val="80000"/>
            </a:srgbClr>
          </a:solidFill>
          <a:ln>
            <a:noFill/>
          </a:ln>
          <a:effectLst>
            <a:softEdge rad="1280160"/>
          </a:effectLst>
        </p:spPr>
        <p:txBody>
          <a:bodyPr wrap="square" lIns="0" tIns="0" rIns="0" bIns="0" rtlCol="0" anchor="t">
            <a:noAutofit/>
          </a:bodyPr>
          <a:lstStyle/>
          <a:p>
            <a:endParaRPr lang="es-ES" dirty="0"/>
          </a:p>
        </p:txBody>
      </p:sp>
      <p:sp>
        <p:nvSpPr>
          <p:cNvPr id="5" name="Blob 5"/>
          <p:cNvSpPr/>
          <p:nvPr/>
        </p:nvSpPr>
        <p:spPr>
          <a:xfrm>
            <a:off x="4754880" y="4206240"/>
            <a:ext cx="4937760" cy="3291840"/>
          </a:xfrm>
          <a:prstGeom prst="ellipse">
            <a:avLst/>
          </a:prstGeom>
          <a:solidFill>
            <a:srgbClr val="ECE5DC">
              <a:alpha val="70000"/>
            </a:srgbClr>
          </a:solidFill>
          <a:ln>
            <a:noFill/>
          </a:ln>
          <a:effectLst>
            <a:softEdge rad="1280160"/>
          </a:effectLst>
        </p:spPr>
        <p:txBody>
          <a:bodyPr wrap="square" lIns="0" tIns="0" rIns="0" bIns="0" rtlCol="0" anchor="t">
            <a:noAutofit/>
          </a:bodyPr>
          <a:lstStyle/>
          <a:p>
            <a:endParaRPr lang="es-ES" dirty="0"/>
          </a:p>
        </p:txBody>
      </p:sp>
      <p:sp>
        <p:nvSpPr>
          <p:cNvPr id="6" name="Kicker 6"/>
          <p:cNvSpPr txBox="1"/>
          <p:nvPr/>
        </p:nvSpPr>
        <p:spPr>
          <a:xfrm>
            <a:off x="548640" y="347472"/>
            <a:ext cx="8686800" cy="292608"/>
          </a:xfrm>
          <a:prstGeom prst="rect">
            <a:avLst/>
          </a:prstGeom>
          <a:noFill/>
          <a:ln>
            <a:noFill/>
          </a:ln>
        </p:spPr>
        <p:txBody>
          <a:bodyPr wrap="square" lIns="0" tIns="0" rIns="0" bIns="0" rtlCol="0" anchor="t">
            <a:noAutofit/>
          </a:bodyPr>
          <a:lstStyle/>
          <a:p>
            <a:pPr algn="l">
              <a:buNone/>
            </a:pPr>
            <a:r>
              <a:rPr lang="es-ES" sz="1300" b="0" i="0" dirty="0">
                <a:solidFill>
                  <a:srgbClr val="4A525B"/>
                </a:solidFill>
                <a:latin typeface="Arial"/>
                <a:cs typeface="Arial"/>
              </a:rPr>
              <a:t>1 · Contexto del caso y solución</a:t>
            </a:r>
          </a:p>
        </p:txBody>
      </p:sp>
      <p:sp>
        <p:nvSpPr>
          <p:cNvPr id="7" name="Title 7"/>
          <p:cNvSpPr txBox="1"/>
          <p:nvPr/>
        </p:nvSpPr>
        <p:spPr>
          <a:xfrm>
            <a:off x="548640" y="621792"/>
            <a:ext cx="11064240" cy="914400"/>
          </a:xfrm>
          <a:prstGeom prst="rect">
            <a:avLst/>
          </a:prstGeom>
          <a:noFill/>
          <a:ln>
            <a:noFill/>
          </a:ln>
        </p:spPr>
        <p:txBody>
          <a:bodyPr wrap="square" lIns="0" tIns="0" rIns="0" bIns="0" rtlCol="0" anchor="t">
            <a:noAutofit/>
          </a:bodyPr>
          <a:lstStyle/>
          <a:p>
            <a:pPr algn="l">
              <a:lnSpc>
                <a:spcPct val="95000"/>
              </a:lnSpc>
              <a:buNone/>
            </a:pPr>
            <a:r>
              <a:rPr lang="es-ES" sz="2500" b="1" i="0" dirty="0">
                <a:solidFill>
                  <a:srgbClr val="15191D"/>
                </a:solidFill>
                <a:latin typeface="Arial"/>
                <a:cs typeface="Arial"/>
              </a:rPr>
              <a:t>Hoy la respuesta al tratamiento solo se conoce al operar; Lector pCR la estima antes, a partir de la resonancia</a:t>
            </a:r>
          </a:p>
        </p:txBody>
      </p:sp>
      <p:sp>
        <p:nvSpPr>
          <p:cNvPr id="8" name="Page 8"/>
          <p:cNvSpPr txBox="1"/>
          <p:nvPr/>
        </p:nvSpPr>
        <p:spPr>
          <a:xfrm>
            <a:off x="548640" y="6355080"/>
            <a:ext cx="1828800" cy="274320"/>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1 / 5</a:t>
            </a:r>
          </a:p>
        </p:txBody>
      </p:sp>
      <p:sp>
        <p:nvSpPr>
          <p:cNvPr id="9" name="Panel 9"/>
          <p:cNvSpPr/>
          <p:nvPr/>
        </p:nvSpPr>
        <p:spPr>
          <a:xfrm>
            <a:off x="548640" y="1783080"/>
            <a:ext cx="5760720" cy="2880360"/>
          </a:xfrm>
          <a:prstGeom prst="roundRect">
            <a:avLst>
              <a:gd name="adj" fmla="val 5079"/>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0" name="H 10"/>
          <p:cNvSpPr txBox="1"/>
          <p:nvPr/>
        </p:nvSpPr>
        <p:spPr>
          <a:xfrm>
            <a:off x="822960" y="1874520"/>
            <a:ext cx="5303520" cy="320040"/>
          </a:xfrm>
          <a:prstGeom prst="rect">
            <a:avLst/>
          </a:prstGeom>
          <a:noFill/>
          <a:ln>
            <a:noFill/>
          </a:ln>
        </p:spPr>
        <p:txBody>
          <a:bodyPr wrap="square" lIns="0" tIns="0" rIns="0" bIns="0" rtlCol="0" anchor="t">
            <a:noAutofit/>
          </a:bodyPr>
          <a:lstStyle/>
          <a:p>
            <a:pPr algn="l">
              <a:buNone/>
            </a:pPr>
            <a:r>
              <a:rPr lang="es-ES" sz="1500" b="1" i="0" dirty="0">
                <a:solidFill>
                  <a:srgbClr val="15191D"/>
                </a:solidFill>
                <a:latin typeface="Arial"/>
                <a:cs typeface="Arial"/>
              </a:rPr>
              <a:t>Lo que tenemos</a:t>
            </a:r>
          </a:p>
        </p:txBody>
      </p:sp>
      <p:sp>
        <p:nvSpPr>
          <p:cNvPr id="11" name="Num 11"/>
          <p:cNvSpPr/>
          <p:nvPr/>
        </p:nvSpPr>
        <p:spPr>
          <a:xfrm>
            <a:off x="822960" y="2313432"/>
            <a:ext cx="347472" cy="347472"/>
          </a:xfrm>
          <a:prstGeom prst="ellipse">
            <a:avLst/>
          </a:prstGeom>
          <a:noFill/>
          <a:ln w="15875">
            <a:solidFill>
              <a:srgbClr val="15191D"/>
            </a:solidFill>
          </a:ln>
        </p:spPr>
        <p:txBody>
          <a:bodyPr wrap="square" lIns="0" tIns="0" rIns="0" bIns="0" rtlCol="0" anchor="ctr">
            <a:noAutofit/>
          </a:bodyPr>
          <a:lstStyle/>
          <a:p>
            <a:pPr algn="ctr">
              <a:buNone/>
            </a:pPr>
            <a:r>
              <a:rPr lang="es-ES" sz="1300" b="1" i="0" dirty="0">
                <a:solidFill>
                  <a:srgbClr val="15191D"/>
                </a:solidFill>
                <a:latin typeface="Arial"/>
                <a:cs typeface="Arial"/>
              </a:rPr>
              <a:t>1</a:t>
            </a:r>
          </a:p>
        </p:txBody>
      </p:sp>
      <p:sp>
        <p:nvSpPr>
          <p:cNvPr id="12" name="Point 12"/>
          <p:cNvSpPr txBox="1"/>
          <p:nvPr/>
        </p:nvSpPr>
        <p:spPr>
          <a:xfrm>
            <a:off x="1325880" y="2286000"/>
            <a:ext cx="4800600" cy="731520"/>
          </a:xfrm>
          <a:prstGeom prst="rect">
            <a:avLst/>
          </a:prstGeom>
          <a:noFill/>
          <a:ln>
            <a:noFill/>
          </a:ln>
        </p:spPr>
        <p:txBody>
          <a:bodyPr wrap="square" lIns="0" tIns="0" rIns="0" bIns="0" rtlCol="0" anchor="t">
            <a:noAutofit/>
          </a:bodyPr>
          <a:lstStyle/>
          <a:p>
            <a:pPr algn="l">
              <a:lnSpc>
                <a:spcPct val="100000"/>
              </a:lnSpc>
              <a:buNone/>
            </a:pPr>
            <a:r>
              <a:rPr lang="es-ES" sz="1400" b="1" i="0" dirty="0">
                <a:solidFill>
                  <a:srgbClr val="15191D"/>
                </a:solidFill>
                <a:latin typeface="Arial"/>
                <a:cs typeface="Arial"/>
              </a:rPr>
              <a:t>Tratamiento antes de la cirugía </a:t>
            </a:r>
            <a:r>
              <a:rPr lang="es-ES" sz="1400" b="0" i="0" dirty="0">
                <a:solidFill>
                  <a:srgbClr val="4A525B"/>
                </a:solidFill>
                <a:latin typeface="Arial"/>
                <a:cs typeface="Arial"/>
              </a:rPr>
              <a:t>(neoadyuvante): si el tumor desaparece, hay respuesta patológica completa (pCR), asociada a mayor supervivencia</a:t>
            </a:r>
          </a:p>
        </p:txBody>
      </p:sp>
      <p:sp>
        <p:nvSpPr>
          <p:cNvPr id="13" name="Num 13"/>
          <p:cNvSpPr/>
          <p:nvPr/>
        </p:nvSpPr>
        <p:spPr>
          <a:xfrm>
            <a:off x="822960" y="3154680"/>
            <a:ext cx="347472" cy="347472"/>
          </a:xfrm>
          <a:prstGeom prst="ellipse">
            <a:avLst/>
          </a:prstGeom>
          <a:noFill/>
          <a:ln w="15875">
            <a:solidFill>
              <a:srgbClr val="15191D"/>
            </a:solidFill>
          </a:ln>
        </p:spPr>
        <p:txBody>
          <a:bodyPr wrap="square" lIns="0" tIns="0" rIns="0" bIns="0" rtlCol="0" anchor="ctr">
            <a:noAutofit/>
          </a:bodyPr>
          <a:lstStyle/>
          <a:p>
            <a:pPr algn="ctr">
              <a:buNone/>
            </a:pPr>
            <a:r>
              <a:rPr lang="es-ES" sz="1300" b="1" i="0" dirty="0">
                <a:solidFill>
                  <a:srgbClr val="15191D"/>
                </a:solidFill>
                <a:latin typeface="Arial"/>
                <a:cs typeface="Arial"/>
              </a:rPr>
              <a:t>2</a:t>
            </a:r>
          </a:p>
        </p:txBody>
      </p:sp>
      <p:sp>
        <p:nvSpPr>
          <p:cNvPr id="14" name="Point 14"/>
          <p:cNvSpPr txBox="1"/>
          <p:nvPr/>
        </p:nvSpPr>
        <p:spPr>
          <a:xfrm>
            <a:off x="1325880" y="3127248"/>
            <a:ext cx="4800600" cy="731520"/>
          </a:xfrm>
          <a:prstGeom prst="rect">
            <a:avLst/>
          </a:prstGeom>
          <a:noFill/>
          <a:ln>
            <a:noFill/>
          </a:ln>
        </p:spPr>
        <p:txBody>
          <a:bodyPr wrap="square" lIns="0" tIns="0" rIns="0" bIns="0" rtlCol="0" anchor="t">
            <a:noAutofit/>
          </a:bodyPr>
          <a:lstStyle/>
          <a:p>
            <a:pPr algn="l">
              <a:lnSpc>
                <a:spcPct val="100000"/>
              </a:lnSpc>
              <a:buNone/>
            </a:pPr>
            <a:r>
              <a:rPr lang="es-ES" sz="1400" b="1" i="0" dirty="0">
                <a:solidFill>
                  <a:srgbClr val="15191D"/>
                </a:solidFill>
                <a:latin typeface="Arial"/>
                <a:cs typeface="Arial"/>
              </a:rPr>
              <a:t>La pCR solo se conoce al operar, </a:t>
            </a:r>
            <a:r>
              <a:rPr lang="es-ES" sz="1400" b="0" i="0" dirty="0">
                <a:solidFill>
                  <a:srgbClr val="4A525B"/>
                </a:solidFill>
                <a:latin typeface="Arial"/>
                <a:cs typeface="Arial"/>
              </a:rPr>
              <a:t>meses después de empezar el tratamiento</a:t>
            </a:r>
          </a:p>
        </p:txBody>
      </p:sp>
      <p:sp>
        <p:nvSpPr>
          <p:cNvPr id="15" name="Num 15"/>
          <p:cNvSpPr/>
          <p:nvPr/>
        </p:nvSpPr>
        <p:spPr>
          <a:xfrm>
            <a:off x="822960" y="3685032"/>
            <a:ext cx="347472" cy="347472"/>
          </a:xfrm>
          <a:prstGeom prst="ellipse">
            <a:avLst/>
          </a:prstGeom>
          <a:noFill/>
          <a:ln w="15875">
            <a:solidFill>
              <a:srgbClr val="15191D"/>
            </a:solidFill>
          </a:ln>
        </p:spPr>
        <p:txBody>
          <a:bodyPr wrap="square" lIns="0" tIns="0" rIns="0" bIns="0" rtlCol="0" anchor="ctr">
            <a:noAutofit/>
          </a:bodyPr>
          <a:lstStyle/>
          <a:p>
            <a:pPr algn="ctr">
              <a:buNone/>
            </a:pPr>
            <a:r>
              <a:rPr lang="es-ES" sz="1300" b="1" i="0" dirty="0">
                <a:solidFill>
                  <a:srgbClr val="15191D"/>
                </a:solidFill>
                <a:latin typeface="Arial"/>
                <a:cs typeface="Arial"/>
              </a:rPr>
              <a:t>3</a:t>
            </a:r>
          </a:p>
        </p:txBody>
      </p:sp>
      <p:sp>
        <p:nvSpPr>
          <p:cNvPr id="16" name="Point 16"/>
          <p:cNvSpPr txBox="1"/>
          <p:nvPr/>
        </p:nvSpPr>
        <p:spPr>
          <a:xfrm>
            <a:off x="1325880" y="3657600"/>
            <a:ext cx="4800600" cy="731520"/>
          </a:xfrm>
          <a:prstGeom prst="rect">
            <a:avLst/>
          </a:prstGeom>
          <a:noFill/>
          <a:ln>
            <a:noFill/>
          </a:ln>
        </p:spPr>
        <p:txBody>
          <a:bodyPr wrap="square" lIns="0" tIns="0" rIns="0" bIns="0" rtlCol="0" anchor="t">
            <a:noAutofit/>
          </a:bodyPr>
          <a:lstStyle/>
          <a:p>
            <a:pPr algn="l">
              <a:lnSpc>
                <a:spcPct val="100000"/>
              </a:lnSpc>
              <a:buNone/>
            </a:pPr>
            <a:r>
              <a:rPr lang="es-ES" sz="1400" b="1" i="0" dirty="0">
                <a:solidFill>
                  <a:srgbClr val="15191D"/>
                </a:solidFill>
                <a:latin typeface="Arial"/>
                <a:cs typeface="Arial"/>
              </a:rPr>
              <a:t>Resonancias previas de 1.450 pacientes </a:t>
            </a:r>
            <a:r>
              <a:rPr lang="es-ES" sz="1400" b="0" i="0" dirty="0">
                <a:solidFill>
                  <a:srgbClr val="4A525B"/>
                </a:solidFill>
                <a:latin typeface="Arial"/>
                <a:cs typeface="Arial"/>
              </a:rPr>
              <a:t>de 3 cohortes, con su resultado pCR; solo ~3 de cada 10 la alcanzan</a:t>
            </a:r>
          </a:p>
        </p:txBody>
      </p:sp>
      <p:sp>
        <p:nvSpPr>
          <p:cNvPr id="17" name="Citation 17"/>
          <p:cNvSpPr txBox="1"/>
          <p:nvPr/>
        </p:nvSpPr>
        <p:spPr>
          <a:xfrm>
            <a:off x="1325880" y="4370832"/>
            <a:ext cx="4846320" cy="256032"/>
          </a:xfrm>
          <a:prstGeom prst="rect">
            <a:avLst/>
          </a:prstGeom>
          <a:noFill/>
          <a:ln>
            <a:noFill/>
          </a:ln>
        </p:spPr>
        <p:txBody>
          <a:bodyPr wrap="square" lIns="0" tIns="0" rIns="0" bIns="0" rtlCol="0" anchor="t">
            <a:noAutofit/>
          </a:bodyPr>
          <a:lstStyle/>
          <a:p>
            <a:pPr algn="l">
              <a:buNone/>
            </a:pPr>
            <a:r>
              <a:rPr lang="es-ES" sz="1000" b="0" i="1" dirty="0">
                <a:solidFill>
                  <a:srgbClr val="8B9197"/>
                </a:solidFill>
                <a:latin typeface="Arial"/>
                <a:cs typeface="Arial"/>
              </a:rPr>
              <a:t>pCR y supervivencia: Cortazar et al., Lancet 2014</a:t>
            </a:r>
          </a:p>
        </p:txBody>
      </p:sp>
      <p:sp>
        <p:nvSpPr>
          <p:cNvPr id="18" name="Panel 18"/>
          <p:cNvSpPr/>
          <p:nvPr/>
        </p:nvSpPr>
        <p:spPr>
          <a:xfrm>
            <a:off x="6492240" y="1783080"/>
            <a:ext cx="5148072" cy="2880360"/>
          </a:xfrm>
          <a:prstGeom prst="roundRect">
            <a:avLst>
              <a:gd name="adj" fmla="val 5079"/>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9" name="H 19"/>
          <p:cNvSpPr txBox="1"/>
          <p:nvPr/>
        </p:nvSpPr>
        <p:spPr>
          <a:xfrm>
            <a:off x="6766560" y="1874520"/>
            <a:ext cx="4663440" cy="320040"/>
          </a:xfrm>
          <a:prstGeom prst="rect">
            <a:avLst/>
          </a:prstGeom>
          <a:noFill/>
          <a:ln>
            <a:noFill/>
          </a:ln>
        </p:spPr>
        <p:txBody>
          <a:bodyPr wrap="square" lIns="0" tIns="0" rIns="0" bIns="0" rtlCol="0" anchor="t">
            <a:noAutofit/>
          </a:bodyPr>
          <a:lstStyle/>
          <a:p>
            <a:pPr algn="l">
              <a:buNone/>
            </a:pPr>
            <a:r>
              <a:rPr lang="es-ES" sz="1500" b="1" i="0" dirty="0">
                <a:solidFill>
                  <a:srgbClr val="15191D"/>
                </a:solidFill>
                <a:latin typeface="Arial"/>
                <a:cs typeface="Arial"/>
              </a:rPr>
              <a:t>La solución</a:t>
            </a:r>
          </a:p>
        </p:txBody>
      </p:sp>
      <p:sp>
        <p:nvSpPr>
          <p:cNvPr id="20" name="Solution 20"/>
          <p:cNvSpPr txBox="1"/>
          <p:nvPr/>
        </p:nvSpPr>
        <p:spPr>
          <a:xfrm>
            <a:off x="6766560" y="2212848"/>
            <a:ext cx="4663440" cy="777240"/>
          </a:xfrm>
          <a:prstGeom prst="rect">
            <a:avLst/>
          </a:prstGeom>
          <a:noFill/>
          <a:ln>
            <a:noFill/>
          </a:ln>
        </p:spPr>
        <p:txBody>
          <a:bodyPr wrap="square" lIns="0" tIns="0" rIns="0" bIns="0" rtlCol="0" anchor="t">
            <a:noAutofit/>
          </a:bodyPr>
          <a:lstStyle/>
          <a:p>
            <a:pPr algn="l">
              <a:lnSpc>
                <a:spcPct val="100000"/>
              </a:lnSpc>
              <a:buNone/>
            </a:pPr>
            <a:r>
              <a:rPr lang="es-ES" sz="1400" b="1" i="0" dirty="0">
                <a:solidFill>
                  <a:srgbClr val="15191D"/>
                </a:solidFill>
                <a:latin typeface="Arial"/>
                <a:cs typeface="Arial"/>
              </a:rPr>
              <a:t>Lector pCR: </a:t>
            </a:r>
            <a:r>
              <a:rPr lang="es-ES" sz="1400" b="0" i="0" dirty="0">
                <a:solidFill>
                  <a:srgbClr val="4A525B"/>
                </a:solidFill>
                <a:latin typeface="Arial"/>
                <a:cs typeface="Arial"/>
              </a:rPr>
              <a:t>una CNN entrenada desde cero estima la probabilidad de pCR de cada paciente solo con su resonancia previa</a:t>
            </a:r>
          </a:p>
        </p:txBody>
      </p:sp>
      <p:sp>
        <p:nvSpPr>
          <p:cNvPr id="21" name="Viewer 21"/>
          <p:cNvSpPr/>
          <p:nvPr/>
        </p:nvSpPr>
        <p:spPr>
          <a:xfrm>
            <a:off x="6766560" y="3063240"/>
            <a:ext cx="1371600" cy="1371600"/>
          </a:xfrm>
          <a:prstGeom prst="roundRect">
            <a:avLst>
              <a:gd name="adj" fmla="val 10666"/>
            </a:avLst>
          </a:prstGeom>
          <a:solidFill>
            <a:srgbClr val="0E1113"/>
          </a:solidFill>
          <a:ln>
            <a:no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pic>
        <p:nvPicPr>
          <p:cNvPr id="22" name="Resonancia 22" descr="Resonancia"/>
          <p:cNvPicPr>
            <a:picLocks noChangeAspect="1"/>
          </p:cNvPicPr>
          <p:nvPr/>
        </p:nvPicPr>
        <p:blipFill>
          <a:blip r:embed="rId3"/>
          <a:stretch>
            <a:fillRect/>
          </a:stretch>
        </p:blipFill>
        <p:spPr>
          <a:xfrm>
            <a:off x="6858000" y="3154680"/>
            <a:ext cx="1188720" cy="1188720"/>
          </a:xfrm>
          <a:prstGeom prst="roundRect">
            <a:avLst>
              <a:gd name="adj" fmla="val 3846"/>
            </a:avLst>
          </a:prstGeom>
        </p:spPr>
      </p:pic>
      <p:cxnSp>
        <p:nvCxnSpPr>
          <p:cNvPr id="23" name="Line 23"/>
          <p:cNvCxnSpPr/>
          <p:nvPr/>
        </p:nvCxnSpPr>
        <p:spPr>
          <a:xfrm>
            <a:off x="8229600" y="3749040"/>
            <a:ext cx="320040" cy="0"/>
          </a:xfrm>
          <a:prstGeom prst="line">
            <a:avLst/>
          </a:prstGeom>
          <a:ln w="15875">
            <a:solidFill>
              <a:srgbClr val="15191D"/>
            </a:solidFill>
            <a:tailEnd type="triangle" w="med" len="med"/>
          </a:ln>
        </p:spPr>
      </p:cxnSp>
      <p:sp>
        <p:nvSpPr>
          <p:cNvPr id="24" name="Scale no pCR 24"/>
          <p:cNvSpPr/>
          <p:nvPr/>
        </p:nvSpPr>
        <p:spPr>
          <a:xfrm>
            <a:off x="8686800" y="3611880"/>
            <a:ext cx="928116" cy="146304"/>
          </a:xfrm>
          <a:prstGeom prst="rect">
            <a:avLst/>
          </a:prstGeom>
          <a:solidFill>
            <a:srgbClr val="23656E">
              <a:alpha val="75000"/>
            </a:srgbClr>
          </a:solidFill>
          <a:ln>
            <a:noFill/>
          </a:ln>
        </p:spPr>
        <p:txBody>
          <a:bodyPr wrap="square" lIns="0" tIns="0" rIns="0" bIns="0" rtlCol="0" anchor="t">
            <a:noAutofit/>
          </a:bodyPr>
          <a:lstStyle/>
          <a:p>
            <a:endParaRPr lang="es-ES" dirty="0"/>
          </a:p>
        </p:txBody>
      </p:sp>
      <p:sp>
        <p:nvSpPr>
          <p:cNvPr id="25" name="Scale pCR 25"/>
          <p:cNvSpPr/>
          <p:nvPr/>
        </p:nvSpPr>
        <p:spPr>
          <a:xfrm>
            <a:off x="9614916" y="3611880"/>
            <a:ext cx="1723644" cy="146304"/>
          </a:xfrm>
          <a:prstGeom prst="rect">
            <a:avLst/>
          </a:prstGeom>
          <a:solidFill>
            <a:srgbClr val="DC7867">
              <a:alpha val="85000"/>
            </a:srgbClr>
          </a:solidFill>
          <a:ln>
            <a:noFill/>
          </a:ln>
        </p:spPr>
        <p:txBody>
          <a:bodyPr wrap="square" lIns="0" tIns="0" rIns="0" bIns="0" rtlCol="0" anchor="t">
            <a:noAutofit/>
          </a:bodyPr>
          <a:lstStyle/>
          <a:p>
            <a:endParaRPr lang="es-ES" dirty="0"/>
          </a:p>
        </p:txBody>
      </p:sp>
      <p:cxnSp>
        <p:nvCxnSpPr>
          <p:cNvPr id="26" name="Line 26"/>
          <p:cNvCxnSpPr/>
          <p:nvPr/>
        </p:nvCxnSpPr>
        <p:spPr>
          <a:xfrm>
            <a:off x="9614916" y="3502152"/>
            <a:ext cx="0" cy="365760"/>
          </a:xfrm>
          <a:prstGeom prst="line">
            <a:avLst/>
          </a:prstGeom>
          <a:ln w="19050">
            <a:solidFill>
              <a:srgbClr val="15191D"/>
            </a:solidFill>
          </a:ln>
        </p:spPr>
      </p:cxnSp>
      <p:sp>
        <p:nvSpPr>
          <p:cNvPr id="27" name="Scale title 27"/>
          <p:cNvSpPr txBox="1"/>
          <p:nvPr/>
        </p:nvSpPr>
        <p:spPr>
          <a:xfrm>
            <a:off x="8595360" y="3154680"/>
            <a:ext cx="2834640" cy="365760"/>
          </a:xfrm>
          <a:prstGeom prst="rect">
            <a:avLst/>
          </a:prstGeom>
          <a:noFill/>
          <a:ln>
            <a:noFill/>
          </a:ln>
        </p:spPr>
        <p:txBody>
          <a:bodyPr wrap="square" lIns="0" tIns="0" rIns="0" bIns="0" rtlCol="0" anchor="t">
            <a:noAutofit/>
          </a:bodyPr>
          <a:lstStyle/>
          <a:p>
            <a:pPr algn="l">
              <a:buNone/>
            </a:pPr>
            <a:r>
              <a:rPr lang="es-ES" sz="1200" b="1" i="0" dirty="0">
                <a:solidFill>
                  <a:srgbClr val="15191D"/>
                </a:solidFill>
                <a:latin typeface="Arial"/>
                <a:cs typeface="Arial"/>
              </a:rPr>
              <a:t>Probabilidad de pCR</a:t>
            </a:r>
          </a:p>
        </p:txBody>
      </p:sp>
      <p:sp>
        <p:nvSpPr>
          <p:cNvPr id="28" name="Tick 28"/>
          <p:cNvSpPr txBox="1"/>
          <p:nvPr/>
        </p:nvSpPr>
        <p:spPr>
          <a:xfrm>
            <a:off x="8549640" y="3813048"/>
            <a:ext cx="365760" cy="228600"/>
          </a:xfrm>
          <a:prstGeom prst="rect">
            <a:avLst/>
          </a:prstGeom>
          <a:noFill/>
          <a:ln>
            <a:noFill/>
          </a:ln>
        </p:spPr>
        <p:txBody>
          <a:bodyPr wrap="square" lIns="0" tIns="0" rIns="0" bIns="0" rtlCol="0" anchor="t">
            <a:noAutofit/>
          </a:bodyPr>
          <a:lstStyle/>
          <a:p>
            <a:pPr algn="ctr">
              <a:buNone/>
            </a:pPr>
            <a:r>
              <a:rPr lang="es-ES" sz="1000" b="0" i="0" dirty="0">
                <a:solidFill>
                  <a:srgbClr val="8B9197"/>
                </a:solidFill>
                <a:latin typeface="Arial"/>
                <a:cs typeface="Arial"/>
              </a:rPr>
              <a:t>0</a:t>
            </a:r>
          </a:p>
        </p:txBody>
      </p:sp>
      <p:sp>
        <p:nvSpPr>
          <p:cNvPr id="29" name="Tick 29"/>
          <p:cNvSpPr txBox="1"/>
          <p:nvPr/>
        </p:nvSpPr>
        <p:spPr>
          <a:xfrm>
            <a:off x="11109960" y="3813048"/>
            <a:ext cx="365760" cy="228600"/>
          </a:xfrm>
          <a:prstGeom prst="rect">
            <a:avLst/>
          </a:prstGeom>
          <a:noFill/>
          <a:ln>
            <a:noFill/>
          </a:ln>
        </p:spPr>
        <p:txBody>
          <a:bodyPr wrap="square" lIns="0" tIns="0" rIns="0" bIns="0" rtlCol="0" anchor="t">
            <a:noAutofit/>
          </a:bodyPr>
          <a:lstStyle/>
          <a:p>
            <a:pPr algn="ctr">
              <a:buNone/>
            </a:pPr>
            <a:r>
              <a:rPr lang="es-ES" sz="1000" b="0" i="0" dirty="0">
                <a:solidFill>
                  <a:srgbClr val="8B9197"/>
                </a:solidFill>
                <a:latin typeface="Arial"/>
                <a:cs typeface="Arial"/>
              </a:rPr>
              <a:t>1</a:t>
            </a:r>
          </a:p>
        </p:txBody>
      </p:sp>
      <p:sp>
        <p:nvSpPr>
          <p:cNvPr id="30" name="Threshold 30"/>
          <p:cNvSpPr txBox="1"/>
          <p:nvPr/>
        </p:nvSpPr>
        <p:spPr>
          <a:xfrm>
            <a:off x="9066276" y="3886200"/>
            <a:ext cx="1097280" cy="228600"/>
          </a:xfrm>
          <a:prstGeom prst="rect">
            <a:avLst/>
          </a:prstGeom>
          <a:noFill/>
          <a:ln>
            <a:noFill/>
          </a:ln>
        </p:spPr>
        <p:txBody>
          <a:bodyPr wrap="square" lIns="0" tIns="0" rIns="0" bIns="0" rtlCol="0" anchor="t">
            <a:noAutofit/>
          </a:bodyPr>
          <a:lstStyle/>
          <a:p>
            <a:pPr algn="ctr">
              <a:buNone/>
            </a:pPr>
            <a:r>
              <a:rPr lang="es-ES" sz="1000" b="0" i="0" dirty="0">
                <a:solidFill>
                  <a:srgbClr val="4A525B"/>
                </a:solidFill>
                <a:latin typeface="Arial"/>
                <a:cs typeface="Arial"/>
              </a:rPr>
              <a:t>umbral 0,35</a:t>
            </a:r>
          </a:p>
        </p:txBody>
      </p:sp>
      <p:sp>
        <p:nvSpPr>
          <p:cNvPr id="31" name="Claim 31"/>
          <p:cNvSpPr txBox="1"/>
          <p:nvPr/>
        </p:nvSpPr>
        <p:spPr>
          <a:xfrm>
            <a:off x="8595360" y="4206240"/>
            <a:ext cx="2926080" cy="274320"/>
          </a:xfrm>
          <a:prstGeom prst="rect">
            <a:avLst/>
          </a:prstGeom>
          <a:noFill/>
          <a:ln>
            <a:noFill/>
          </a:ln>
        </p:spPr>
        <p:txBody>
          <a:bodyPr wrap="square" lIns="0" tIns="0" rIns="0" bIns="0" rtlCol="0" anchor="t">
            <a:noAutofit/>
          </a:bodyPr>
          <a:lstStyle/>
          <a:p>
            <a:pPr algn="l">
              <a:buNone/>
            </a:pPr>
            <a:r>
              <a:rPr lang="es-ES" sz="1200" b="0" i="1" dirty="0">
                <a:solidFill>
                  <a:srgbClr val="4A525B"/>
                </a:solidFill>
                <a:latin typeface="Arial"/>
                <a:cs typeface="Arial"/>
              </a:rPr>
              <a:t>Apoya al médico; no lo sustituye</a:t>
            </a:r>
          </a:p>
        </p:txBody>
      </p:sp>
      <p:sp>
        <p:nvSpPr>
          <p:cNvPr id="32" name="Step 32"/>
          <p:cNvSpPr/>
          <p:nvPr/>
        </p:nvSpPr>
        <p:spPr>
          <a:xfrm>
            <a:off x="548640" y="4892040"/>
            <a:ext cx="1627632" cy="868680"/>
          </a:xfrm>
          <a:prstGeom prst="roundRect">
            <a:avLst>
              <a:gd name="adj" fmla="val 12631"/>
            </a:avLst>
          </a:prstGeom>
          <a:solidFill>
            <a:srgbClr val="FFFFFF">
              <a:alpha val="70000"/>
            </a:srgbClr>
          </a:solidFill>
          <a:ln w="9525">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ctr">
            <a:noAutofit/>
          </a:bodyPr>
          <a:lstStyle/>
          <a:p>
            <a:pPr algn="ctr">
              <a:spcAft>
                <a:spcPts val="200"/>
              </a:spcAft>
              <a:buNone/>
            </a:pPr>
            <a:r>
              <a:rPr lang="es-ES" sz="1300" b="1" i="0" dirty="0">
                <a:solidFill>
                  <a:srgbClr val="15191D"/>
                </a:solidFill>
                <a:latin typeface="Arial"/>
                <a:cs typeface="Arial"/>
              </a:rPr>
              <a:t>Datos</a:t>
            </a:r>
          </a:p>
          <a:p>
            <a:pPr algn="ctr">
              <a:buNone/>
            </a:pPr>
            <a:r>
              <a:rPr lang="es-ES" sz="1100" b="0" i="0" dirty="0">
                <a:solidFill>
                  <a:srgbClr val="4A525B"/>
                </a:solidFill>
                <a:latin typeface="Arial"/>
                <a:cs typeface="Arial"/>
              </a:rPr>
              <a:t>1.450 pacientes</a:t>
            </a:r>
          </a:p>
        </p:txBody>
      </p:sp>
      <p:cxnSp>
        <p:nvCxnSpPr>
          <p:cNvPr id="33" name="Line 33"/>
          <p:cNvCxnSpPr/>
          <p:nvPr/>
        </p:nvCxnSpPr>
        <p:spPr>
          <a:xfrm>
            <a:off x="2212848" y="5326380"/>
            <a:ext cx="192024" cy="0"/>
          </a:xfrm>
          <a:prstGeom prst="line">
            <a:avLst/>
          </a:prstGeom>
          <a:ln w="15875">
            <a:solidFill>
              <a:srgbClr val="15191D"/>
            </a:solidFill>
            <a:tailEnd type="triangle" w="med" len="med"/>
          </a:ln>
        </p:spPr>
      </p:cxnSp>
      <p:sp>
        <p:nvSpPr>
          <p:cNvPr id="34" name="Step 34"/>
          <p:cNvSpPr/>
          <p:nvPr/>
        </p:nvSpPr>
        <p:spPr>
          <a:xfrm>
            <a:off x="2441448" y="4892040"/>
            <a:ext cx="1627632" cy="868680"/>
          </a:xfrm>
          <a:prstGeom prst="roundRect">
            <a:avLst>
              <a:gd name="adj" fmla="val 12631"/>
            </a:avLst>
          </a:prstGeom>
          <a:solidFill>
            <a:srgbClr val="FFFFFF">
              <a:alpha val="70000"/>
            </a:srgbClr>
          </a:solidFill>
          <a:ln w="9525">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ctr">
            <a:noAutofit/>
          </a:bodyPr>
          <a:lstStyle/>
          <a:p>
            <a:pPr algn="ctr">
              <a:spcAft>
                <a:spcPts val="200"/>
              </a:spcAft>
              <a:buNone/>
            </a:pPr>
            <a:r>
              <a:rPr lang="es-ES" sz="1300" b="1" i="0" dirty="0">
                <a:solidFill>
                  <a:srgbClr val="15191D"/>
                </a:solidFill>
                <a:latin typeface="Arial"/>
                <a:cs typeface="Arial"/>
              </a:rPr>
              <a:t>Preprocesado</a:t>
            </a:r>
          </a:p>
          <a:p>
            <a:pPr algn="ctr">
              <a:buNone/>
            </a:pPr>
            <a:r>
              <a:rPr lang="es-ES" sz="1100" b="0" i="0" dirty="0">
                <a:solidFill>
                  <a:srgbClr val="4A525B"/>
                </a:solidFill>
                <a:latin typeface="Arial"/>
                <a:cs typeface="Arial"/>
              </a:rPr>
              <a:t>[0, 1] · recorte 128</a:t>
            </a:r>
          </a:p>
        </p:txBody>
      </p:sp>
      <p:cxnSp>
        <p:nvCxnSpPr>
          <p:cNvPr id="35" name="Line 35"/>
          <p:cNvCxnSpPr/>
          <p:nvPr/>
        </p:nvCxnSpPr>
        <p:spPr>
          <a:xfrm>
            <a:off x="4105656" y="5326380"/>
            <a:ext cx="192024" cy="0"/>
          </a:xfrm>
          <a:prstGeom prst="line">
            <a:avLst/>
          </a:prstGeom>
          <a:ln w="15875">
            <a:solidFill>
              <a:srgbClr val="15191D"/>
            </a:solidFill>
            <a:tailEnd type="triangle" w="med" len="med"/>
          </a:ln>
        </p:spPr>
      </p:cxnSp>
      <p:sp>
        <p:nvSpPr>
          <p:cNvPr id="36" name="Step 36"/>
          <p:cNvSpPr/>
          <p:nvPr/>
        </p:nvSpPr>
        <p:spPr>
          <a:xfrm>
            <a:off x="4334256" y="4892040"/>
            <a:ext cx="1627632" cy="868680"/>
          </a:xfrm>
          <a:prstGeom prst="roundRect">
            <a:avLst>
              <a:gd name="adj" fmla="val 12631"/>
            </a:avLst>
          </a:prstGeom>
          <a:solidFill>
            <a:srgbClr val="FFFFFF">
              <a:alpha val="70000"/>
            </a:srgbClr>
          </a:solidFill>
          <a:ln w="9525">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ctr">
            <a:noAutofit/>
          </a:bodyPr>
          <a:lstStyle/>
          <a:p>
            <a:pPr algn="ctr">
              <a:spcAft>
                <a:spcPts val="200"/>
              </a:spcAft>
              <a:buNone/>
            </a:pPr>
            <a:r>
              <a:rPr lang="es-ES" sz="1300" b="1" i="0" dirty="0">
                <a:solidFill>
                  <a:srgbClr val="15191D"/>
                </a:solidFill>
                <a:latin typeface="Arial"/>
                <a:cs typeface="Arial"/>
              </a:rPr>
              <a:t>CNN desde cero</a:t>
            </a:r>
          </a:p>
          <a:p>
            <a:pPr algn="ctr">
              <a:buNone/>
            </a:pPr>
            <a:r>
              <a:rPr lang="es-ES" sz="1100" b="0" i="0" dirty="0">
                <a:solidFill>
                  <a:srgbClr val="4A525B"/>
                </a:solidFill>
                <a:latin typeface="Arial"/>
                <a:cs typeface="Arial"/>
              </a:rPr>
              <a:t>74.253 parámetros</a:t>
            </a:r>
          </a:p>
        </p:txBody>
      </p:sp>
      <p:cxnSp>
        <p:nvCxnSpPr>
          <p:cNvPr id="37" name="Line 37"/>
          <p:cNvCxnSpPr/>
          <p:nvPr/>
        </p:nvCxnSpPr>
        <p:spPr>
          <a:xfrm>
            <a:off x="5998464" y="5326380"/>
            <a:ext cx="192024" cy="0"/>
          </a:xfrm>
          <a:prstGeom prst="line">
            <a:avLst/>
          </a:prstGeom>
          <a:ln w="15875">
            <a:solidFill>
              <a:srgbClr val="15191D"/>
            </a:solidFill>
            <a:tailEnd type="triangle" w="med" len="med"/>
          </a:ln>
        </p:spPr>
      </p:cxnSp>
      <p:sp>
        <p:nvSpPr>
          <p:cNvPr id="38" name="Step 38"/>
          <p:cNvSpPr/>
          <p:nvPr/>
        </p:nvSpPr>
        <p:spPr>
          <a:xfrm>
            <a:off x="6227064" y="4892040"/>
            <a:ext cx="1627632" cy="868680"/>
          </a:xfrm>
          <a:prstGeom prst="roundRect">
            <a:avLst>
              <a:gd name="adj" fmla="val 12631"/>
            </a:avLst>
          </a:prstGeom>
          <a:solidFill>
            <a:srgbClr val="FFFFFF">
              <a:alpha val="70000"/>
            </a:srgbClr>
          </a:solidFill>
          <a:ln w="9525">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ctr">
            <a:noAutofit/>
          </a:bodyPr>
          <a:lstStyle/>
          <a:p>
            <a:pPr algn="ctr">
              <a:spcAft>
                <a:spcPts val="200"/>
              </a:spcAft>
              <a:buNone/>
            </a:pPr>
            <a:r>
              <a:rPr lang="es-ES" sz="1300" b="1" i="0" dirty="0">
                <a:solidFill>
                  <a:srgbClr val="15191D"/>
                </a:solidFill>
                <a:latin typeface="Arial"/>
                <a:cs typeface="Arial"/>
              </a:rPr>
              <a:t>Validación</a:t>
            </a:r>
          </a:p>
          <a:p>
            <a:pPr algn="ctr">
              <a:buNone/>
            </a:pPr>
            <a:r>
              <a:rPr lang="es-ES" sz="1100" b="0" i="0" dirty="0">
                <a:solidFill>
                  <a:srgbClr val="4A525B"/>
                </a:solidFill>
                <a:latin typeface="Arial"/>
                <a:cs typeface="Arial"/>
              </a:rPr>
              <a:t>5 folds por paciente</a:t>
            </a:r>
          </a:p>
        </p:txBody>
      </p:sp>
      <p:cxnSp>
        <p:nvCxnSpPr>
          <p:cNvPr id="39" name="Line 39"/>
          <p:cNvCxnSpPr/>
          <p:nvPr/>
        </p:nvCxnSpPr>
        <p:spPr>
          <a:xfrm>
            <a:off x="7891272" y="5326380"/>
            <a:ext cx="192024" cy="0"/>
          </a:xfrm>
          <a:prstGeom prst="line">
            <a:avLst/>
          </a:prstGeom>
          <a:ln w="15875">
            <a:solidFill>
              <a:srgbClr val="15191D"/>
            </a:solidFill>
            <a:tailEnd type="triangle" w="med" len="med"/>
          </a:ln>
        </p:spPr>
      </p:cxnSp>
      <p:sp>
        <p:nvSpPr>
          <p:cNvPr id="40" name="Step 40"/>
          <p:cNvSpPr/>
          <p:nvPr/>
        </p:nvSpPr>
        <p:spPr>
          <a:xfrm>
            <a:off x="8119872" y="4892040"/>
            <a:ext cx="1627632" cy="868680"/>
          </a:xfrm>
          <a:prstGeom prst="roundRect">
            <a:avLst>
              <a:gd name="adj" fmla="val 12631"/>
            </a:avLst>
          </a:prstGeom>
          <a:solidFill>
            <a:srgbClr val="FFFFFF">
              <a:alpha val="70000"/>
            </a:srgbClr>
          </a:solidFill>
          <a:ln w="9525">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ctr">
            <a:noAutofit/>
          </a:bodyPr>
          <a:lstStyle/>
          <a:p>
            <a:pPr algn="ctr">
              <a:spcAft>
                <a:spcPts val="200"/>
              </a:spcAft>
              <a:buNone/>
            </a:pPr>
            <a:r>
              <a:rPr lang="es-ES" sz="1300" b="1" i="0" dirty="0">
                <a:solidFill>
                  <a:srgbClr val="15191D"/>
                </a:solidFill>
                <a:latin typeface="Arial"/>
                <a:cs typeface="Arial"/>
              </a:rPr>
              <a:t>Calibración</a:t>
            </a:r>
          </a:p>
          <a:p>
            <a:pPr algn="ctr">
              <a:buNone/>
            </a:pPr>
            <a:r>
              <a:rPr lang="es-ES" sz="1100" b="0" i="0" dirty="0">
                <a:solidFill>
                  <a:srgbClr val="4A525B"/>
                </a:solidFill>
                <a:latin typeface="Arial"/>
                <a:cs typeface="Arial"/>
              </a:rPr>
              <a:t>umbral en validación</a:t>
            </a:r>
          </a:p>
        </p:txBody>
      </p:sp>
      <p:cxnSp>
        <p:nvCxnSpPr>
          <p:cNvPr id="41" name="Line 41"/>
          <p:cNvCxnSpPr/>
          <p:nvPr/>
        </p:nvCxnSpPr>
        <p:spPr>
          <a:xfrm>
            <a:off x="9784080" y="5326380"/>
            <a:ext cx="192024" cy="0"/>
          </a:xfrm>
          <a:prstGeom prst="line">
            <a:avLst/>
          </a:prstGeom>
          <a:ln w="15875">
            <a:solidFill>
              <a:srgbClr val="15191D"/>
            </a:solidFill>
            <a:tailEnd type="triangle" w="med" len="med"/>
          </a:ln>
        </p:spPr>
      </p:cxnSp>
      <p:sp>
        <p:nvSpPr>
          <p:cNvPr id="42" name="Step 42"/>
          <p:cNvSpPr/>
          <p:nvPr/>
        </p:nvSpPr>
        <p:spPr>
          <a:xfrm>
            <a:off x="10012680" y="4892040"/>
            <a:ext cx="1627632" cy="868680"/>
          </a:xfrm>
          <a:prstGeom prst="roundRect">
            <a:avLst>
              <a:gd name="adj" fmla="val 12631"/>
            </a:avLst>
          </a:prstGeom>
          <a:solidFill>
            <a:srgbClr val="FFFFFF">
              <a:alpha val="70000"/>
            </a:srgbClr>
          </a:solidFill>
          <a:ln w="9525">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ctr">
            <a:noAutofit/>
          </a:bodyPr>
          <a:lstStyle/>
          <a:p>
            <a:pPr algn="ctr">
              <a:spcAft>
                <a:spcPts val="200"/>
              </a:spcAft>
              <a:buNone/>
            </a:pPr>
            <a:r>
              <a:rPr lang="es-ES" sz="1300" b="1" i="0" dirty="0">
                <a:solidFill>
                  <a:srgbClr val="15191D"/>
                </a:solidFill>
                <a:latin typeface="Arial"/>
                <a:cs typeface="Arial"/>
              </a:rPr>
              <a:t>Aplicación web</a:t>
            </a:r>
          </a:p>
          <a:p>
            <a:pPr algn="ctr">
              <a:buNone/>
            </a:pPr>
            <a:r>
              <a:rPr lang="es-ES" sz="1100" b="0" i="0" dirty="0">
                <a:solidFill>
                  <a:srgbClr val="4A525B"/>
                </a:solidFill>
                <a:latin typeface="Arial"/>
                <a:cs typeface="Arial"/>
              </a:rPr>
              <a:t>en el navegador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EFF1"/>
        </a:solidFill>
        <a:effectLst/>
      </p:bgPr>
    </p:bg>
    <p:spTree>
      <p:nvGrpSpPr>
        <p:cNvPr id="1" name=""/>
        <p:cNvGrpSpPr/>
        <p:nvPr/>
      </p:nvGrpSpPr>
      <p:grpSpPr>
        <a:xfrm>
          <a:off x="0" y="0"/>
          <a:ext cx="0" cy="0"/>
          <a:chOff x="0" y="0"/>
          <a:chExt cx="0" cy="0"/>
        </a:xfrm>
      </p:grpSpPr>
      <p:sp>
        <p:nvSpPr>
          <p:cNvPr id="3" name="Blob 3"/>
          <p:cNvSpPr/>
          <p:nvPr/>
        </p:nvSpPr>
        <p:spPr>
          <a:xfrm>
            <a:off x="7863840" y="-1463040"/>
            <a:ext cx="5669280" cy="4572000"/>
          </a:xfrm>
          <a:prstGeom prst="ellipse">
            <a:avLst/>
          </a:prstGeom>
          <a:solidFill>
            <a:srgbClr val="D6E4E6">
              <a:alpha val="80000"/>
            </a:srgbClr>
          </a:solidFill>
          <a:ln>
            <a:noFill/>
          </a:ln>
          <a:effectLst>
            <a:softEdge rad="1280160"/>
          </a:effectLst>
        </p:spPr>
        <p:txBody>
          <a:bodyPr wrap="square" lIns="0" tIns="0" rIns="0" bIns="0" rtlCol="0" anchor="t">
            <a:noAutofit/>
          </a:bodyPr>
          <a:lstStyle/>
          <a:p>
            <a:endParaRPr lang="es-ES" dirty="0"/>
          </a:p>
        </p:txBody>
      </p:sp>
      <p:sp>
        <p:nvSpPr>
          <p:cNvPr id="4" name="Blob 4"/>
          <p:cNvSpPr/>
          <p:nvPr/>
        </p:nvSpPr>
        <p:spPr>
          <a:xfrm>
            <a:off x="-1645920" y="3566160"/>
            <a:ext cx="5852160" cy="4206240"/>
          </a:xfrm>
          <a:prstGeom prst="ellipse">
            <a:avLst/>
          </a:prstGeom>
          <a:solidFill>
            <a:srgbClr val="E6E0EE">
              <a:alpha val="80000"/>
            </a:srgbClr>
          </a:solidFill>
          <a:ln>
            <a:noFill/>
          </a:ln>
          <a:effectLst>
            <a:softEdge rad="1280160"/>
          </a:effectLst>
        </p:spPr>
        <p:txBody>
          <a:bodyPr wrap="square" lIns="0" tIns="0" rIns="0" bIns="0" rtlCol="0" anchor="t">
            <a:noAutofit/>
          </a:bodyPr>
          <a:lstStyle/>
          <a:p>
            <a:endParaRPr lang="es-ES" dirty="0"/>
          </a:p>
        </p:txBody>
      </p:sp>
      <p:sp>
        <p:nvSpPr>
          <p:cNvPr id="5" name="Blob 5"/>
          <p:cNvSpPr/>
          <p:nvPr/>
        </p:nvSpPr>
        <p:spPr>
          <a:xfrm>
            <a:off x="4754880" y="4206240"/>
            <a:ext cx="4937760" cy="3291840"/>
          </a:xfrm>
          <a:prstGeom prst="ellipse">
            <a:avLst/>
          </a:prstGeom>
          <a:solidFill>
            <a:srgbClr val="ECE5DC">
              <a:alpha val="70000"/>
            </a:srgbClr>
          </a:solidFill>
          <a:ln>
            <a:noFill/>
          </a:ln>
          <a:effectLst>
            <a:softEdge rad="1280160"/>
          </a:effectLst>
        </p:spPr>
        <p:txBody>
          <a:bodyPr wrap="square" lIns="0" tIns="0" rIns="0" bIns="0" rtlCol="0" anchor="t">
            <a:noAutofit/>
          </a:bodyPr>
          <a:lstStyle/>
          <a:p>
            <a:endParaRPr lang="es-ES" dirty="0"/>
          </a:p>
        </p:txBody>
      </p:sp>
      <p:sp>
        <p:nvSpPr>
          <p:cNvPr id="6" name="Kicker 6"/>
          <p:cNvSpPr txBox="1"/>
          <p:nvPr/>
        </p:nvSpPr>
        <p:spPr>
          <a:xfrm>
            <a:off x="548640" y="347472"/>
            <a:ext cx="8686800" cy="292608"/>
          </a:xfrm>
          <a:prstGeom prst="rect">
            <a:avLst/>
          </a:prstGeom>
          <a:noFill/>
          <a:ln>
            <a:noFill/>
          </a:ln>
        </p:spPr>
        <p:txBody>
          <a:bodyPr wrap="square" lIns="0" tIns="0" rIns="0" bIns="0" rtlCol="0" anchor="t">
            <a:noAutofit/>
          </a:bodyPr>
          <a:lstStyle/>
          <a:p>
            <a:pPr algn="l">
              <a:buNone/>
            </a:pPr>
            <a:r>
              <a:rPr lang="es-ES" sz="1300" b="0" i="0" dirty="0">
                <a:solidFill>
                  <a:srgbClr val="4A525B"/>
                </a:solidFill>
                <a:latin typeface="Arial"/>
                <a:cs typeface="Arial"/>
              </a:rPr>
              <a:t>2 · Datos, separación por paciente y clases</a:t>
            </a:r>
          </a:p>
        </p:txBody>
      </p:sp>
      <p:sp>
        <p:nvSpPr>
          <p:cNvPr id="7" name="Title 7"/>
          <p:cNvSpPr txBox="1"/>
          <p:nvPr/>
        </p:nvSpPr>
        <p:spPr>
          <a:xfrm>
            <a:off x="548640" y="621792"/>
            <a:ext cx="11064240" cy="914400"/>
          </a:xfrm>
          <a:prstGeom prst="rect">
            <a:avLst/>
          </a:prstGeom>
          <a:noFill/>
          <a:ln>
            <a:noFill/>
          </a:ln>
        </p:spPr>
        <p:txBody>
          <a:bodyPr wrap="square" lIns="0" tIns="0" rIns="0" bIns="0" rtlCol="0" anchor="t">
            <a:noAutofit/>
          </a:bodyPr>
          <a:lstStyle/>
          <a:p>
            <a:pPr algn="l">
              <a:lnSpc>
                <a:spcPct val="95000"/>
              </a:lnSpc>
              <a:buNone/>
            </a:pPr>
            <a:r>
              <a:rPr lang="es-ES" sz="2500" b="1" i="0" dirty="0">
                <a:solidFill>
                  <a:srgbClr val="15191D"/>
                </a:solidFill>
                <a:latin typeface="Arial"/>
                <a:cs typeface="Arial"/>
              </a:rPr>
              <a:t>1.097 pacientes de entrenamiento separadas por paciente en 5 folds; solo el 29,4 % alcanza pCR</a:t>
            </a:r>
          </a:p>
        </p:txBody>
      </p:sp>
      <p:sp>
        <p:nvSpPr>
          <p:cNvPr id="8" name="Page 8"/>
          <p:cNvSpPr txBox="1"/>
          <p:nvPr/>
        </p:nvSpPr>
        <p:spPr>
          <a:xfrm>
            <a:off x="548640" y="6355080"/>
            <a:ext cx="1828800" cy="274320"/>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2 / 5</a:t>
            </a:r>
          </a:p>
        </p:txBody>
      </p:sp>
      <p:sp>
        <p:nvSpPr>
          <p:cNvPr id="9" name="Viewer 9"/>
          <p:cNvSpPr/>
          <p:nvPr/>
        </p:nvSpPr>
        <p:spPr>
          <a:xfrm>
            <a:off x="548640" y="1783080"/>
            <a:ext cx="4846320" cy="4069080"/>
          </a:xfrm>
          <a:prstGeom prst="roundRect">
            <a:avLst>
              <a:gd name="adj" fmla="val 3595"/>
            </a:avLst>
          </a:prstGeom>
          <a:solidFill>
            <a:srgbClr val="0E1113"/>
          </a:solidFill>
          <a:ln>
            <a:no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pic>
        <p:nvPicPr>
          <p:cNvPr id="10" name="PRE · antes del contraste 10" descr="PRE · antes del contraste"/>
          <p:cNvPicPr>
            <a:picLocks noChangeAspect="1"/>
          </p:cNvPicPr>
          <p:nvPr/>
        </p:nvPicPr>
        <p:blipFill>
          <a:blip r:embed="rId3"/>
          <a:stretch>
            <a:fillRect/>
          </a:stretch>
        </p:blipFill>
        <p:spPr>
          <a:xfrm>
            <a:off x="1124712" y="2011680"/>
            <a:ext cx="1572768" cy="1572768"/>
          </a:xfrm>
          <a:prstGeom prst="roundRect">
            <a:avLst>
              <a:gd name="adj" fmla="val 3488"/>
            </a:avLst>
          </a:prstGeom>
        </p:spPr>
      </p:pic>
      <p:sp>
        <p:nvSpPr>
          <p:cNvPr id="11" name="Label 11"/>
          <p:cNvSpPr txBox="1"/>
          <p:nvPr/>
        </p:nvSpPr>
        <p:spPr>
          <a:xfrm>
            <a:off x="1078992" y="3602736"/>
            <a:ext cx="2121408" cy="256032"/>
          </a:xfrm>
          <a:prstGeom prst="rect">
            <a:avLst/>
          </a:prstGeom>
          <a:noFill/>
          <a:ln>
            <a:noFill/>
          </a:ln>
        </p:spPr>
        <p:txBody>
          <a:bodyPr wrap="square" lIns="0" tIns="0" rIns="0" bIns="0" rtlCol="0" anchor="t">
            <a:noAutofit/>
          </a:bodyPr>
          <a:lstStyle/>
          <a:p>
            <a:pPr algn="l">
              <a:buNone/>
            </a:pPr>
            <a:r>
              <a:rPr lang="es-ES" sz="1100" b="0" i="0" dirty="0">
                <a:solidFill>
                  <a:srgbClr val="A4A9AE"/>
                </a:solidFill>
                <a:latin typeface="Arial"/>
                <a:cs typeface="Arial"/>
              </a:rPr>
              <a:t>PRE · antes del contraste</a:t>
            </a:r>
          </a:p>
        </p:txBody>
      </p:sp>
      <p:pic>
        <p:nvPicPr>
          <p:cNvPr id="12" name="EARLY · captación inicial 12" descr="EARLY · captación inicial"/>
          <p:cNvPicPr>
            <a:picLocks noChangeAspect="1"/>
          </p:cNvPicPr>
          <p:nvPr/>
        </p:nvPicPr>
        <p:blipFill>
          <a:blip r:embed="rId4"/>
          <a:stretch>
            <a:fillRect/>
          </a:stretch>
        </p:blipFill>
        <p:spPr>
          <a:xfrm>
            <a:off x="3246120" y="2011680"/>
            <a:ext cx="1572768" cy="1572768"/>
          </a:xfrm>
          <a:prstGeom prst="roundRect">
            <a:avLst>
              <a:gd name="adj" fmla="val 3488"/>
            </a:avLst>
          </a:prstGeom>
        </p:spPr>
      </p:pic>
      <p:sp>
        <p:nvSpPr>
          <p:cNvPr id="13" name="Label 13"/>
          <p:cNvSpPr txBox="1"/>
          <p:nvPr/>
        </p:nvSpPr>
        <p:spPr>
          <a:xfrm>
            <a:off x="3200400" y="3602736"/>
            <a:ext cx="2121408" cy="256032"/>
          </a:xfrm>
          <a:prstGeom prst="rect">
            <a:avLst/>
          </a:prstGeom>
          <a:noFill/>
          <a:ln>
            <a:noFill/>
          </a:ln>
        </p:spPr>
        <p:txBody>
          <a:bodyPr wrap="square" lIns="0" tIns="0" rIns="0" bIns="0" rtlCol="0" anchor="t">
            <a:noAutofit/>
          </a:bodyPr>
          <a:lstStyle/>
          <a:p>
            <a:pPr algn="l">
              <a:buNone/>
            </a:pPr>
            <a:r>
              <a:rPr lang="es-ES" sz="1100" b="0" i="0" dirty="0">
                <a:solidFill>
                  <a:srgbClr val="A4A9AE"/>
                </a:solidFill>
                <a:latin typeface="Arial"/>
                <a:cs typeface="Arial"/>
              </a:rPr>
              <a:t>EARLY · captación inicial</a:t>
            </a:r>
          </a:p>
        </p:txBody>
      </p:sp>
      <p:pic>
        <p:nvPicPr>
          <p:cNvPr id="14" name="LATE · fase tardía 14" descr="LATE · fase tardía"/>
          <p:cNvPicPr>
            <a:picLocks noChangeAspect="1"/>
          </p:cNvPicPr>
          <p:nvPr/>
        </p:nvPicPr>
        <p:blipFill>
          <a:blip r:embed="rId5"/>
          <a:stretch>
            <a:fillRect/>
          </a:stretch>
        </p:blipFill>
        <p:spPr>
          <a:xfrm>
            <a:off x="1124712" y="3913632"/>
            <a:ext cx="1572768" cy="1572768"/>
          </a:xfrm>
          <a:prstGeom prst="roundRect">
            <a:avLst>
              <a:gd name="adj" fmla="val 3488"/>
            </a:avLst>
          </a:prstGeom>
        </p:spPr>
      </p:pic>
      <p:sp>
        <p:nvSpPr>
          <p:cNvPr id="15" name="Label 15"/>
          <p:cNvSpPr txBox="1"/>
          <p:nvPr/>
        </p:nvSpPr>
        <p:spPr>
          <a:xfrm>
            <a:off x="1078992" y="5504688"/>
            <a:ext cx="2121408" cy="256032"/>
          </a:xfrm>
          <a:prstGeom prst="rect">
            <a:avLst/>
          </a:prstGeom>
          <a:noFill/>
          <a:ln>
            <a:noFill/>
          </a:ln>
        </p:spPr>
        <p:txBody>
          <a:bodyPr wrap="square" lIns="0" tIns="0" rIns="0" bIns="0" rtlCol="0" anchor="t">
            <a:noAutofit/>
          </a:bodyPr>
          <a:lstStyle/>
          <a:p>
            <a:pPr algn="l">
              <a:buNone/>
            </a:pPr>
            <a:r>
              <a:rPr lang="es-ES" sz="1100" b="0" i="0" dirty="0">
                <a:solidFill>
                  <a:srgbClr val="A4A9AE"/>
                </a:solidFill>
                <a:latin typeface="Arial"/>
                <a:cs typeface="Arial"/>
              </a:rPr>
              <a:t>LATE · fase tardía</a:t>
            </a:r>
          </a:p>
        </p:txBody>
      </p:sp>
      <p:pic>
        <p:nvPicPr>
          <p:cNvPr id="16" name="EARLY − PRE · realce 16" descr="EARLY − PRE · realce"/>
          <p:cNvPicPr>
            <a:picLocks noChangeAspect="1"/>
          </p:cNvPicPr>
          <p:nvPr/>
        </p:nvPicPr>
        <p:blipFill>
          <a:blip r:embed="rId6"/>
          <a:stretch>
            <a:fillRect/>
          </a:stretch>
        </p:blipFill>
        <p:spPr>
          <a:xfrm>
            <a:off x="3246120" y="3913632"/>
            <a:ext cx="1572768" cy="1572768"/>
          </a:xfrm>
          <a:prstGeom prst="roundRect">
            <a:avLst>
              <a:gd name="adj" fmla="val 3488"/>
            </a:avLst>
          </a:prstGeom>
        </p:spPr>
      </p:pic>
      <p:sp>
        <p:nvSpPr>
          <p:cNvPr id="17" name="Label 17"/>
          <p:cNvSpPr txBox="1"/>
          <p:nvPr/>
        </p:nvSpPr>
        <p:spPr>
          <a:xfrm>
            <a:off x="3200400" y="5504688"/>
            <a:ext cx="2121408" cy="256032"/>
          </a:xfrm>
          <a:prstGeom prst="rect">
            <a:avLst/>
          </a:prstGeom>
          <a:noFill/>
          <a:ln>
            <a:noFill/>
          </a:ln>
        </p:spPr>
        <p:txBody>
          <a:bodyPr wrap="square" lIns="0" tIns="0" rIns="0" bIns="0" rtlCol="0" anchor="t">
            <a:noAutofit/>
          </a:bodyPr>
          <a:lstStyle/>
          <a:p>
            <a:pPr algn="l">
              <a:buNone/>
            </a:pPr>
            <a:r>
              <a:rPr lang="es-ES" sz="1100" b="0" i="0" dirty="0">
                <a:solidFill>
                  <a:srgbClr val="A4A9AE"/>
                </a:solidFill>
                <a:latin typeface="Arial"/>
                <a:cs typeface="Arial"/>
              </a:rPr>
              <a:t>EARLY − PRE · realce</a:t>
            </a:r>
          </a:p>
        </p:txBody>
      </p:sp>
      <p:sp>
        <p:nvSpPr>
          <p:cNvPr id="18" name="Panel 18"/>
          <p:cNvSpPr/>
          <p:nvPr/>
        </p:nvSpPr>
        <p:spPr>
          <a:xfrm>
            <a:off x="5715000" y="1783080"/>
            <a:ext cx="5925312" cy="1874520"/>
          </a:xfrm>
          <a:prstGeom prst="roundRect">
            <a:avLst>
              <a:gd name="adj" fmla="val 7804"/>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9" name="H 19"/>
          <p:cNvSpPr txBox="1"/>
          <p:nvPr/>
        </p:nvSpPr>
        <p:spPr>
          <a:xfrm>
            <a:off x="5989320" y="1920240"/>
            <a:ext cx="5376672" cy="320040"/>
          </a:xfrm>
          <a:prstGeom prst="rect">
            <a:avLst/>
          </a:prstGeom>
          <a:noFill/>
          <a:ln>
            <a:noFill/>
          </a:ln>
        </p:spPr>
        <p:txBody>
          <a:bodyPr wrap="square" lIns="0" tIns="0" rIns="0" bIns="0" rtlCol="0" anchor="t">
            <a:noAutofit/>
          </a:bodyPr>
          <a:lstStyle/>
          <a:p>
            <a:pPr algn="l">
              <a:buNone/>
            </a:pPr>
            <a:r>
              <a:rPr lang="es-ES" sz="1500" b="1" i="0" dirty="0">
                <a:solidFill>
                  <a:srgbClr val="15191D"/>
                </a:solidFill>
                <a:latin typeface="Arial"/>
                <a:cs typeface="Arial"/>
              </a:rPr>
              <a:t>Clases en entrenamiento (pacientes)</a:t>
            </a:r>
          </a:p>
        </p:txBody>
      </p:sp>
      <p:sp>
        <p:nvSpPr>
          <p:cNvPr id="20" name="Bar no pCR 20"/>
          <p:cNvSpPr/>
          <p:nvPr/>
        </p:nvSpPr>
        <p:spPr>
          <a:xfrm>
            <a:off x="5989320" y="2395728"/>
            <a:ext cx="3795930" cy="502920"/>
          </a:xfrm>
          <a:prstGeom prst="rect">
            <a:avLst/>
          </a:prstGeom>
          <a:solidFill>
            <a:srgbClr val="23656E"/>
          </a:solidFill>
          <a:ln>
            <a:noFill/>
          </a:ln>
        </p:spPr>
        <p:txBody>
          <a:bodyPr wrap="square" lIns="137160" tIns="0" rIns="0" bIns="0" rtlCol="0" anchor="ctr">
            <a:noAutofit/>
          </a:bodyPr>
          <a:lstStyle/>
          <a:p>
            <a:pPr algn="l">
              <a:buNone/>
            </a:pPr>
            <a:r>
              <a:rPr lang="es-ES" sz="1400" b="1" i="0" dirty="0">
                <a:solidFill>
                  <a:srgbClr val="FFFFFF"/>
                </a:solidFill>
                <a:latin typeface="Arial"/>
                <a:cs typeface="Arial"/>
              </a:rPr>
              <a:t>No pCR · 775 · 70,6 %</a:t>
            </a:r>
          </a:p>
        </p:txBody>
      </p:sp>
      <p:sp>
        <p:nvSpPr>
          <p:cNvPr id="21" name="Bar pCR 21"/>
          <p:cNvSpPr/>
          <p:nvPr/>
        </p:nvSpPr>
        <p:spPr>
          <a:xfrm>
            <a:off x="9785250" y="2395728"/>
            <a:ext cx="1580742" cy="502920"/>
          </a:xfrm>
          <a:prstGeom prst="rect">
            <a:avLst/>
          </a:prstGeom>
          <a:solidFill>
            <a:srgbClr val="DC7867"/>
          </a:solidFill>
          <a:ln>
            <a:noFill/>
          </a:ln>
        </p:spPr>
        <p:txBody>
          <a:bodyPr wrap="square" lIns="73152" tIns="0" rIns="0" bIns="0" rtlCol="0" anchor="ctr">
            <a:noAutofit/>
          </a:bodyPr>
          <a:lstStyle/>
          <a:p>
            <a:pPr algn="l">
              <a:buNone/>
            </a:pPr>
            <a:r>
              <a:rPr lang="es-ES" sz="1200" b="1" i="0" dirty="0">
                <a:solidFill>
                  <a:srgbClr val="15191D"/>
                </a:solidFill>
                <a:latin typeface="Arial"/>
                <a:cs typeface="Arial"/>
              </a:rPr>
              <a:t>pCR · 322 · 29,4 %</a:t>
            </a:r>
          </a:p>
        </p:txBody>
      </p:sp>
      <p:sp>
        <p:nvSpPr>
          <p:cNvPr id="22" name="Weight 22"/>
          <p:cNvSpPr txBox="1"/>
          <p:nvPr/>
        </p:nvSpPr>
        <p:spPr>
          <a:xfrm>
            <a:off x="5989320" y="3017520"/>
            <a:ext cx="5376672" cy="548640"/>
          </a:xfrm>
          <a:prstGeom prst="rect">
            <a:avLst/>
          </a:prstGeom>
          <a:noFill/>
          <a:ln>
            <a:noFill/>
          </a:ln>
        </p:spPr>
        <p:txBody>
          <a:bodyPr wrap="square" lIns="0" tIns="0" rIns="0" bIns="0" rtlCol="0" anchor="t">
            <a:noAutofit/>
          </a:bodyPr>
          <a:lstStyle/>
          <a:p>
            <a:pPr algn="l">
              <a:lnSpc>
                <a:spcPct val="100000"/>
              </a:lnSpc>
              <a:buNone/>
            </a:pPr>
            <a:r>
              <a:rPr lang="es-ES" sz="1400" b="1" i="0" dirty="0">
                <a:solidFill>
                  <a:srgbClr val="15191D"/>
                </a:solidFill>
                <a:latin typeface="Arial"/>
                <a:cs typeface="Arial"/>
              </a:rPr>
              <a:t>Pérdida ponderada  </a:t>
            </a:r>
            <a:r>
              <a:rPr lang="es-ES" sz="1400" b="0" i="0" dirty="0">
                <a:solidFill>
                  <a:srgbClr val="4A525B"/>
                </a:solidFill>
                <a:latin typeface="Arial"/>
                <a:cs typeface="Arial"/>
              </a:rPr>
              <a:t>pos_weight = N₀ / N₁ ≈ 2,4, calculado en cada fold solo con sus pacientes de entrenamiento</a:t>
            </a:r>
          </a:p>
        </p:txBody>
      </p:sp>
      <p:sp>
        <p:nvSpPr>
          <p:cNvPr id="23" name="Panel 23"/>
          <p:cNvSpPr/>
          <p:nvPr/>
        </p:nvSpPr>
        <p:spPr>
          <a:xfrm>
            <a:off x="5715000" y="3840480"/>
            <a:ext cx="5925312" cy="2011680"/>
          </a:xfrm>
          <a:prstGeom prst="roundRect">
            <a:avLst>
              <a:gd name="adj" fmla="val 7272"/>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24" name="H 24"/>
          <p:cNvSpPr txBox="1"/>
          <p:nvPr/>
        </p:nvSpPr>
        <p:spPr>
          <a:xfrm>
            <a:off x="5989320" y="3977640"/>
            <a:ext cx="5376672" cy="320040"/>
          </a:xfrm>
          <a:prstGeom prst="rect">
            <a:avLst/>
          </a:prstGeom>
          <a:noFill/>
          <a:ln>
            <a:noFill/>
          </a:ln>
        </p:spPr>
        <p:txBody>
          <a:bodyPr wrap="square" lIns="0" tIns="0" rIns="0" bIns="0" rtlCol="0" anchor="t">
            <a:noAutofit/>
          </a:bodyPr>
          <a:lstStyle/>
          <a:p>
            <a:pPr algn="l">
              <a:buNone/>
            </a:pPr>
            <a:r>
              <a:rPr lang="es-ES" sz="1500" b="1" i="0" dirty="0">
                <a:solidFill>
                  <a:srgbClr val="15191D"/>
                </a:solidFill>
                <a:latin typeface="Arial"/>
                <a:cs typeface="Arial"/>
              </a:rPr>
              <a:t>Validación cruzada por paciente</a:t>
            </a:r>
          </a:p>
        </p:txBody>
      </p:sp>
      <p:sp>
        <p:nvSpPr>
          <p:cNvPr id="25" name="Fold 25"/>
          <p:cNvSpPr/>
          <p:nvPr/>
        </p:nvSpPr>
        <p:spPr>
          <a:xfrm>
            <a:off x="5989320" y="4434840"/>
            <a:ext cx="969264" cy="566928"/>
          </a:xfrm>
          <a:prstGeom prst="roundRect">
            <a:avLst>
              <a:gd name="adj" fmla="val 12903"/>
            </a:avLst>
          </a:prstGeom>
          <a:solidFill>
            <a:srgbClr val="FFFFFF">
              <a:alpha val="85000"/>
            </a:srgbClr>
          </a:solidFill>
          <a:ln w="9525">
            <a:solidFill>
              <a:srgbClr val="15191D">
                <a:alpha val="20000"/>
              </a:srgbClr>
            </a:solidFill>
          </a:ln>
        </p:spPr>
        <p:txBody>
          <a:bodyPr wrap="square" lIns="0" tIns="0" rIns="0" bIns="0" rtlCol="0" anchor="ctr">
            <a:noAutofit/>
          </a:bodyPr>
          <a:lstStyle/>
          <a:p>
            <a:pPr algn="ctr">
              <a:buNone/>
            </a:pPr>
            <a:r>
              <a:rPr lang="es-ES" sz="1200" b="1" i="0" dirty="0">
                <a:solidFill>
                  <a:srgbClr val="4A525B"/>
                </a:solidFill>
                <a:latin typeface="Arial"/>
                <a:cs typeface="Arial"/>
              </a:rPr>
              <a:t>Fold 0</a:t>
            </a:r>
          </a:p>
          <a:p>
            <a:pPr algn="ctr">
              <a:buNone/>
            </a:pPr>
            <a:r>
              <a:rPr lang="es-ES" sz="1000" b="0" i="0" dirty="0">
                <a:solidFill>
                  <a:srgbClr val="8B9197"/>
                </a:solidFill>
                <a:latin typeface="Arial"/>
                <a:cs typeface="Arial"/>
              </a:rPr>
              <a:t>entrena</a:t>
            </a:r>
          </a:p>
        </p:txBody>
      </p:sp>
      <p:sp>
        <p:nvSpPr>
          <p:cNvPr id="26" name="Fold 26"/>
          <p:cNvSpPr/>
          <p:nvPr/>
        </p:nvSpPr>
        <p:spPr>
          <a:xfrm>
            <a:off x="7054596" y="4434840"/>
            <a:ext cx="969264" cy="566928"/>
          </a:xfrm>
          <a:prstGeom prst="roundRect">
            <a:avLst>
              <a:gd name="adj" fmla="val 12903"/>
            </a:avLst>
          </a:prstGeom>
          <a:solidFill>
            <a:srgbClr val="FFFFFF">
              <a:alpha val="85000"/>
            </a:srgbClr>
          </a:solidFill>
          <a:ln w="9525">
            <a:solidFill>
              <a:srgbClr val="15191D">
                <a:alpha val="20000"/>
              </a:srgbClr>
            </a:solidFill>
          </a:ln>
        </p:spPr>
        <p:txBody>
          <a:bodyPr wrap="square" lIns="0" tIns="0" rIns="0" bIns="0" rtlCol="0" anchor="ctr">
            <a:noAutofit/>
          </a:bodyPr>
          <a:lstStyle/>
          <a:p>
            <a:pPr algn="ctr">
              <a:buNone/>
            </a:pPr>
            <a:r>
              <a:rPr lang="es-ES" sz="1200" b="1" i="0" dirty="0">
                <a:solidFill>
                  <a:srgbClr val="4A525B"/>
                </a:solidFill>
                <a:latin typeface="Arial"/>
                <a:cs typeface="Arial"/>
              </a:rPr>
              <a:t>Fold 1</a:t>
            </a:r>
          </a:p>
          <a:p>
            <a:pPr algn="ctr">
              <a:buNone/>
            </a:pPr>
            <a:r>
              <a:rPr lang="es-ES" sz="1000" b="0" i="0" dirty="0">
                <a:solidFill>
                  <a:srgbClr val="8B9197"/>
                </a:solidFill>
                <a:latin typeface="Arial"/>
                <a:cs typeface="Arial"/>
              </a:rPr>
              <a:t>entrena</a:t>
            </a:r>
          </a:p>
        </p:txBody>
      </p:sp>
      <p:sp>
        <p:nvSpPr>
          <p:cNvPr id="27" name="Fold 27"/>
          <p:cNvSpPr/>
          <p:nvPr/>
        </p:nvSpPr>
        <p:spPr>
          <a:xfrm>
            <a:off x="8119872" y="4434840"/>
            <a:ext cx="969264" cy="566928"/>
          </a:xfrm>
          <a:prstGeom prst="roundRect">
            <a:avLst>
              <a:gd name="adj" fmla="val 12903"/>
            </a:avLst>
          </a:prstGeom>
          <a:solidFill>
            <a:srgbClr val="15191D"/>
          </a:solidFill>
          <a:ln>
            <a:noFill/>
          </a:ln>
        </p:spPr>
        <p:txBody>
          <a:bodyPr wrap="square" lIns="0" tIns="0" rIns="0" bIns="0" rtlCol="0" anchor="ctr">
            <a:noAutofit/>
          </a:bodyPr>
          <a:lstStyle/>
          <a:p>
            <a:pPr algn="ctr">
              <a:buNone/>
            </a:pPr>
            <a:r>
              <a:rPr lang="es-ES" sz="1200" b="1" i="0" dirty="0">
                <a:solidFill>
                  <a:srgbClr val="FFFFFF"/>
                </a:solidFill>
                <a:latin typeface="Arial"/>
                <a:cs typeface="Arial"/>
              </a:rPr>
              <a:t>Fold 2</a:t>
            </a:r>
          </a:p>
          <a:p>
            <a:pPr algn="ctr">
              <a:buNone/>
            </a:pPr>
            <a:r>
              <a:rPr lang="es-ES" sz="1000" b="0" i="0" dirty="0">
                <a:solidFill>
                  <a:srgbClr val="A4A9AE"/>
                </a:solidFill>
                <a:latin typeface="Arial"/>
                <a:cs typeface="Arial"/>
              </a:rPr>
              <a:t>validación</a:t>
            </a:r>
          </a:p>
        </p:txBody>
      </p:sp>
      <p:sp>
        <p:nvSpPr>
          <p:cNvPr id="28" name="Fold 28"/>
          <p:cNvSpPr/>
          <p:nvPr/>
        </p:nvSpPr>
        <p:spPr>
          <a:xfrm>
            <a:off x="9185148" y="4434840"/>
            <a:ext cx="969264" cy="566928"/>
          </a:xfrm>
          <a:prstGeom prst="roundRect">
            <a:avLst>
              <a:gd name="adj" fmla="val 12903"/>
            </a:avLst>
          </a:prstGeom>
          <a:solidFill>
            <a:srgbClr val="FFFFFF">
              <a:alpha val="85000"/>
            </a:srgbClr>
          </a:solidFill>
          <a:ln w="9525">
            <a:solidFill>
              <a:srgbClr val="15191D">
                <a:alpha val="20000"/>
              </a:srgbClr>
            </a:solidFill>
          </a:ln>
        </p:spPr>
        <p:txBody>
          <a:bodyPr wrap="square" lIns="0" tIns="0" rIns="0" bIns="0" rtlCol="0" anchor="ctr">
            <a:noAutofit/>
          </a:bodyPr>
          <a:lstStyle/>
          <a:p>
            <a:pPr algn="ctr">
              <a:buNone/>
            </a:pPr>
            <a:r>
              <a:rPr lang="es-ES" sz="1200" b="1" i="0" dirty="0">
                <a:solidFill>
                  <a:srgbClr val="4A525B"/>
                </a:solidFill>
                <a:latin typeface="Arial"/>
                <a:cs typeface="Arial"/>
              </a:rPr>
              <a:t>Fold 3</a:t>
            </a:r>
          </a:p>
          <a:p>
            <a:pPr algn="ctr">
              <a:buNone/>
            </a:pPr>
            <a:r>
              <a:rPr lang="es-ES" sz="1000" b="0" i="0" dirty="0">
                <a:solidFill>
                  <a:srgbClr val="8B9197"/>
                </a:solidFill>
                <a:latin typeface="Arial"/>
                <a:cs typeface="Arial"/>
              </a:rPr>
              <a:t>entrena</a:t>
            </a:r>
          </a:p>
        </p:txBody>
      </p:sp>
      <p:sp>
        <p:nvSpPr>
          <p:cNvPr id="29" name="Fold 29"/>
          <p:cNvSpPr/>
          <p:nvPr/>
        </p:nvSpPr>
        <p:spPr>
          <a:xfrm>
            <a:off x="10250424" y="4434840"/>
            <a:ext cx="969264" cy="566928"/>
          </a:xfrm>
          <a:prstGeom prst="roundRect">
            <a:avLst>
              <a:gd name="adj" fmla="val 12903"/>
            </a:avLst>
          </a:prstGeom>
          <a:solidFill>
            <a:srgbClr val="FFFFFF">
              <a:alpha val="85000"/>
            </a:srgbClr>
          </a:solidFill>
          <a:ln w="9525">
            <a:solidFill>
              <a:srgbClr val="15191D">
                <a:alpha val="20000"/>
              </a:srgbClr>
            </a:solidFill>
          </a:ln>
        </p:spPr>
        <p:txBody>
          <a:bodyPr wrap="square" lIns="0" tIns="0" rIns="0" bIns="0" rtlCol="0" anchor="ctr">
            <a:noAutofit/>
          </a:bodyPr>
          <a:lstStyle/>
          <a:p>
            <a:pPr algn="ctr">
              <a:buNone/>
            </a:pPr>
            <a:r>
              <a:rPr lang="es-ES" sz="1200" b="1" i="0" dirty="0">
                <a:solidFill>
                  <a:srgbClr val="4A525B"/>
                </a:solidFill>
                <a:latin typeface="Arial"/>
                <a:cs typeface="Arial"/>
              </a:rPr>
              <a:t>Fold 4</a:t>
            </a:r>
          </a:p>
          <a:p>
            <a:pPr algn="ctr">
              <a:buNone/>
            </a:pPr>
            <a:r>
              <a:rPr lang="es-ES" sz="1000" b="0" i="0" dirty="0">
                <a:solidFill>
                  <a:srgbClr val="8B9197"/>
                </a:solidFill>
                <a:latin typeface="Arial"/>
                <a:cs typeface="Arial"/>
              </a:rPr>
              <a:t>entrena</a:t>
            </a:r>
          </a:p>
        </p:txBody>
      </p:sp>
      <p:sp>
        <p:nvSpPr>
          <p:cNvPr id="30" name="Note 30"/>
          <p:cNvSpPr txBox="1"/>
          <p:nvPr/>
        </p:nvSpPr>
        <p:spPr>
          <a:xfrm>
            <a:off x="5989320" y="5120640"/>
            <a:ext cx="5376672" cy="685800"/>
          </a:xfrm>
          <a:prstGeom prst="rect">
            <a:avLst/>
          </a:prstGeom>
          <a:noFill/>
          <a:ln>
            <a:noFill/>
          </a:ln>
        </p:spPr>
        <p:txBody>
          <a:bodyPr wrap="square" lIns="0" tIns="0" rIns="0" bIns="0" rtlCol="0" anchor="t">
            <a:noAutofit/>
          </a:bodyPr>
          <a:lstStyle/>
          <a:p>
            <a:pPr algn="l">
              <a:lnSpc>
                <a:spcPct val="100000"/>
              </a:lnSpc>
              <a:buNone/>
            </a:pPr>
            <a:r>
              <a:rPr lang="es-ES" sz="1300" b="0" i="0" dirty="0">
                <a:solidFill>
                  <a:srgbClr val="4A525B"/>
                </a:solidFill>
                <a:latin typeface="Arial"/>
                <a:cs typeface="Arial"/>
              </a:rPr>
              <a:t>Los ~10 cortes de una paciente quedan siempre en el mismo fold; test (176 pacientes) no interviene en ninguna decisión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DEFF1"/>
        </a:solidFill>
        <a:effectLst/>
      </p:bgPr>
    </p:bg>
    <p:spTree>
      <p:nvGrpSpPr>
        <p:cNvPr id="1" name=""/>
        <p:cNvGrpSpPr/>
        <p:nvPr/>
      </p:nvGrpSpPr>
      <p:grpSpPr>
        <a:xfrm>
          <a:off x="0" y="0"/>
          <a:ext cx="0" cy="0"/>
          <a:chOff x="0" y="0"/>
          <a:chExt cx="0" cy="0"/>
        </a:xfrm>
      </p:grpSpPr>
      <p:sp>
        <p:nvSpPr>
          <p:cNvPr id="3" name="Blob 3"/>
          <p:cNvSpPr/>
          <p:nvPr/>
        </p:nvSpPr>
        <p:spPr>
          <a:xfrm>
            <a:off x="7863840" y="-1463040"/>
            <a:ext cx="5669280" cy="4572000"/>
          </a:xfrm>
          <a:prstGeom prst="ellipse">
            <a:avLst/>
          </a:prstGeom>
          <a:solidFill>
            <a:srgbClr val="D6E4E6">
              <a:alpha val="80000"/>
            </a:srgbClr>
          </a:solidFill>
          <a:ln>
            <a:noFill/>
          </a:ln>
          <a:effectLst>
            <a:softEdge rad="1280160"/>
          </a:effectLst>
        </p:spPr>
        <p:txBody>
          <a:bodyPr wrap="square" lIns="0" tIns="0" rIns="0" bIns="0" rtlCol="0" anchor="t">
            <a:noAutofit/>
          </a:bodyPr>
          <a:lstStyle/>
          <a:p>
            <a:endParaRPr lang="es-ES" dirty="0"/>
          </a:p>
        </p:txBody>
      </p:sp>
      <p:sp>
        <p:nvSpPr>
          <p:cNvPr id="4" name="Blob 4"/>
          <p:cNvSpPr/>
          <p:nvPr/>
        </p:nvSpPr>
        <p:spPr>
          <a:xfrm>
            <a:off x="-1645920" y="3566160"/>
            <a:ext cx="5852160" cy="4206240"/>
          </a:xfrm>
          <a:prstGeom prst="ellipse">
            <a:avLst/>
          </a:prstGeom>
          <a:solidFill>
            <a:srgbClr val="E6E0EE">
              <a:alpha val="80000"/>
            </a:srgbClr>
          </a:solidFill>
          <a:ln>
            <a:noFill/>
          </a:ln>
          <a:effectLst>
            <a:softEdge rad="1280160"/>
          </a:effectLst>
        </p:spPr>
        <p:txBody>
          <a:bodyPr wrap="square" lIns="0" tIns="0" rIns="0" bIns="0" rtlCol="0" anchor="t">
            <a:noAutofit/>
          </a:bodyPr>
          <a:lstStyle/>
          <a:p>
            <a:endParaRPr lang="es-ES" dirty="0"/>
          </a:p>
        </p:txBody>
      </p:sp>
      <p:sp>
        <p:nvSpPr>
          <p:cNvPr id="5" name="Blob 5"/>
          <p:cNvSpPr/>
          <p:nvPr/>
        </p:nvSpPr>
        <p:spPr>
          <a:xfrm>
            <a:off x="4754880" y="4206240"/>
            <a:ext cx="4937760" cy="3291840"/>
          </a:xfrm>
          <a:prstGeom prst="ellipse">
            <a:avLst/>
          </a:prstGeom>
          <a:solidFill>
            <a:srgbClr val="ECE5DC">
              <a:alpha val="70000"/>
            </a:srgbClr>
          </a:solidFill>
          <a:ln>
            <a:noFill/>
          </a:ln>
          <a:effectLst>
            <a:softEdge rad="1280160"/>
          </a:effectLst>
        </p:spPr>
        <p:txBody>
          <a:bodyPr wrap="square" lIns="0" tIns="0" rIns="0" bIns="0" rtlCol="0" anchor="t">
            <a:noAutofit/>
          </a:bodyPr>
          <a:lstStyle/>
          <a:p>
            <a:endParaRPr lang="es-ES" dirty="0"/>
          </a:p>
        </p:txBody>
      </p:sp>
      <p:sp>
        <p:nvSpPr>
          <p:cNvPr id="6" name="Kicker 6"/>
          <p:cNvSpPr txBox="1"/>
          <p:nvPr/>
        </p:nvSpPr>
        <p:spPr>
          <a:xfrm>
            <a:off x="548640" y="347472"/>
            <a:ext cx="8686800" cy="292608"/>
          </a:xfrm>
          <a:prstGeom prst="rect">
            <a:avLst/>
          </a:prstGeom>
          <a:noFill/>
          <a:ln>
            <a:noFill/>
          </a:ln>
        </p:spPr>
        <p:txBody>
          <a:bodyPr wrap="square" lIns="0" tIns="0" rIns="0" bIns="0" rtlCol="0" anchor="t">
            <a:noAutofit/>
          </a:bodyPr>
          <a:lstStyle/>
          <a:p>
            <a:pPr algn="l">
              <a:buNone/>
            </a:pPr>
            <a:r>
              <a:rPr lang="es-ES" sz="1300" b="0" i="0" dirty="0">
                <a:solidFill>
                  <a:srgbClr val="4A525B"/>
                </a:solidFill>
                <a:latin typeface="Arial"/>
                <a:cs typeface="Arial"/>
              </a:rPr>
              <a:t>3 · Arquitectura desde cero</a:t>
            </a:r>
          </a:p>
        </p:txBody>
      </p:sp>
      <p:sp>
        <p:nvSpPr>
          <p:cNvPr id="7" name="Title 7"/>
          <p:cNvSpPr txBox="1"/>
          <p:nvPr/>
        </p:nvSpPr>
        <p:spPr>
          <a:xfrm>
            <a:off x="548640" y="621792"/>
            <a:ext cx="11064240" cy="914400"/>
          </a:xfrm>
          <a:prstGeom prst="rect">
            <a:avLst/>
          </a:prstGeom>
          <a:noFill/>
          <a:ln>
            <a:noFill/>
          </a:ln>
        </p:spPr>
        <p:txBody>
          <a:bodyPr wrap="square" lIns="0" tIns="0" rIns="0" bIns="0" rtlCol="0" anchor="t">
            <a:noAutofit/>
          </a:bodyPr>
          <a:lstStyle/>
          <a:p>
            <a:pPr algn="l">
              <a:lnSpc>
                <a:spcPct val="95000"/>
              </a:lnSpc>
              <a:buNone/>
            </a:pPr>
            <a:r>
              <a:rPr lang="es-ES" sz="2500" b="1" i="0" dirty="0">
                <a:solidFill>
                  <a:srgbClr val="15191D"/>
                </a:solidFill>
                <a:latin typeface="Arial"/>
                <a:cs typeface="Arial"/>
              </a:rPr>
              <a:t>Una CNN estrecha de 74.253 parámetros: con menos capacidad, la red memoriza menos</a:t>
            </a:r>
          </a:p>
        </p:txBody>
      </p:sp>
      <p:sp>
        <p:nvSpPr>
          <p:cNvPr id="8" name="Page 8"/>
          <p:cNvSpPr txBox="1"/>
          <p:nvPr/>
        </p:nvSpPr>
        <p:spPr>
          <a:xfrm>
            <a:off x="548640" y="6355080"/>
            <a:ext cx="1828800" cy="274320"/>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3 / 5</a:t>
            </a:r>
          </a:p>
        </p:txBody>
      </p:sp>
      <p:sp>
        <p:nvSpPr>
          <p:cNvPr id="9" name="Panel 9"/>
          <p:cNvSpPr/>
          <p:nvPr/>
        </p:nvSpPr>
        <p:spPr>
          <a:xfrm>
            <a:off x="548640" y="1783080"/>
            <a:ext cx="11091672" cy="2606040"/>
          </a:xfrm>
          <a:prstGeom prst="roundRect">
            <a:avLst>
              <a:gd name="adj" fmla="val 5614"/>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0" name="Block note 10"/>
          <p:cNvSpPr txBox="1"/>
          <p:nvPr/>
        </p:nvSpPr>
        <p:spPr>
          <a:xfrm>
            <a:off x="822960" y="1874520"/>
            <a:ext cx="10515600" cy="292608"/>
          </a:xfrm>
          <a:prstGeom prst="rect">
            <a:avLst/>
          </a:prstGeom>
          <a:noFill/>
          <a:ln>
            <a:noFill/>
          </a:ln>
        </p:spPr>
        <p:txBody>
          <a:bodyPr wrap="square" lIns="0" tIns="0" rIns="0" bIns="0" rtlCol="0" anchor="t">
            <a:noAutofit/>
          </a:bodyPr>
          <a:lstStyle/>
          <a:p>
            <a:pPr algn="l">
              <a:buNone/>
            </a:pPr>
            <a:r>
              <a:rPr lang="es-ES" sz="1100" b="1" i="0" dirty="0">
                <a:solidFill>
                  <a:srgbClr val="15191D"/>
                </a:solidFill>
                <a:latin typeface="Arial"/>
                <a:cs typeface="Arial"/>
              </a:rPr>
              <a:t>Bloque convolucional  </a:t>
            </a:r>
            <a:r>
              <a:rPr lang="es-ES" sz="1100" b="0" i="0" dirty="0">
                <a:solidFill>
                  <a:srgbClr val="4A525B"/>
                </a:solidFill>
                <a:latin typeface="Arial"/>
                <a:cs typeface="Arial"/>
              </a:rPr>
              <a:t>2 × (conv 3×3 + BatchNorm + ReLU) + max-pool 2×2 · canales de 4 a 64, cada bloque dobla los canales y reduce el tamaño a la mitad</a:t>
            </a:r>
          </a:p>
        </p:txBody>
      </p:sp>
      <p:pic>
        <p:nvPicPr>
          <p:cNvPr id="11" name="Arquitectura de la CNN 11" descr="Arquitectura de la CNN"/>
          <p:cNvPicPr>
            <a:picLocks noChangeAspect="1"/>
          </p:cNvPicPr>
          <p:nvPr/>
        </p:nvPicPr>
        <p:blipFill>
          <a:blip r:embed="rId3"/>
          <a:stretch>
            <a:fillRect/>
          </a:stretch>
        </p:blipFill>
        <p:spPr>
          <a:xfrm>
            <a:off x="777240" y="2267712"/>
            <a:ext cx="10607040" cy="1887904"/>
          </a:xfrm>
          <a:prstGeom prst="rect">
            <a:avLst/>
          </a:prstGeom>
        </p:spPr>
      </p:pic>
      <p:sp>
        <p:nvSpPr>
          <p:cNvPr id="12" name="Panel 12"/>
          <p:cNvSpPr/>
          <p:nvPr/>
        </p:nvSpPr>
        <p:spPr>
          <a:xfrm>
            <a:off x="548640" y="4572000"/>
            <a:ext cx="5120640" cy="1280160"/>
          </a:xfrm>
          <a:prstGeom prst="roundRect">
            <a:avLst>
              <a:gd name="adj" fmla="val 11428"/>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3" name="Why 13"/>
          <p:cNvSpPr txBox="1"/>
          <p:nvPr/>
        </p:nvSpPr>
        <p:spPr>
          <a:xfrm>
            <a:off x="822960" y="4663440"/>
            <a:ext cx="4663440" cy="1143000"/>
          </a:xfrm>
          <a:prstGeom prst="rect">
            <a:avLst/>
          </a:prstGeom>
          <a:noFill/>
          <a:ln>
            <a:noFill/>
          </a:ln>
        </p:spPr>
        <p:txBody>
          <a:bodyPr wrap="square" lIns="0" tIns="0" rIns="0" bIns="0" rtlCol="0" anchor="t">
            <a:noAutofit/>
          </a:bodyPr>
          <a:lstStyle/>
          <a:p>
            <a:pPr algn="l">
              <a:spcAft>
                <a:spcPts val="400"/>
              </a:spcAft>
              <a:buNone/>
            </a:pPr>
            <a:r>
              <a:rPr lang="es-ES" sz="1500" b="1" i="0" dirty="0">
                <a:solidFill>
                  <a:srgbClr val="15191D"/>
                </a:solidFill>
                <a:latin typeface="Arial"/>
                <a:cs typeface="Arial"/>
              </a:rPr>
              <a:t>Por qué así</a:t>
            </a:r>
          </a:p>
          <a:p>
            <a:pPr marL="228600" indent="-228600" algn="l">
              <a:spcAft>
                <a:spcPts val="200"/>
              </a:spcAft>
              <a:buClr>
                <a:srgbClr val="8B9197"/>
              </a:buClr>
              <a:buFont typeface="Arial"/>
              <a:buChar char="•"/>
            </a:pPr>
            <a:r>
              <a:rPr lang="es-ES" sz="1300" b="0" i="0" dirty="0">
                <a:solidFill>
                  <a:srgbClr val="4A525B"/>
                </a:solidFill>
                <a:latin typeface="Arial"/>
                <a:cs typeface="Arial"/>
              </a:rPr>
              <a:t>Recorte central: el tumor está centrado y el borde aporta vasos y diferencias de cohorte</a:t>
            </a:r>
          </a:p>
          <a:p>
            <a:pPr marL="228600" indent="-228600" algn="l">
              <a:buClr>
                <a:srgbClr val="8B9197"/>
              </a:buClr>
              <a:buFont typeface="Arial"/>
              <a:buChar char="•"/>
            </a:pPr>
            <a:r>
              <a:rPr lang="es-ES" sz="1300" b="0" i="0" dirty="0">
                <a:solidFill>
                  <a:srgbClr val="4A525B"/>
                </a:solidFill>
                <a:latin typeface="Arial"/>
                <a:cs typeface="Arial"/>
              </a:rPr>
              <a:t>Campo receptivo final de 156 px: cada salida ve todo el recorte</a:t>
            </a:r>
          </a:p>
        </p:txBody>
      </p:sp>
      <p:sp>
        <p:nvSpPr>
          <p:cNvPr id="14" name="Panel 14"/>
          <p:cNvSpPr/>
          <p:nvPr/>
        </p:nvSpPr>
        <p:spPr>
          <a:xfrm>
            <a:off x="5897880" y="4572000"/>
            <a:ext cx="5742432" cy="1280160"/>
          </a:xfrm>
          <a:prstGeom prst="roundRect">
            <a:avLst>
              <a:gd name="adj" fmla="val 11428"/>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5" name="H 15"/>
          <p:cNvSpPr txBox="1"/>
          <p:nvPr/>
        </p:nvSpPr>
        <p:spPr>
          <a:xfrm>
            <a:off x="6172200" y="4636008"/>
            <a:ext cx="5193792" cy="292608"/>
          </a:xfrm>
          <a:prstGeom prst="rect">
            <a:avLst/>
          </a:prstGeom>
          <a:noFill/>
          <a:ln>
            <a:noFill/>
          </a:ln>
        </p:spPr>
        <p:txBody>
          <a:bodyPr wrap="square" lIns="0" tIns="0" rIns="0" bIns="0" rtlCol="0" anchor="t">
            <a:noAutofit/>
          </a:bodyPr>
          <a:lstStyle/>
          <a:p>
            <a:pPr algn="l">
              <a:buNone/>
            </a:pPr>
            <a:r>
              <a:rPr lang="es-ES" sz="1300" b="1" i="0" dirty="0">
                <a:solidFill>
                  <a:srgbClr val="15191D"/>
                </a:solidFill>
                <a:latin typeface="Arial"/>
                <a:cs typeface="Arial"/>
              </a:rPr>
              <a:t>Capacidad frente a generalización · validación, 5 folds</a:t>
            </a:r>
          </a:p>
        </p:txBody>
      </p:sp>
      <p:sp>
        <p:nvSpPr>
          <p:cNvPr id="16" name="Col 16"/>
          <p:cNvSpPr txBox="1"/>
          <p:nvPr/>
        </p:nvSpPr>
        <p:spPr>
          <a:xfrm>
            <a:off x="6172200" y="4919472"/>
            <a:ext cx="1417320" cy="256032"/>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Parámetros</a:t>
            </a:r>
          </a:p>
        </p:txBody>
      </p:sp>
      <p:sp>
        <p:nvSpPr>
          <p:cNvPr id="17" name="Col 17"/>
          <p:cNvSpPr txBox="1"/>
          <p:nvPr/>
        </p:nvSpPr>
        <p:spPr>
          <a:xfrm>
            <a:off x="7589520" y="4919472"/>
            <a:ext cx="1463040" cy="256032"/>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AUC paciente</a:t>
            </a:r>
          </a:p>
        </p:txBody>
      </p:sp>
      <p:sp>
        <p:nvSpPr>
          <p:cNvPr id="18" name="Col 18"/>
          <p:cNvSpPr txBox="1"/>
          <p:nvPr/>
        </p:nvSpPr>
        <p:spPr>
          <a:xfrm>
            <a:off x="9052560" y="4919472"/>
            <a:ext cx="2651760" cy="256032"/>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Brecha entren. − valid. (40 épocas)</a:t>
            </a:r>
          </a:p>
        </p:txBody>
      </p:sp>
      <p:sp>
        <p:nvSpPr>
          <p:cNvPr id="19" name="Cell 19"/>
          <p:cNvSpPr txBox="1"/>
          <p:nvPr/>
        </p:nvSpPr>
        <p:spPr>
          <a:xfrm>
            <a:off x="6172200" y="5138928"/>
            <a:ext cx="1463040" cy="22860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18.731</a:t>
            </a:r>
          </a:p>
        </p:txBody>
      </p:sp>
      <p:sp>
        <p:nvSpPr>
          <p:cNvPr id="20" name="Cell 20"/>
          <p:cNvSpPr txBox="1"/>
          <p:nvPr/>
        </p:nvSpPr>
        <p:spPr>
          <a:xfrm>
            <a:off x="7589520" y="5138928"/>
            <a:ext cx="1463040" cy="22860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0,534</a:t>
            </a:r>
          </a:p>
        </p:txBody>
      </p:sp>
      <p:sp>
        <p:nvSpPr>
          <p:cNvPr id="21" name="Cell 21"/>
          <p:cNvSpPr txBox="1"/>
          <p:nvPr/>
        </p:nvSpPr>
        <p:spPr>
          <a:xfrm>
            <a:off x="9052560" y="5138928"/>
            <a:ext cx="1463040" cy="22860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0,08</a:t>
            </a:r>
          </a:p>
        </p:txBody>
      </p:sp>
      <p:sp>
        <p:nvSpPr>
          <p:cNvPr id="22" name="Highlight 22"/>
          <p:cNvSpPr/>
          <p:nvPr/>
        </p:nvSpPr>
        <p:spPr>
          <a:xfrm>
            <a:off x="6080760" y="5349240"/>
            <a:ext cx="5376672" cy="237744"/>
          </a:xfrm>
          <a:prstGeom prst="roundRect">
            <a:avLst>
              <a:gd name="adj" fmla="val 23076"/>
            </a:avLst>
          </a:prstGeom>
          <a:solidFill>
            <a:srgbClr val="15191D">
              <a:alpha val="8000"/>
            </a:srgbClr>
          </a:solidFill>
          <a:ln>
            <a:noFill/>
          </a:ln>
        </p:spPr>
        <p:txBody>
          <a:bodyPr wrap="square" lIns="0" tIns="0" rIns="0" bIns="0" rtlCol="0" anchor="t">
            <a:noAutofit/>
          </a:bodyPr>
          <a:lstStyle/>
          <a:p>
            <a:endParaRPr lang="es-ES" dirty="0"/>
          </a:p>
        </p:txBody>
      </p:sp>
      <p:sp>
        <p:nvSpPr>
          <p:cNvPr id="23" name="Cell 23"/>
          <p:cNvSpPr txBox="1"/>
          <p:nvPr/>
        </p:nvSpPr>
        <p:spPr>
          <a:xfrm>
            <a:off x="6172200" y="5358384"/>
            <a:ext cx="1463040" cy="22860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74.253</a:t>
            </a:r>
          </a:p>
        </p:txBody>
      </p:sp>
      <p:sp>
        <p:nvSpPr>
          <p:cNvPr id="24" name="Cell 24"/>
          <p:cNvSpPr txBox="1"/>
          <p:nvPr/>
        </p:nvSpPr>
        <p:spPr>
          <a:xfrm>
            <a:off x="7589520" y="5358384"/>
            <a:ext cx="1463040" cy="22860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0,583</a:t>
            </a:r>
          </a:p>
        </p:txBody>
      </p:sp>
      <p:sp>
        <p:nvSpPr>
          <p:cNvPr id="25" name="Cell 25"/>
          <p:cNvSpPr txBox="1"/>
          <p:nvPr/>
        </p:nvSpPr>
        <p:spPr>
          <a:xfrm>
            <a:off x="9052560" y="5358384"/>
            <a:ext cx="1463040" cy="22860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0,19</a:t>
            </a:r>
          </a:p>
        </p:txBody>
      </p:sp>
      <p:sp>
        <p:nvSpPr>
          <p:cNvPr id="26" name="Cell 26"/>
          <p:cNvSpPr txBox="1"/>
          <p:nvPr/>
        </p:nvSpPr>
        <p:spPr>
          <a:xfrm>
            <a:off x="6172200" y="5577840"/>
            <a:ext cx="1463040" cy="22860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295.673</a:t>
            </a:r>
          </a:p>
        </p:txBody>
      </p:sp>
      <p:sp>
        <p:nvSpPr>
          <p:cNvPr id="27" name="Cell 27"/>
          <p:cNvSpPr txBox="1"/>
          <p:nvPr/>
        </p:nvSpPr>
        <p:spPr>
          <a:xfrm>
            <a:off x="7589520" y="5577840"/>
            <a:ext cx="1463040" cy="22860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0,550</a:t>
            </a:r>
          </a:p>
        </p:txBody>
      </p:sp>
      <p:sp>
        <p:nvSpPr>
          <p:cNvPr id="28" name="Cell 28"/>
          <p:cNvSpPr txBox="1"/>
          <p:nvPr/>
        </p:nvSpPr>
        <p:spPr>
          <a:xfrm>
            <a:off x="9052560" y="5577840"/>
            <a:ext cx="1463040" cy="22860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0,37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EFF1"/>
        </a:solidFill>
        <a:effectLst/>
      </p:bgPr>
    </p:bg>
    <p:spTree>
      <p:nvGrpSpPr>
        <p:cNvPr id="1" name=""/>
        <p:cNvGrpSpPr/>
        <p:nvPr/>
      </p:nvGrpSpPr>
      <p:grpSpPr>
        <a:xfrm>
          <a:off x="0" y="0"/>
          <a:ext cx="0" cy="0"/>
          <a:chOff x="0" y="0"/>
          <a:chExt cx="0" cy="0"/>
        </a:xfrm>
      </p:grpSpPr>
      <p:sp>
        <p:nvSpPr>
          <p:cNvPr id="3" name="Blob 3"/>
          <p:cNvSpPr/>
          <p:nvPr/>
        </p:nvSpPr>
        <p:spPr>
          <a:xfrm>
            <a:off x="7854696" y="-1417320"/>
            <a:ext cx="5669280" cy="4572000"/>
          </a:xfrm>
          <a:prstGeom prst="ellipse">
            <a:avLst/>
          </a:prstGeom>
          <a:solidFill>
            <a:srgbClr val="D6E4E6">
              <a:alpha val="80000"/>
            </a:srgbClr>
          </a:solidFill>
          <a:ln>
            <a:noFill/>
          </a:ln>
          <a:effectLst>
            <a:softEdge rad="1280160"/>
          </a:effectLst>
        </p:spPr>
        <p:txBody>
          <a:bodyPr wrap="square" lIns="0" tIns="0" rIns="0" bIns="0" rtlCol="0" anchor="t">
            <a:noAutofit/>
          </a:bodyPr>
          <a:lstStyle/>
          <a:p>
            <a:endParaRPr lang="es-ES" dirty="0"/>
          </a:p>
        </p:txBody>
      </p:sp>
      <p:sp>
        <p:nvSpPr>
          <p:cNvPr id="4" name="Blob 4"/>
          <p:cNvSpPr/>
          <p:nvPr/>
        </p:nvSpPr>
        <p:spPr>
          <a:xfrm>
            <a:off x="-1645920" y="3566160"/>
            <a:ext cx="5852160" cy="4206240"/>
          </a:xfrm>
          <a:prstGeom prst="ellipse">
            <a:avLst/>
          </a:prstGeom>
          <a:solidFill>
            <a:srgbClr val="E6E0EE">
              <a:alpha val="80000"/>
            </a:srgbClr>
          </a:solidFill>
          <a:ln>
            <a:noFill/>
          </a:ln>
          <a:effectLst>
            <a:softEdge rad="1280160"/>
          </a:effectLst>
        </p:spPr>
        <p:txBody>
          <a:bodyPr wrap="square" lIns="0" tIns="0" rIns="0" bIns="0" rtlCol="0" anchor="t">
            <a:noAutofit/>
          </a:bodyPr>
          <a:lstStyle/>
          <a:p>
            <a:endParaRPr lang="es-ES" dirty="0"/>
          </a:p>
        </p:txBody>
      </p:sp>
      <p:sp>
        <p:nvSpPr>
          <p:cNvPr id="5" name="Blob 5"/>
          <p:cNvSpPr/>
          <p:nvPr/>
        </p:nvSpPr>
        <p:spPr>
          <a:xfrm>
            <a:off x="4754880" y="4206240"/>
            <a:ext cx="4937760" cy="3291840"/>
          </a:xfrm>
          <a:prstGeom prst="ellipse">
            <a:avLst/>
          </a:prstGeom>
          <a:solidFill>
            <a:srgbClr val="ECE5DC">
              <a:alpha val="70000"/>
            </a:srgbClr>
          </a:solidFill>
          <a:ln>
            <a:noFill/>
          </a:ln>
          <a:effectLst>
            <a:softEdge rad="1280160"/>
          </a:effectLst>
        </p:spPr>
        <p:txBody>
          <a:bodyPr wrap="square" lIns="0" tIns="0" rIns="0" bIns="0" rtlCol="0" anchor="t">
            <a:noAutofit/>
          </a:bodyPr>
          <a:lstStyle/>
          <a:p>
            <a:endParaRPr lang="es-ES" dirty="0"/>
          </a:p>
        </p:txBody>
      </p:sp>
      <p:sp>
        <p:nvSpPr>
          <p:cNvPr id="6" name="Kicker 6"/>
          <p:cNvSpPr txBox="1"/>
          <p:nvPr/>
        </p:nvSpPr>
        <p:spPr>
          <a:xfrm>
            <a:off x="548640" y="347472"/>
            <a:ext cx="8686800" cy="292608"/>
          </a:xfrm>
          <a:prstGeom prst="rect">
            <a:avLst/>
          </a:prstGeom>
          <a:noFill/>
          <a:ln>
            <a:noFill/>
          </a:ln>
        </p:spPr>
        <p:txBody>
          <a:bodyPr wrap="square" lIns="0" tIns="0" rIns="0" bIns="0" rtlCol="0" anchor="t">
            <a:noAutofit/>
          </a:bodyPr>
          <a:lstStyle/>
          <a:p>
            <a:pPr algn="l">
              <a:buNone/>
            </a:pPr>
            <a:r>
              <a:rPr lang="es-ES" sz="1300" b="0" i="0" dirty="0">
                <a:solidFill>
                  <a:srgbClr val="4A525B"/>
                </a:solidFill>
                <a:latin typeface="Arial"/>
                <a:cs typeface="Arial"/>
              </a:rPr>
              <a:t>4 · Entrenamiento, resultados y coste de los errores</a:t>
            </a:r>
          </a:p>
        </p:txBody>
      </p:sp>
      <p:sp>
        <p:nvSpPr>
          <p:cNvPr id="7" name="Title 7"/>
          <p:cNvSpPr txBox="1"/>
          <p:nvPr/>
        </p:nvSpPr>
        <p:spPr>
          <a:xfrm>
            <a:off x="548640" y="621792"/>
            <a:ext cx="11064240" cy="914400"/>
          </a:xfrm>
          <a:prstGeom prst="rect">
            <a:avLst/>
          </a:prstGeom>
          <a:noFill/>
          <a:ln>
            <a:noFill/>
          </a:ln>
        </p:spPr>
        <p:txBody>
          <a:bodyPr wrap="square" lIns="0" tIns="0" rIns="0" bIns="0" rtlCol="0" anchor="t">
            <a:noAutofit/>
          </a:bodyPr>
          <a:lstStyle/>
          <a:p>
            <a:pPr algn="l">
              <a:lnSpc>
                <a:spcPct val="95000"/>
              </a:lnSpc>
              <a:buNone/>
            </a:pPr>
            <a:r>
              <a:rPr lang="es-ES" sz="2500" b="1" i="0" dirty="0">
                <a:solidFill>
                  <a:srgbClr val="15191D"/>
                </a:solidFill>
                <a:latin typeface="Arial"/>
                <a:cs typeface="Arial"/>
              </a:rPr>
              <a:t>La imagen aporta una señal débil: no supera con claridad a la cohorte y, con especificidad del 90 %, detecta 1 de cada 10 pCR</a:t>
            </a:r>
          </a:p>
        </p:txBody>
      </p:sp>
      <p:sp>
        <p:nvSpPr>
          <p:cNvPr id="8" name="Page 8"/>
          <p:cNvSpPr txBox="1"/>
          <p:nvPr/>
        </p:nvSpPr>
        <p:spPr>
          <a:xfrm>
            <a:off x="548640" y="6355080"/>
            <a:ext cx="1828800" cy="274320"/>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4 / 5</a:t>
            </a:r>
          </a:p>
        </p:txBody>
      </p:sp>
      <p:sp>
        <p:nvSpPr>
          <p:cNvPr id="9" name="Training panel 9"/>
          <p:cNvSpPr/>
          <p:nvPr/>
        </p:nvSpPr>
        <p:spPr>
          <a:xfrm>
            <a:off x="548640" y="1645920"/>
            <a:ext cx="6903720" cy="1600200"/>
          </a:xfrm>
          <a:prstGeom prst="roundRect">
            <a:avLst>
              <a:gd name="adj" fmla="val 9142"/>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0" name="H 10"/>
          <p:cNvSpPr txBox="1"/>
          <p:nvPr/>
        </p:nvSpPr>
        <p:spPr>
          <a:xfrm>
            <a:off x="777240" y="1719072"/>
            <a:ext cx="6446520" cy="274320"/>
          </a:xfrm>
          <a:prstGeom prst="rect">
            <a:avLst/>
          </a:prstGeom>
          <a:noFill/>
          <a:ln>
            <a:noFill/>
          </a:ln>
        </p:spPr>
        <p:txBody>
          <a:bodyPr wrap="square" lIns="0" tIns="0" rIns="0" bIns="0" rtlCol="0" anchor="t">
            <a:noAutofit/>
          </a:bodyPr>
          <a:lstStyle/>
          <a:p>
            <a:pPr algn="l">
              <a:buNone/>
            </a:pPr>
            <a:r>
              <a:rPr lang="es-ES" sz="1300" b="1" i="0" dirty="0">
                <a:solidFill>
                  <a:srgbClr val="15191D"/>
                </a:solidFill>
                <a:latin typeface="Arial"/>
                <a:cs typeface="Arial"/>
              </a:rPr>
              <a:t>Entrenamiento por época</a:t>
            </a:r>
            <a:r>
              <a:rPr lang="es-ES" sz="1100" b="0" i="0" dirty="0">
                <a:solidFill>
                  <a:srgbClr val="8B9197"/>
                </a:solidFill>
                <a:latin typeface="Arial"/>
                <a:cs typeface="Arial"/>
              </a:rPr>
              <a:t>  validación interna · media de 5 folds</a:t>
            </a:r>
          </a:p>
        </p:txBody>
      </p:sp>
      <p:sp>
        <p:nvSpPr>
          <p:cNvPr id="11" name="Mini title 11"/>
          <p:cNvSpPr txBox="1"/>
          <p:nvPr/>
        </p:nvSpPr>
        <p:spPr>
          <a:xfrm>
            <a:off x="1188720" y="1975104"/>
            <a:ext cx="2468880" cy="219456"/>
          </a:xfrm>
          <a:prstGeom prst="rect">
            <a:avLst/>
          </a:prstGeom>
          <a:noFill/>
          <a:ln>
            <a:noFill/>
          </a:ln>
        </p:spPr>
        <p:txBody>
          <a:bodyPr wrap="square" lIns="0" tIns="0" rIns="0" bIns="0" rtlCol="0" anchor="t">
            <a:noAutofit/>
          </a:bodyPr>
          <a:lstStyle/>
          <a:p>
            <a:pPr algn="l">
              <a:buNone/>
            </a:pPr>
            <a:r>
              <a:rPr lang="es-ES" sz="1000" b="0" i="0" dirty="0">
                <a:solidFill>
                  <a:srgbClr val="4A525B"/>
                </a:solidFill>
                <a:latin typeface="Arial"/>
                <a:cs typeface="Arial"/>
              </a:rPr>
              <a:t>Pérdida</a:t>
            </a:r>
          </a:p>
        </p:txBody>
      </p:sp>
      <p:cxnSp>
        <p:nvCxnSpPr>
          <p:cNvPr id="12" name="Line 12"/>
          <p:cNvCxnSpPr/>
          <p:nvPr/>
        </p:nvCxnSpPr>
        <p:spPr>
          <a:xfrm>
            <a:off x="1234440" y="2871216"/>
            <a:ext cx="2468880" cy="0"/>
          </a:xfrm>
          <a:prstGeom prst="line">
            <a:avLst/>
          </a:prstGeom>
          <a:ln w="6350">
            <a:solidFill>
              <a:srgbClr val="15191D">
                <a:alpha val="12000"/>
              </a:srgbClr>
            </a:solidFill>
          </a:ln>
        </p:spPr>
      </p:cxnSp>
      <p:sp>
        <p:nvSpPr>
          <p:cNvPr id="13" name="Grid label 13"/>
          <p:cNvSpPr txBox="1"/>
          <p:nvPr/>
        </p:nvSpPr>
        <p:spPr>
          <a:xfrm>
            <a:off x="777240" y="2779776"/>
            <a:ext cx="411480" cy="182880"/>
          </a:xfrm>
          <a:prstGeom prst="rect">
            <a:avLst/>
          </a:prstGeom>
          <a:noFill/>
          <a:ln>
            <a:noFill/>
          </a:ln>
        </p:spPr>
        <p:txBody>
          <a:bodyPr wrap="square" lIns="0" tIns="0" rIns="0" bIns="0" rtlCol="0" anchor="ctr">
            <a:noAutofit/>
          </a:bodyPr>
          <a:lstStyle/>
          <a:p>
            <a:pPr algn="r">
              <a:buNone/>
            </a:pPr>
            <a:r>
              <a:rPr lang="es-ES" sz="800" b="0" i="0" dirty="0">
                <a:solidFill>
                  <a:srgbClr val="8B9197"/>
                </a:solidFill>
                <a:latin typeface="Arial"/>
                <a:cs typeface="Arial"/>
              </a:rPr>
              <a:t>0,90</a:t>
            </a:r>
          </a:p>
        </p:txBody>
      </p:sp>
      <p:cxnSp>
        <p:nvCxnSpPr>
          <p:cNvPr id="14" name="Line 14"/>
          <p:cNvCxnSpPr/>
          <p:nvPr/>
        </p:nvCxnSpPr>
        <p:spPr>
          <a:xfrm>
            <a:off x="1234440" y="2505456"/>
            <a:ext cx="2468880" cy="0"/>
          </a:xfrm>
          <a:prstGeom prst="line">
            <a:avLst/>
          </a:prstGeom>
          <a:ln w="6350">
            <a:solidFill>
              <a:srgbClr val="15191D">
                <a:alpha val="12000"/>
              </a:srgbClr>
            </a:solidFill>
          </a:ln>
        </p:spPr>
      </p:cxnSp>
      <p:sp>
        <p:nvSpPr>
          <p:cNvPr id="15" name="Grid label 15"/>
          <p:cNvSpPr txBox="1"/>
          <p:nvPr/>
        </p:nvSpPr>
        <p:spPr>
          <a:xfrm>
            <a:off x="777240" y="2414016"/>
            <a:ext cx="411480" cy="182880"/>
          </a:xfrm>
          <a:prstGeom prst="rect">
            <a:avLst/>
          </a:prstGeom>
          <a:noFill/>
          <a:ln>
            <a:noFill/>
          </a:ln>
        </p:spPr>
        <p:txBody>
          <a:bodyPr wrap="square" lIns="0" tIns="0" rIns="0" bIns="0" rtlCol="0" anchor="ctr">
            <a:noAutofit/>
          </a:bodyPr>
          <a:lstStyle/>
          <a:p>
            <a:pPr algn="r">
              <a:buNone/>
            </a:pPr>
            <a:r>
              <a:rPr lang="es-ES" sz="800" b="0" i="0" dirty="0">
                <a:solidFill>
                  <a:srgbClr val="8B9197"/>
                </a:solidFill>
                <a:latin typeface="Arial"/>
                <a:cs typeface="Arial"/>
              </a:rPr>
              <a:t>1,00</a:t>
            </a:r>
          </a:p>
        </p:txBody>
      </p:sp>
      <p:sp>
        <p:nvSpPr>
          <p:cNvPr id="16" name="Epoch label 16"/>
          <p:cNvSpPr txBox="1"/>
          <p:nvPr/>
        </p:nvSpPr>
        <p:spPr>
          <a:xfrm>
            <a:off x="960120" y="2971800"/>
            <a:ext cx="548640" cy="182880"/>
          </a:xfrm>
          <a:prstGeom prst="rect">
            <a:avLst/>
          </a:prstGeom>
          <a:noFill/>
          <a:ln>
            <a:noFill/>
          </a:ln>
        </p:spPr>
        <p:txBody>
          <a:bodyPr wrap="square" lIns="0" tIns="0" rIns="0" bIns="0" rtlCol="0" anchor="t">
            <a:noAutofit/>
          </a:bodyPr>
          <a:lstStyle/>
          <a:p>
            <a:pPr algn="ctr">
              <a:buNone/>
            </a:pPr>
            <a:r>
              <a:rPr lang="es-ES" sz="800" b="0" i="0" dirty="0">
                <a:solidFill>
                  <a:srgbClr val="8B9197"/>
                </a:solidFill>
                <a:latin typeface="Arial"/>
                <a:cs typeface="Arial"/>
              </a:rPr>
              <a:t>1</a:t>
            </a:r>
          </a:p>
        </p:txBody>
      </p:sp>
      <p:sp>
        <p:nvSpPr>
          <p:cNvPr id="17" name="Epoch label 17"/>
          <p:cNvSpPr txBox="1"/>
          <p:nvPr/>
        </p:nvSpPr>
        <p:spPr>
          <a:xfrm>
            <a:off x="3429000" y="2971800"/>
            <a:ext cx="548640" cy="182880"/>
          </a:xfrm>
          <a:prstGeom prst="rect">
            <a:avLst/>
          </a:prstGeom>
          <a:noFill/>
          <a:ln>
            <a:noFill/>
          </a:ln>
        </p:spPr>
        <p:txBody>
          <a:bodyPr wrap="square" lIns="0" tIns="0" rIns="0" bIns="0" rtlCol="0" anchor="t">
            <a:noAutofit/>
          </a:bodyPr>
          <a:lstStyle/>
          <a:p>
            <a:pPr algn="ctr">
              <a:buNone/>
            </a:pPr>
            <a:r>
              <a:rPr lang="es-ES" sz="800" b="0" i="0" dirty="0">
                <a:solidFill>
                  <a:srgbClr val="8B9197"/>
                </a:solidFill>
                <a:latin typeface="Arial"/>
                <a:cs typeface="Arial"/>
              </a:rPr>
              <a:t>40</a:t>
            </a:r>
          </a:p>
        </p:txBody>
      </p:sp>
      <p:sp>
        <p:nvSpPr>
          <p:cNvPr id="18" name="Axis 18"/>
          <p:cNvSpPr txBox="1"/>
          <p:nvPr/>
        </p:nvSpPr>
        <p:spPr>
          <a:xfrm>
            <a:off x="2011680" y="2971800"/>
            <a:ext cx="914400" cy="182880"/>
          </a:xfrm>
          <a:prstGeom prst="rect">
            <a:avLst/>
          </a:prstGeom>
          <a:noFill/>
          <a:ln>
            <a:noFill/>
          </a:ln>
        </p:spPr>
        <p:txBody>
          <a:bodyPr wrap="square" lIns="0" tIns="0" rIns="0" bIns="0" rtlCol="0" anchor="t">
            <a:noAutofit/>
          </a:bodyPr>
          <a:lstStyle/>
          <a:p>
            <a:pPr algn="ctr">
              <a:buNone/>
            </a:pPr>
            <a:r>
              <a:rPr lang="es-ES" sz="800" b="0" i="0" dirty="0">
                <a:solidFill>
                  <a:srgbClr val="8B9197"/>
                </a:solidFill>
                <a:latin typeface="Arial"/>
                <a:cs typeface="Arial"/>
              </a:rPr>
              <a:t>época</a:t>
            </a:r>
          </a:p>
        </p:txBody>
      </p:sp>
      <p:sp>
        <p:nvSpPr>
          <p:cNvPr id="19" name="Validation loss 19"/>
          <p:cNvSpPr/>
          <p:nvPr/>
        </p:nvSpPr>
        <p:spPr>
          <a:xfrm>
            <a:off x="1234440" y="2314968"/>
            <a:ext cx="2468880" cy="276002"/>
          </a:xfrm>
          <a:custGeom>
            <a:avLst/>
            <a:gdLst/>
            <a:ahLst/>
            <a:cxnLst/>
            <a:rect l="0" t="0" r="r" b="b"/>
            <a:pathLst>
              <a:path w="2468880" h="276002" fill="none">
                <a:moveTo>
                  <a:pt x="0" y="233794"/>
                </a:moveTo>
                <a:lnTo>
                  <a:pt x="63305" y="244035"/>
                </a:lnTo>
                <a:lnTo>
                  <a:pt x="126609" y="259178"/>
                </a:lnTo>
                <a:lnTo>
                  <a:pt x="189914" y="276002"/>
                </a:lnTo>
                <a:lnTo>
                  <a:pt x="253218" y="265469"/>
                </a:lnTo>
                <a:lnTo>
                  <a:pt x="316523" y="265834"/>
                </a:lnTo>
                <a:lnTo>
                  <a:pt x="379828" y="263932"/>
                </a:lnTo>
                <a:lnTo>
                  <a:pt x="443132" y="256617"/>
                </a:lnTo>
                <a:lnTo>
                  <a:pt x="506437" y="252228"/>
                </a:lnTo>
                <a:lnTo>
                  <a:pt x="569742" y="248497"/>
                </a:lnTo>
                <a:lnTo>
                  <a:pt x="633046" y="240012"/>
                </a:lnTo>
                <a:lnTo>
                  <a:pt x="696351" y="229332"/>
                </a:lnTo>
                <a:lnTo>
                  <a:pt x="759655" y="227795"/>
                </a:lnTo>
                <a:lnTo>
                  <a:pt x="822960" y="220407"/>
                </a:lnTo>
                <a:lnTo>
                  <a:pt x="886265" y="206801"/>
                </a:lnTo>
                <a:lnTo>
                  <a:pt x="949569" y="195170"/>
                </a:lnTo>
                <a:lnTo>
                  <a:pt x="1012874" y="178198"/>
                </a:lnTo>
                <a:lnTo>
                  <a:pt x="1076178" y="173297"/>
                </a:lnTo>
                <a:lnTo>
                  <a:pt x="1139483" y="160057"/>
                </a:lnTo>
                <a:lnTo>
                  <a:pt x="1202788" y="147401"/>
                </a:lnTo>
                <a:lnTo>
                  <a:pt x="1266092" y="135843"/>
                </a:lnTo>
                <a:lnTo>
                  <a:pt x="1329397" y="120774"/>
                </a:lnTo>
                <a:lnTo>
                  <a:pt x="1392702" y="105924"/>
                </a:lnTo>
                <a:lnTo>
                  <a:pt x="1456006" y="92903"/>
                </a:lnTo>
                <a:lnTo>
                  <a:pt x="1519311" y="81345"/>
                </a:lnTo>
                <a:lnTo>
                  <a:pt x="1582615" y="70957"/>
                </a:lnTo>
                <a:lnTo>
                  <a:pt x="1645920" y="59399"/>
                </a:lnTo>
                <a:lnTo>
                  <a:pt x="1709225" y="49670"/>
                </a:lnTo>
                <a:lnTo>
                  <a:pt x="1772529" y="39502"/>
                </a:lnTo>
                <a:lnTo>
                  <a:pt x="1835834" y="33577"/>
                </a:lnTo>
                <a:lnTo>
                  <a:pt x="1899138" y="26627"/>
                </a:lnTo>
                <a:lnTo>
                  <a:pt x="1962443" y="21068"/>
                </a:lnTo>
                <a:lnTo>
                  <a:pt x="2025748" y="15435"/>
                </a:lnTo>
                <a:lnTo>
                  <a:pt x="2089052" y="10607"/>
                </a:lnTo>
                <a:lnTo>
                  <a:pt x="2152357" y="8925"/>
                </a:lnTo>
                <a:lnTo>
                  <a:pt x="2215662" y="5633"/>
                </a:lnTo>
                <a:lnTo>
                  <a:pt x="2278966" y="3146"/>
                </a:lnTo>
                <a:lnTo>
                  <a:pt x="2342271" y="1975"/>
                </a:lnTo>
                <a:lnTo>
                  <a:pt x="2405575" y="878"/>
                </a:lnTo>
                <a:lnTo>
                  <a:pt x="2468880" y="0"/>
                </a:lnTo>
              </a:path>
            </a:pathLst>
          </a:custGeom>
          <a:noFill/>
          <a:ln w="22225" cap="rnd">
            <a:solidFill>
              <a:srgbClr val="8B9197"/>
            </a:solidFill>
            <a:prstDash val="dash"/>
            <a:round/>
          </a:ln>
        </p:spPr>
        <p:txBody>
          <a:bodyPr/>
          <a:lstStyle/>
          <a:p>
            <a:endParaRPr lang="es-ES" dirty="0"/>
          </a:p>
        </p:txBody>
      </p:sp>
      <p:sp>
        <p:nvSpPr>
          <p:cNvPr id="20" name="Training loss 20"/>
          <p:cNvSpPr/>
          <p:nvPr/>
        </p:nvSpPr>
        <p:spPr>
          <a:xfrm>
            <a:off x="1234440" y="2247595"/>
            <a:ext cx="2468880" cy="604089"/>
          </a:xfrm>
          <a:custGeom>
            <a:avLst/>
            <a:gdLst/>
            <a:ahLst/>
            <a:cxnLst/>
            <a:rect l="0" t="0" r="r" b="b"/>
            <a:pathLst>
              <a:path w="2468880" h="604089" fill="none">
                <a:moveTo>
                  <a:pt x="0" y="0"/>
                </a:moveTo>
                <a:lnTo>
                  <a:pt x="63305" y="114629"/>
                </a:lnTo>
                <a:lnTo>
                  <a:pt x="126609" y="185952"/>
                </a:lnTo>
                <a:lnTo>
                  <a:pt x="189914" y="225162"/>
                </a:lnTo>
                <a:lnTo>
                  <a:pt x="253218" y="262981"/>
                </a:lnTo>
                <a:lnTo>
                  <a:pt x="316523" y="289024"/>
                </a:lnTo>
                <a:lnTo>
                  <a:pt x="379828" y="324795"/>
                </a:lnTo>
                <a:lnTo>
                  <a:pt x="443132" y="326697"/>
                </a:lnTo>
                <a:lnTo>
                  <a:pt x="506437" y="347618"/>
                </a:lnTo>
                <a:lnTo>
                  <a:pt x="569742" y="374758"/>
                </a:lnTo>
                <a:lnTo>
                  <a:pt x="633046" y="394143"/>
                </a:lnTo>
                <a:lnTo>
                  <a:pt x="696351" y="417332"/>
                </a:lnTo>
                <a:lnTo>
                  <a:pt x="759655" y="429402"/>
                </a:lnTo>
                <a:lnTo>
                  <a:pt x="822960" y="434889"/>
                </a:lnTo>
                <a:lnTo>
                  <a:pt x="886265" y="447471"/>
                </a:lnTo>
                <a:lnTo>
                  <a:pt x="949569" y="474318"/>
                </a:lnTo>
                <a:lnTo>
                  <a:pt x="1012874" y="462686"/>
                </a:lnTo>
                <a:lnTo>
                  <a:pt x="1076178" y="486461"/>
                </a:lnTo>
                <a:lnTo>
                  <a:pt x="1139483" y="494508"/>
                </a:lnTo>
                <a:lnTo>
                  <a:pt x="1202788" y="514112"/>
                </a:lnTo>
                <a:lnTo>
                  <a:pt x="1266092" y="517111"/>
                </a:lnTo>
                <a:lnTo>
                  <a:pt x="1329397" y="538984"/>
                </a:lnTo>
                <a:lnTo>
                  <a:pt x="1392702" y="543080"/>
                </a:lnTo>
                <a:lnTo>
                  <a:pt x="1456006" y="540959"/>
                </a:lnTo>
                <a:lnTo>
                  <a:pt x="1519311" y="546665"/>
                </a:lnTo>
                <a:lnTo>
                  <a:pt x="1582615" y="562612"/>
                </a:lnTo>
                <a:lnTo>
                  <a:pt x="1645920" y="574755"/>
                </a:lnTo>
                <a:lnTo>
                  <a:pt x="1709225" y="585143"/>
                </a:lnTo>
                <a:lnTo>
                  <a:pt x="1772529" y="580022"/>
                </a:lnTo>
                <a:lnTo>
                  <a:pt x="1835834" y="577242"/>
                </a:lnTo>
                <a:lnTo>
                  <a:pt x="1899138" y="596481"/>
                </a:lnTo>
                <a:lnTo>
                  <a:pt x="1962443" y="583314"/>
                </a:lnTo>
                <a:lnTo>
                  <a:pt x="2025748" y="597213"/>
                </a:lnTo>
                <a:lnTo>
                  <a:pt x="2089052" y="589678"/>
                </a:lnTo>
                <a:lnTo>
                  <a:pt x="2152357" y="591946"/>
                </a:lnTo>
                <a:lnTo>
                  <a:pt x="2215662" y="604089"/>
                </a:lnTo>
                <a:lnTo>
                  <a:pt x="2278966" y="595092"/>
                </a:lnTo>
                <a:lnTo>
                  <a:pt x="2342271" y="597432"/>
                </a:lnTo>
                <a:lnTo>
                  <a:pt x="2405575" y="595604"/>
                </a:lnTo>
                <a:lnTo>
                  <a:pt x="2468880" y="586240"/>
                </a:lnTo>
              </a:path>
            </a:pathLst>
          </a:custGeom>
          <a:noFill/>
          <a:ln w="25400" cap="rnd">
            <a:solidFill>
              <a:srgbClr val="15191D"/>
            </a:solidFill>
            <a:round/>
          </a:ln>
        </p:spPr>
        <p:txBody>
          <a:bodyPr/>
          <a:lstStyle/>
          <a:p>
            <a:endParaRPr lang="es-ES" dirty="0"/>
          </a:p>
        </p:txBody>
      </p:sp>
      <p:sp>
        <p:nvSpPr>
          <p:cNvPr id="21" name="Series label 21"/>
          <p:cNvSpPr txBox="1"/>
          <p:nvPr/>
        </p:nvSpPr>
        <p:spPr>
          <a:xfrm>
            <a:off x="2606040" y="2095512"/>
            <a:ext cx="1097280" cy="182880"/>
          </a:xfrm>
          <a:prstGeom prst="rect">
            <a:avLst/>
          </a:prstGeom>
          <a:noFill/>
          <a:ln>
            <a:noFill/>
          </a:ln>
        </p:spPr>
        <p:txBody>
          <a:bodyPr wrap="square" lIns="0" tIns="0" rIns="0" bIns="0" rtlCol="0" anchor="t">
            <a:noAutofit/>
          </a:bodyPr>
          <a:lstStyle/>
          <a:p>
            <a:pPr algn="r">
              <a:buNone/>
            </a:pPr>
            <a:r>
              <a:rPr lang="es-ES" sz="900" b="0" i="0" dirty="0">
                <a:solidFill>
                  <a:srgbClr val="4A525B"/>
                </a:solidFill>
                <a:latin typeface="Arial"/>
                <a:cs typeface="Arial"/>
              </a:rPr>
              <a:t>validación</a:t>
            </a:r>
          </a:p>
        </p:txBody>
      </p:sp>
      <p:sp>
        <p:nvSpPr>
          <p:cNvPr id="22" name="Series label 22"/>
          <p:cNvSpPr txBox="1"/>
          <p:nvPr/>
        </p:nvSpPr>
        <p:spPr>
          <a:xfrm>
            <a:off x="2606040" y="2870411"/>
            <a:ext cx="1097280" cy="182880"/>
          </a:xfrm>
          <a:prstGeom prst="rect">
            <a:avLst/>
          </a:prstGeom>
          <a:noFill/>
          <a:ln>
            <a:noFill/>
          </a:ln>
        </p:spPr>
        <p:txBody>
          <a:bodyPr wrap="square" lIns="0" tIns="0" rIns="0" bIns="0" rtlCol="0" anchor="t">
            <a:noAutofit/>
          </a:bodyPr>
          <a:lstStyle/>
          <a:p>
            <a:pPr algn="r">
              <a:buNone/>
            </a:pPr>
            <a:r>
              <a:rPr lang="es-ES" sz="900" b="0" i="0" dirty="0">
                <a:solidFill>
                  <a:srgbClr val="15191D"/>
                </a:solidFill>
                <a:latin typeface="Arial"/>
                <a:cs typeface="Arial"/>
              </a:rPr>
              <a:t>entrenamiento</a:t>
            </a:r>
          </a:p>
        </p:txBody>
      </p:sp>
      <p:sp>
        <p:nvSpPr>
          <p:cNvPr id="23" name="Mini title 23"/>
          <p:cNvSpPr txBox="1"/>
          <p:nvPr/>
        </p:nvSpPr>
        <p:spPr>
          <a:xfrm>
            <a:off x="4434840" y="1975104"/>
            <a:ext cx="2651760" cy="219456"/>
          </a:xfrm>
          <a:prstGeom prst="rect">
            <a:avLst/>
          </a:prstGeom>
          <a:noFill/>
          <a:ln>
            <a:noFill/>
          </a:ln>
        </p:spPr>
        <p:txBody>
          <a:bodyPr wrap="square" lIns="0" tIns="0" rIns="0" bIns="0" rtlCol="0" anchor="t">
            <a:noAutofit/>
          </a:bodyPr>
          <a:lstStyle/>
          <a:p>
            <a:pPr algn="l">
              <a:buNone/>
            </a:pPr>
            <a:r>
              <a:rPr lang="es-ES" sz="1000" b="0" i="0" dirty="0">
                <a:solidFill>
                  <a:srgbClr val="4A525B"/>
                </a:solidFill>
                <a:latin typeface="Arial"/>
                <a:cs typeface="Arial"/>
              </a:rPr>
              <a:t>AUC por paciente</a:t>
            </a:r>
          </a:p>
        </p:txBody>
      </p:sp>
      <p:cxnSp>
        <p:nvCxnSpPr>
          <p:cNvPr id="24" name="Line 24"/>
          <p:cNvCxnSpPr/>
          <p:nvPr/>
        </p:nvCxnSpPr>
        <p:spPr>
          <a:xfrm>
            <a:off x="4480560" y="2715768"/>
            <a:ext cx="2651760" cy="0"/>
          </a:xfrm>
          <a:prstGeom prst="line">
            <a:avLst/>
          </a:prstGeom>
          <a:ln w="6350">
            <a:solidFill>
              <a:srgbClr val="15191D">
                <a:alpha val="12000"/>
              </a:srgbClr>
            </a:solidFill>
          </a:ln>
        </p:spPr>
      </p:cxnSp>
      <p:sp>
        <p:nvSpPr>
          <p:cNvPr id="25" name="Grid label 25"/>
          <p:cNvSpPr txBox="1"/>
          <p:nvPr/>
        </p:nvSpPr>
        <p:spPr>
          <a:xfrm>
            <a:off x="4023360" y="2624328"/>
            <a:ext cx="411480" cy="182880"/>
          </a:xfrm>
          <a:prstGeom prst="rect">
            <a:avLst/>
          </a:prstGeom>
          <a:noFill/>
          <a:ln>
            <a:noFill/>
          </a:ln>
        </p:spPr>
        <p:txBody>
          <a:bodyPr wrap="square" lIns="0" tIns="0" rIns="0" bIns="0" rtlCol="0" anchor="ctr">
            <a:noAutofit/>
          </a:bodyPr>
          <a:lstStyle/>
          <a:p>
            <a:pPr algn="r">
              <a:buNone/>
            </a:pPr>
            <a:r>
              <a:rPr lang="es-ES" sz="800" b="0" i="0" dirty="0">
                <a:solidFill>
                  <a:srgbClr val="8B9197"/>
                </a:solidFill>
                <a:latin typeface="Arial"/>
                <a:cs typeface="Arial"/>
              </a:rPr>
              <a:t>0,55</a:t>
            </a:r>
          </a:p>
        </p:txBody>
      </p:sp>
      <p:cxnSp>
        <p:nvCxnSpPr>
          <p:cNvPr id="26" name="Line 26"/>
          <p:cNvCxnSpPr/>
          <p:nvPr/>
        </p:nvCxnSpPr>
        <p:spPr>
          <a:xfrm>
            <a:off x="4480560" y="2487168"/>
            <a:ext cx="2651760" cy="0"/>
          </a:xfrm>
          <a:prstGeom prst="line">
            <a:avLst/>
          </a:prstGeom>
          <a:ln w="6350">
            <a:solidFill>
              <a:srgbClr val="15191D">
                <a:alpha val="12000"/>
              </a:srgbClr>
            </a:solidFill>
          </a:ln>
        </p:spPr>
      </p:cxnSp>
      <p:sp>
        <p:nvSpPr>
          <p:cNvPr id="27" name="Grid label 27"/>
          <p:cNvSpPr txBox="1"/>
          <p:nvPr/>
        </p:nvSpPr>
        <p:spPr>
          <a:xfrm>
            <a:off x="4023360" y="2395728"/>
            <a:ext cx="411480" cy="182880"/>
          </a:xfrm>
          <a:prstGeom prst="rect">
            <a:avLst/>
          </a:prstGeom>
          <a:noFill/>
          <a:ln>
            <a:noFill/>
          </a:ln>
        </p:spPr>
        <p:txBody>
          <a:bodyPr wrap="square" lIns="0" tIns="0" rIns="0" bIns="0" rtlCol="0" anchor="ctr">
            <a:noAutofit/>
          </a:bodyPr>
          <a:lstStyle/>
          <a:p>
            <a:pPr algn="r">
              <a:buNone/>
            </a:pPr>
            <a:r>
              <a:rPr lang="es-ES" sz="800" b="0" i="0" dirty="0">
                <a:solidFill>
                  <a:srgbClr val="8B9197"/>
                </a:solidFill>
                <a:latin typeface="Arial"/>
                <a:cs typeface="Arial"/>
              </a:rPr>
              <a:t>0,60</a:t>
            </a:r>
          </a:p>
        </p:txBody>
      </p:sp>
      <p:sp>
        <p:nvSpPr>
          <p:cNvPr id="28" name="Epoch label 28"/>
          <p:cNvSpPr txBox="1"/>
          <p:nvPr/>
        </p:nvSpPr>
        <p:spPr>
          <a:xfrm>
            <a:off x="4206240" y="2971800"/>
            <a:ext cx="548640" cy="182880"/>
          </a:xfrm>
          <a:prstGeom prst="rect">
            <a:avLst/>
          </a:prstGeom>
          <a:noFill/>
          <a:ln>
            <a:noFill/>
          </a:ln>
        </p:spPr>
        <p:txBody>
          <a:bodyPr wrap="square" lIns="0" tIns="0" rIns="0" bIns="0" rtlCol="0" anchor="t">
            <a:noAutofit/>
          </a:bodyPr>
          <a:lstStyle/>
          <a:p>
            <a:pPr algn="ctr">
              <a:buNone/>
            </a:pPr>
            <a:r>
              <a:rPr lang="es-ES" sz="800" b="0" i="0" dirty="0">
                <a:solidFill>
                  <a:srgbClr val="8B9197"/>
                </a:solidFill>
                <a:latin typeface="Arial"/>
                <a:cs typeface="Arial"/>
              </a:rPr>
              <a:t>1</a:t>
            </a:r>
          </a:p>
        </p:txBody>
      </p:sp>
      <p:sp>
        <p:nvSpPr>
          <p:cNvPr id="29" name="Epoch label 29"/>
          <p:cNvSpPr txBox="1"/>
          <p:nvPr/>
        </p:nvSpPr>
        <p:spPr>
          <a:xfrm>
            <a:off x="6858000" y="2971800"/>
            <a:ext cx="548640" cy="182880"/>
          </a:xfrm>
          <a:prstGeom prst="rect">
            <a:avLst/>
          </a:prstGeom>
          <a:noFill/>
          <a:ln>
            <a:noFill/>
          </a:ln>
        </p:spPr>
        <p:txBody>
          <a:bodyPr wrap="square" lIns="0" tIns="0" rIns="0" bIns="0" rtlCol="0" anchor="t">
            <a:noAutofit/>
          </a:bodyPr>
          <a:lstStyle/>
          <a:p>
            <a:pPr algn="ctr">
              <a:buNone/>
            </a:pPr>
            <a:r>
              <a:rPr lang="es-ES" sz="800" b="0" i="0" dirty="0">
                <a:solidFill>
                  <a:srgbClr val="8B9197"/>
                </a:solidFill>
                <a:latin typeface="Arial"/>
                <a:cs typeface="Arial"/>
              </a:rPr>
              <a:t>40</a:t>
            </a:r>
          </a:p>
        </p:txBody>
      </p:sp>
      <p:sp>
        <p:nvSpPr>
          <p:cNvPr id="30" name="Axis 30"/>
          <p:cNvSpPr txBox="1"/>
          <p:nvPr/>
        </p:nvSpPr>
        <p:spPr>
          <a:xfrm>
            <a:off x="5349240" y="2971800"/>
            <a:ext cx="914400" cy="182880"/>
          </a:xfrm>
          <a:prstGeom prst="rect">
            <a:avLst/>
          </a:prstGeom>
          <a:noFill/>
          <a:ln>
            <a:noFill/>
          </a:ln>
        </p:spPr>
        <p:txBody>
          <a:bodyPr wrap="square" lIns="0" tIns="0" rIns="0" bIns="0" rtlCol="0" anchor="t">
            <a:noAutofit/>
          </a:bodyPr>
          <a:lstStyle/>
          <a:p>
            <a:pPr algn="ctr">
              <a:buNone/>
            </a:pPr>
            <a:r>
              <a:rPr lang="es-ES" sz="800" b="0" i="0" dirty="0">
                <a:solidFill>
                  <a:srgbClr val="8B9197"/>
                </a:solidFill>
                <a:latin typeface="Arial"/>
                <a:cs typeface="Arial"/>
              </a:rPr>
              <a:t>época</a:t>
            </a:r>
          </a:p>
        </p:txBody>
      </p:sp>
      <p:sp>
        <p:nvSpPr>
          <p:cNvPr id="31" name="Fold AUC 31"/>
          <p:cNvSpPr/>
          <p:nvPr/>
        </p:nvSpPr>
        <p:spPr>
          <a:xfrm>
            <a:off x="4480560" y="2563063"/>
            <a:ext cx="2651760" cy="197510"/>
          </a:xfrm>
          <a:custGeom>
            <a:avLst/>
            <a:gdLst/>
            <a:ahLst/>
            <a:cxnLst/>
            <a:rect l="0" t="0" r="r" b="b"/>
            <a:pathLst>
              <a:path w="2651760" h="197510" fill="none">
                <a:moveTo>
                  <a:pt x="0" y="197510"/>
                </a:moveTo>
                <a:lnTo>
                  <a:pt x="67994" y="168250"/>
                </a:lnTo>
                <a:lnTo>
                  <a:pt x="135988" y="170993"/>
                </a:lnTo>
                <a:lnTo>
                  <a:pt x="203982" y="81382"/>
                </a:lnTo>
                <a:lnTo>
                  <a:pt x="271975" y="41605"/>
                </a:lnTo>
                <a:lnTo>
                  <a:pt x="339969" y="27432"/>
                </a:lnTo>
                <a:lnTo>
                  <a:pt x="407963" y="11887"/>
                </a:lnTo>
                <a:lnTo>
                  <a:pt x="475957" y="0"/>
                </a:lnTo>
                <a:lnTo>
                  <a:pt x="543951" y="457"/>
                </a:lnTo>
                <a:lnTo>
                  <a:pt x="611945" y="1372"/>
                </a:lnTo>
                <a:lnTo>
                  <a:pt x="679938" y="4572"/>
                </a:lnTo>
                <a:lnTo>
                  <a:pt x="747932" y="22403"/>
                </a:lnTo>
                <a:lnTo>
                  <a:pt x="815926" y="19202"/>
                </a:lnTo>
                <a:lnTo>
                  <a:pt x="883920" y="48463"/>
                </a:lnTo>
                <a:lnTo>
                  <a:pt x="951914" y="61722"/>
                </a:lnTo>
                <a:lnTo>
                  <a:pt x="1019908" y="67666"/>
                </a:lnTo>
                <a:lnTo>
                  <a:pt x="1087902" y="86868"/>
                </a:lnTo>
                <a:lnTo>
                  <a:pt x="1155895" y="94640"/>
                </a:lnTo>
                <a:lnTo>
                  <a:pt x="1223889" y="130302"/>
                </a:lnTo>
                <a:lnTo>
                  <a:pt x="1291883" y="133960"/>
                </a:lnTo>
                <a:lnTo>
                  <a:pt x="1359877" y="144932"/>
                </a:lnTo>
                <a:lnTo>
                  <a:pt x="1427871" y="152248"/>
                </a:lnTo>
                <a:lnTo>
                  <a:pt x="1495865" y="168707"/>
                </a:lnTo>
                <a:lnTo>
                  <a:pt x="1563858" y="160934"/>
                </a:lnTo>
                <a:lnTo>
                  <a:pt x="1631852" y="158191"/>
                </a:lnTo>
                <a:lnTo>
                  <a:pt x="1699846" y="170993"/>
                </a:lnTo>
                <a:lnTo>
                  <a:pt x="1767840" y="176936"/>
                </a:lnTo>
                <a:lnTo>
                  <a:pt x="1835834" y="165964"/>
                </a:lnTo>
                <a:lnTo>
                  <a:pt x="1903828" y="176022"/>
                </a:lnTo>
                <a:lnTo>
                  <a:pt x="1971822" y="173279"/>
                </a:lnTo>
                <a:lnTo>
                  <a:pt x="2039815" y="171907"/>
                </a:lnTo>
                <a:lnTo>
                  <a:pt x="2107809" y="176479"/>
                </a:lnTo>
                <a:lnTo>
                  <a:pt x="2175803" y="178765"/>
                </a:lnTo>
                <a:lnTo>
                  <a:pt x="2243797" y="192938"/>
                </a:lnTo>
                <a:lnTo>
                  <a:pt x="2311791" y="191110"/>
                </a:lnTo>
                <a:lnTo>
                  <a:pt x="2379785" y="193396"/>
                </a:lnTo>
                <a:lnTo>
                  <a:pt x="2447778" y="194767"/>
                </a:lnTo>
                <a:lnTo>
                  <a:pt x="2515772" y="195682"/>
                </a:lnTo>
                <a:lnTo>
                  <a:pt x="2583766" y="192481"/>
                </a:lnTo>
                <a:lnTo>
                  <a:pt x="2651760" y="196139"/>
                </a:lnTo>
              </a:path>
            </a:pathLst>
          </a:custGeom>
          <a:noFill/>
          <a:ln w="9525" cap="rnd">
            <a:solidFill>
              <a:srgbClr val="15191D">
                <a:alpha val="22000"/>
              </a:srgbClr>
            </a:solidFill>
            <a:round/>
          </a:ln>
        </p:spPr>
        <p:txBody>
          <a:bodyPr/>
          <a:lstStyle/>
          <a:p>
            <a:endParaRPr lang="es-ES" dirty="0"/>
          </a:p>
        </p:txBody>
      </p:sp>
      <p:sp>
        <p:nvSpPr>
          <p:cNvPr id="32" name="Fold AUC 32"/>
          <p:cNvSpPr/>
          <p:nvPr/>
        </p:nvSpPr>
        <p:spPr>
          <a:xfrm>
            <a:off x="4480560" y="2419045"/>
            <a:ext cx="2651760" cy="137160"/>
          </a:xfrm>
          <a:custGeom>
            <a:avLst/>
            <a:gdLst/>
            <a:ahLst/>
            <a:cxnLst/>
            <a:rect l="0" t="0" r="r" b="b"/>
            <a:pathLst>
              <a:path w="2651760" h="137160" fill="none">
                <a:moveTo>
                  <a:pt x="0" y="137160"/>
                </a:moveTo>
                <a:lnTo>
                  <a:pt x="67994" y="67208"/>
                </a:lnTo>
                <a:lnTo>
                  <a:pt x="135988" y="17374"/>
                </a:lnTo>
                <a:lnTo>
                  <a:pt x="203982" y="37490"/>
                </a:lnTo>
                <a:lnTo>
                  <a:pt x="271975" y="54864"/>
                </a:lnTo>
                <a:lnTo>
                  <a:pt x="339969" y="23774"/>
                </a:lnTo>
                <a:lnTo>
                  <a:pt x="407963" y="0"/>
                </a:lnTo>
                <a:lnTo>
                  <a:pt x="475957" y="5944"/>
                </a:lnTo>
                <a:lnTo>
                  <a:pt x="543951" y="15088"/>
                </a:lnTo>
                <a:lnTo>
                  <a:pt x="611945" y="48920"/>
                </a:lnTo>
                <a:lnTo>
                  <a:pt x="679938" y="43434"/>
                </a:lnTo>
                <a:lnTo>
                  <a:pt x="747932" y="19202"/>
                </a:lnTo>
                <a:lnTo>
                  <a:pt x="815926" y="15088"/>
                </a:lnTo>
                <a:lnTo>
                  <a:pt x="883920" y="26975"/>
                </a:lnTo>
                <a:lnTo>
                  <a:pt x="951914" y="27889"/>
                </a:lnTo>
                <a:lnTo>
                  <a:pt x="1019908" y="32004"/>
                </a:lnTo>
                <a:lnTo>
                  <a:pt x="1087902" y="62636"/>
                </a:lnTo>
                <a:lnTo>
                  <a:pt x="1155895" y="70866"/>
                </a:lnTo>
                <a:lnTo>
                  <a:pt x="1223889" y="75438"/>
                </a:lnTo>
                <a:lnTo>
                  <a:pt x="1291883" y="83668"/>
                </a:lnTo>
                <a:lnTo>
                  <a:pt x="1359877" y="81382"/>
                </a:lnTo>
                <a:lnTo>
                  <a:pt x="1427871" y="77724"/>
                </a:lnTo>
                <a:lnTo>
                  <a:pt x="1495865" y="71780"/>
                </a:lnTo>
                <a:lnTo>
                  <a:pt x="1563858" y="74066"/>
                </a:lnTo>
                <a:lnTo>
                  <a:pt x="1631852" y="88697"/>
                </a:lnTo>
                <a:lnTo>
                  <a:pt x="1699846" y="94183"/>
                </a:lnTo>
                <a:lnTo>
                  <a:pt x="1767840" y="100584"/>
                </a:lnTo>
                <a:lnTo>
                  <a:pt x="1835834" y="106070"/>
                </a:lnTo>
                <a:lnTo>
                  <a:pt x="1903828" y="99670"/>
                </a:lnTo>
                <a:lnTo>
                  <a:pt x="1971822" y="102413"/>
                </a:lnTo>
                <a:lnTo>
                  <a:pt x="2039815" y="95098"/>
                </a:lnTo>
                <a:lnTo>
                  <a:pt x="2107809" y="100127"/>
                </a:lnTo>
                <a:lnTo>
                  <a:pt x="2175803" y="109728"/>
                </a:lnTo>
                <a:lnTo>
                  <a:pt x="2243797" y="112471"/>
                </a:lnTo>
                <a:lnTo>
                  <a:pt x="2311791" y="112928"/>
                </a:lnTo>
                <a:lnTo>
                  <a:pt x="2379785" y="105156"/>
                </a:lnTo>
                <a:lnTo>
                  <a:pt x="2447778" y="112928"/>
                </a:lnTo>
                <a:lnTo>
                  <a:pt x="2515772" y="109728"/>
                </a:lnTo>
                <a:lnTo>
                  <a:pt x="2583766" y="108814"/>
                </a:lnTo>
                <a:lnTo>
                  <a:pt x="2651760" y="108356"/>
                </a:lnTo>
              </a:path>
            </a:pathLst>
          </a:custGeom>
          <a:noFill/>
          <a:ln w="9525" cap="rnd">
            <a:solidFill>
              <a:srgbClr val="15191D">
                <a:alpha val="22000"/>
              </a:srgbClr>
            </a:solidFill>
            <a:round/>
          </a:ln>
        </p:spPr>
        <p:txBody>
          <a:bodyPr/>
          <a:lstStyle/>
          <a:p>
            <a:endParaRPr lang="es-ES" dirty="0"/>
          </a:p>
        </p:txBody>
      </p:sp>
      <p:sp>
        <p:nvSpPr>
          <p:cNvPr id="33" name="Fold AUC 33"/>
          <p:cNvSpPr/>
          <p:nvPr/>
        </p:nvSpPr>
        <p:spPr>
          <a:xfrm>
            <a:off x="4480560" y="2407615"/>
            <a:ext cx="2651760" cy="296266"/>
          </a:xfrm>
          <a:custGeom>
            <a:avLst/>
            <a:gdLst/>
            <a:ahLst/>
            <a:cxnLst/>
            <a:rect l="0" t="0" r="r" b="b"/>
            <a:pathLst>
              <a:path w="2651760" h="296266" fill="none">
                <a:moveTo>
                  <a:pt x="0" y="191567"/>
                </a:moveTo>
                <a:lnTo>
                  <a:pt x="67994" y="94640"/>
                </a:lnTo>
                <a:lnTo>
                  <a:pt x="135988" y="38405"/>
                </a:lnTo>
                <a:lnTo>
                  <a:pt x="203982" y="20117"/>
                </a:lnTo>
                <a:lnTo>
                  <a:pt x="271975" y="0"/>
                </a:lnTo>
                <a:lnTo>
                  <a:pt x="339969" y="95555"/>
                </a:lnTo>
                <a:lnTo>
                  <a:pt x="407963" y="102413"/>
                </a:lnTo>
                <a:lnTo>
                  <a:pt x="475957" y="82753"/>
                </a:lnTo>
                <a:lnTo>
                  <a:pt x="543951" y="98298"/>
                </a:lnTo>
                <a:lnTo>
                  <a:pt x="611945" y="112928"/>
                </a:lnTo>
                <a:lnTo>
                  <a:pt x="679938" y="106070"/>
                </a:lnTo>
                <a:lnTo>
                  <a:pt x="747932" y="108814"/>
                </a:lnTo>
                <a:lnTo>
                  <a:pt x="815926" y="97841"/>
                </a:lnTo>
                <a:lnTo>
                  <a:pt x="883920" y="120244"/>
                </a:lnTo>
                <a:lnTo>
                  <a:pt x="951914" y="147676"/>
                </a:lnTo>
                <a:lnTo>
                  <a:pt x="1019908" y="143104"/>
                </a:lnTo>
                <a:lnTo>
                  <a:pt x="1087902" y="163678"/>
                </a:lnTo>
                <a:lnTo>
                  <a:pt x="1155895" y="154991"/>
                </a:lnTo>
                <a:lnTo>
                  <a:pt x="1223889" y="148133"/>
                </a:lnTo>
                <a:lnTo>
                  <a:pt x="1291883" y="162306"/>
                </a:lnTo>
                <a:lnTo>
                  <a:pt x="1359877" y="174650"/>
                </a:lnTo>
                <a:lnTo>
                  <a:pt x="1427871" y="204826"/>
                </a:lnTo>
                <a:lnTo>
                  <a:pt x="1495865" y="219456"/>
                </a:lnTo>
                <a:lnTo>
                  <a:pt x="1563858" y="245516"/>
                </a:lnTo>
                <a:lnTo>
                  <a:pt x="1631852" y="258318"/>
                </a:lnTo>
                <a:lnTo>
                  <a:pt x="1699846" y="255118"/>
                </a:lnTo>
                <a:lnTo>
                  <a:pt x="1767840" y="257861"/>
                </a:lnTo>
                <a:lnTo>
                  <a:pt x="1835834" y="261976"/>
                </a:lnTo>
                <a:lnTo>
                  <a:pt x="1903828" y="273406"/>
                </a:lnTo>
                <a:lnTo>
                  <a:pt x="1971822" y="288950"/>
                </a:lnTo>
                <a:lnTo>
                  <a:pt x="2039815" y="283007"/>
                </a:lnTo>
                <a:lnTo>
                  <a:pt x="2107809" y="289408"/>
                </a:lnTo>
                <a:lnTo>
                  <a:pt x="2175803" y="275234"/>
                </a:lnTo>
                <a:lnTo>
                  <a:pt x="2243797" y="282092"/>
                </a:lnTo>
                <a:lnTo>
                  <a:pt x="2311791" y="287579"/>
                </a:lnTo>
                <a:lnTo>
                  <a:pt x="2379785" y="293522"/>
                </a:lnTo>
                <a:lnTo>
                  <a:pt x="2447778" y="293522"/>
                </a:lnTo>
                <a:lnTo>
                  <a:pt x="2515772" y="294894"/>
                </a:lnTo>
                <a:lnTo>
                  <a:pt x="2583766" y="295808"/>
                </a:lnTo>
                <a:lnTo>
                  <a:pt x="2651760" y="296266"/>
                </a:lnTo>
              </a:path>
            </a:pathLst>
          </a:custGeom>
          <a:noFill/>
          <a:ln w="9525" cap="rnd">
            <a:solidFill>
              <a:srgbClr val="15191D">
                <a:alpha val="22000"/>
              </a:srgbClr>
            </a:solidFill>
            <a:round/>
          </a:ln>
        </p:spPr>
        <p:txBody>
          <a:bodyPr/>
          <a:lstStyle/>
          <a:p>
            <a:endParaRPr lang="es-ES" dirty="0"/>
          </a:p>
        </p:txBody>
      </p:sp>
      <p:sp>
        <p:nvSpPr>
          <p:cNvPr id="34" name="Fold AUC 34"/>
          <p:cNvSpPr/>
          <p:nvPr/>
        </p:nvSpPr>
        <p:spPr>
          <a:xfrm>
            <a:off x="4480560" y="2808580"/>
            <a:ext cx="2651760" cy="123444"/>
          </a:xfrm>
          <a:custGeom>
            <a:avLst/>
            <a:gdLst/>
            <a:ahLst/>
            <a:cxnLst/>
            <a:rect l="0" t="0" r="r" b="b"/>
            <a:pathLst>
              <a:path w="2651760" h="123444" fill="none">
                <a:moveTo>
                  <a:pt x="0" y="117500"/>
                </a:moveTo>
                <a:lnTo>
                  <a:pt x="67994" y="98755"/>
                </a:lnTo>
                <a:lnTo>
                  <a:pt x="135988" y="57150"/>
                </a:lnTo>
                <a:lnTo>
                  <a:pt x="203982" y="65380"/>
                </a:lnTo>
                <a:lnTo>
                  <a:pt x="271975" y="59893"/>
                </a:lnTo>
                <a:lnTo>
                  <a:pt x="339969" y="45720"/>
                </a:lnTo>
                <a:lnTo>
                  <a:pt x="407963" y="22403"/>
                </a:lnTo>
                <a:lnTo>
                  <a:pt x="475957" y="21946"/>
                </a:lnTo>
                <a:lnTo>
                  <a:pt x="543951" y="12344"/>
                </a:lnTo>
                <a:lnTo>
                  <a:pt x="611945" y="7315"/>
                </a:lnTo>
                <a:lnTo>
                  <a:pt x="679938" y="25603"/>
                </a:lnTo>
                <a:lnTo>
                  <a:pt x="747932" y="7315"/>
                </a:lnTo>
                <a:lnTo>
                  <a:pt x="815926" y="6401"/>
                </a:lnTo>
                <a:lnTo>
                  <a:pt x="883920" y="4572"/>
                </a:lnTo>
                <a:lnTo>
                  <a:pt x="951914" y="0"/>
                </a:lnTo>
                <a:lnTo>
                  <a:pt x="1019908" y="22403"/>
                </a:lnTo>
                <a:lnTo>
                  <a:pt x="1087902" y="35662"/>
                </a:lnTo>
                <a:lnTo>
                  <a:pt x="1155895" y="47092"/>
                </a:lnTo>
                <a:lnTo>
                  <a:pt x="1223889" y="47092"/>
                </a:lnTo>
                <a:lnTo>
                  <a:pt x="1291883" y="45720"/>
                </a:lnTo>
                <a:lnTo>
                  <a:pt x="1359877" y="49835"/>
                </a:lnTo>
                <a:lnTo>
                  <a:pt x="1427871" y="62636"/>
                </a:lnTo>
                <a:lnTo>
                  <a:pt x="1495865" y="69952"/>
                </a:lnTo>
                <a:lnTo>
                  <a:pt x="1563858" y="81382"/>
                </a:lnTo>
                <a:lnTo>
                  <a:pt x="1631852" y="88697"/>
                </a:lnTo>
                <a:lnTo>
                  <a:pt x="1699846" y="90526"/>
                </a:lnTo>
                <a:lnTo>
                  <a:pt x="1767840" y="97841"/>
                </a:lnTo>
                <a:lnTo>
                  <a:pt x="1835834" y="93269"/>
                </a:lnTo>
                <a:lnTo>
                  <a:pt x="1903828" y="103327"/>
                </a:lnTo>
                <a:lnTo>
                  <a:pt x="1971822" y="105156"/>
                </a:lnTo>
                <a:lnTo>
                  <a:pt x="2039815" y="106070"/>
                </a:lnTo>
                <a:lnTo>
                  <a:pt x="2107809" y="114300"/>
                </a:lnTo>
                <a:lnTo>
                  <a:pt x="2175803" y="116586"/>
                </a:lnTo>
                <a:lnTo>
                  <a:pt x="2243797" y="114757"/>
                </a:lnTo>
                <a:lnTo>
                  <a:pt x="2311791" y="115672"/>
                </a:lnTo>
                <a:lnTo>
                  <a:pt x="2379785" y="120244"/>
                </a:lnTo>
                <a:lnTo>
                  <a:pt x="2447778" y="121615"/>
                </a:lnTo>
                <a:lnTo>
                  <a:pt x="2515772" y="123444"/>
                </a:lnTo>
                <a:lnTo>
                  <a:pt x="2583766" y="122530"/>
                </a:lnTo>
                <a:lnTo>
                  <a:pt x="2651760" y="121615"/>
                </a:lnTo>
              </a:path>
            </a:pathLst>
          </a:custGeom>
          <a:noFill/>
          <a:ln w="9525" cap="rnd">
            <a:solidFill>
              <a:srgbClr val="15191D">
                <a:alpha val="22000"/>
              </a:srgbClr>
            </a:solidFill>
            <a:round/>
          </a:ln>
        </p:spPr>
        <p:txBody>
          <a:bodyPr/>
          <a:lstStyle/>
          <a:p>
            <a:endParaRPr lang="es-ES" dirty="0"/>
          </a:p>
        </p:txBody>
      </p:sp>
      <p:sp>
        <p:nvSpPr>
          <p:cNvPr id="35" name="Fold AUC 35"/>
          <p:cNvSpPr/>
          <p:nvPr/>
        </p:nvSpPr>
        <p:spPr>
          <a:xfrm>
            <a:off x="4480560" y="2461108"/>
            <a:ext cx="2651760" cy="121158"/>
          </a:xfrm>
          <a:custGeom>
            <a:avLst/>
            <a:gdLst/>
            <a:ahLst/>
            <a:cxnLst/>
            <a:rect l="0" t="0" r="r" b="b"/>
            <a:pathLst>
              <a:path w="2651760" h="121158" fill="none">
                <a:moveTo>
                  <a:pt x="0" y="81839"/>
                </a:moveTo>
                <a:lnTo>
                  <a:pt x="67994" y="0"/>
                </a:lnTo>
                <a:lnTo>
                  <a:pt x="135988" y="45720"/>
                </a:lnTo>
                <a:lnTo>
                  <a:pt x="203982" y="40691"/>
                </a:lnTo>
                <a:lnTo>
                  <a:pt x="271975" y="62636"/>
                </a:lnTo>
                <a:lnTo>
                  <a:pt x="339969" y="20574"/>
                </a:lnTo>
                <a:lnTo>
                  <a:pt x="407963" y="21488"/>
                </a:lnTo>
                <a:lnTo>
                  <a:pt x="475957" y="34747"/>
                </a:lnTo>
                <a:lnTo>
                  <a:pt x="543951" y="60350"/>
                </a:lnTo>
                <a:lnTo>
                  <a:pt x="611945" y="47549"/>
                </a:lnTo>
                <a:lnTo>
                  <a:pt x="679938" y="65837"/>
                </a:lnTo>
                <a:lnTo>
                  <a:pt x="747932" y="90983"/>
                </a:lnTo>
                <a:lnTo>
                  <a:pt x="815926" y="101498"/>
                </a:lnTo>
                <a:lnTo>
                  <a:pt x="883920" y="89611"/>
                </a:lnTo>
                <a:lnTo>
                  <a:pt x="951914" y="101498"/>
                </a:lnTo>
                <a:lnTo>
                  <a:pt x="1019908" y="108814"/>
                </a:lnTo>
                <a:lnTo>
                  <a:pt x="1087902" y="121158"/>
                </a:lnTo>
                <a:lnTo>
                  <a:pt x="1155895" y="105156"/>
                </a:lnTo>
                <a:lnTo>
                  <a:pt x="1223889" y="112471"/>
                </a:lnTo>
                <a:lnTo>
                  <a:pt x="1291883" y="110642"/>
                </a:lnTo>
                <a:lnTo>
                  <a:pt x="1359877" y="98298"/>
                </a:lnTo>
                <a:lnTo>
                  <a:pt x="1427871" y="89611"/>
                </a:lnTo>
                <a:lnTo>
                  <a:pt x="1495865" y="82296"/>
                </a:lnTo>
                <a:lnTo>
                  <a:pt x="1563858" y="88697"/>
                </a:lnTo>
                <a:lnTo>
                  <a:pt x="1631852" y="83668"/>
                </a:lnTo>
                <a:lnTo>
                  <a:pt x="1699846" y="76352"/>
                </a:lnTo>
                <a:lnTo>
                  <a:pt x="1767840" y="69037"/>
                </a:lnTo>
                <a:lnTo>
                  <a:pt x="1835834" y="63094"/>
                </a:lnTo>
                <a:lnTo>
                  <a:pt x="1903828" y="74981"/>
                </a:lnTo>
                <a:lnTo>
                  <a:pt x="1971822" y="67208"/>
                </a:lnTo>
                <a:lnTo>
                  <a:pt x="2039815" y="60808"/>
                </a:lnTo>
                <a:lnTo>
                  <a:pt x="2107809" y="71323"/>
                </a:lnTo>
                <a:lnTo>
                  <a:pt x="2175803" y="67208"/>
                </a:lnTo>
                <a:lnTo>
                  <a:pt x="2243797" y="68580"/>
                </a:lnTo>
                <a:lnTo>
                  <a:pt x="2311791" y="65837"/>
                </a:lnTo>
                <a:lnTo>
                  <a:pt x="2379785" y="63094"/>
                </a:lnTo>
                <a:lnTo>
                  <a:pt x="2447778" y="64922"/>
                </a:lnTo>
                <a:lnTo>
                  <a:pt x="2515772" y="63094"/>
                </a:lnTo>
                <a:lnTo>
                  <a:pt x="2583766" y="61722"/>
                </a:lnTo>
                <a:lnTo>
                  <a:pt x="2651760" y="60350"/>
                </a:lnTo>
              </a:path>
            </a:pathLst>
          </a:custGeom>
          <a:noFill/>
          <a:ln w="9525" cap="rnd">
            <a:solidFill>
              <a:srgbClr val="15191D">
                <a:alpha val="22000"/>
              </a:srgbClr>
            </a:solidFill>
            <a:round/>
          </a:ln>
        </p:spPr>
        <p:txBody>
          <a:bodyPr/>
          <a:lstStyle/>
          <a:p>
            <a:endParaRPr lang="es-ES" dirty="0"/>
          </a:p>
        </p:txBody>
      </p:sp>
      <p:sp>
        <p:nvSpPr>
          <p:cNvPr id="36" name="Mean AUC 36"/>
          <p:cNvSpPr/>
          <p:nvPr/>
        </p:nvSpPr>
        <p:spPr>
          <a:xfrm>
            <a:off x="4480560" y="2560960"/>
            <a:ext cx="2651760" cy="128473"/>
          </a:xfrm>
          <a:custGeom>
            <a:avLst/>
            <a:gdLst/>
            <a:ahLst/>
            <a:cxnLst/>
            <a:rect l="0" t="0" r="r" b="b"/>
            <a:pathLst>
              <a:path w="2651760" h="128473" fill="none">
                <a:moveTo>
                  <a:pt x="0" y="116037"/>
                </a:moveTo>
                <a:lnTo>
                  <a:pt x="67994" y="56693"/>
                </a:lnTo>
                <a:lnTo>
                  <a:pt x="135988" y="36850"/>
                </a:lnTo>
                <a:lnTo>
                  <a:pt x="203982" y="19934"/>
                </a:lnTo>
                <a:lnTo>
                  <a:pt x="271975" y="14722"/>
                </a:lnTo>
                <a:lnTo>
                  <a:pt x="339969" y="13533"/>
                </a:lnTo>
                <a:lnTo>
                  <a:pt x="407963" y="2560"/>
                </a:lnTo>
                <a:lnTo>
                  <a:pt x="475957" y="0"/>
                </a:lnTo>
                <a:lnTo>
                  <a:pt x="543951" y="8230"/>
                </a:lnTo>
                <a:lnTo>
                  <a:pt x="611945" y="14539"/>
                </a:lnTo>
                <a:lnTo>
                  <a:pt x="679938" y="20025"/>
                </a:lnTo>
                <a:lnTo>
                  <a:pt x="747932" y="20665"/>
                </a:lnTo>
                <a:lnTo>
                  <a:pt x="815926" y="18928"/>
                </a:lnTo>
                <a:lnTo>
                  <a:pt x="883920" y="28895"/>
                </a:lnTo>
                <a:lnTo>
                  <a:pt x="951914" y="38679"/>
                </a:lnTo>
                <a:lnTo>
                  <a:pt x="1019908" y="45720"/>
                </a:lnTo>
                <a:lnTo>
                  <a:pt x="1087902" y="64922"/>
                </a:lnTo>
                <a:lnTo>
                  <a:pt x="1155895" y="65471"/>
                </a:lnTo>
                <a:lnTo>
                  <a:pt x="1223889" y="73609"/>
                </a:lnTo>
                <a:lnTo>
                  <a:pt x="1291883" y="78181"/>
                </a:lnTo>
                <a:lnTo>
                  <a:pt x="1359877" y="80742"/>
                </a:lnTo>
                <a:lnTo>
                  <a:pt x="1427871" y="88331"/>
                </a:lnTo>
                <a:lnTo>
                  <a:pt x="1495865" y="93360"/>
                </a:lnTo>
                <a:lnTo>
                  <a:pt x="1563858" y="101041"/>
                </a:lnTo>
                <a:lnTo>
                  <a:pt x="1631852" y="106436"/>
                </a:lnTo>
                <a:lnTo>
                  <a:pt x="1699846" y="108356"/>
                </a:lnTo>
                <a:lnTo>
                  <a:pt x="1767840" y="111374"/>
                </a:lnTo>
                <a:lnTo>
                  <a:pt x="1835834" y="108996"/>
                </a:lnTo>
                <a:lnTo>
                  <a:pt x="1903828" y="116403"/>
                </a:lnTo>
                <a:lnTo>
                  <a:pt x="1971822" y="118323"/>
                </a:lnTo>
                <a:lnTo>
                  <a:pt x="2039815" y="114300"/>
                </a:lnTo>
                <a:lnTo>
                  <a:pt x="2107809" y="121249"/>
                </a:lnTo>
                <a:lnTo>
                  <a:pt x="2175803" y="120426"/>
                </a:lnTo>
                <a:lnTo>
                  <a:pt x="2243797" y="125090"/>
                </a:lnTo>
                <a:lnTo>
                  <a:pt x="2311791" y="125547"/>
                </a:lnTo>
                <a:lnTo>
                  <a:pt x="2379785" y="126004"/>
                </a:lnTo>
                <a:lnTo>
                  <a:pt x="2447778" y="128473"/>
                </a:lnTo>
                <a:lnTo>
                  <a:pt x="2515772" y="128290"/>
                </a:lnTo>
                <a:lnTo>
                  <a:pt x="2583766" y="127193"/>
                </a:lnTo>
                <a:lnTo>
                  <a:pt x="2651760" y="127467"/>
                </a:lnTo>
              </a:path>
            </a:pathLst>
          </a:custGeom>
          <a:noFill/>
          <a:ln w="28575" cap="rnd">
            <a:solidFill>
              <a:srgbClr val="15191D"/>
            </a:solidFill>
            <a:round/>
          </a:ln>
        </p:spPr>
        <p:txBody>
          <a:bodyPr/>
          <a:lstStyle/>
          <a:p>
            <a:endParaRPr lang="es-ES" dirty="0"/>
          </a:p>
        </p:txBody>
      </p:sp>
      <p:cxnSp>
        <p:nvCxnSpPr>
          <p:cNvPr id="37" name="Line 37"/>
          <p:cNvCxnSpPr/>
          <p:nvPr/>
        </p:nvCxnSpPr>
        <p:spPr>
          <a:xfrm>
            <a:off x="4956517" y="2194560"/>
            <a:ext cx="0" cy="749808"/>
          </a:xfrm>
          <a:prstGeom prst="line">
            <a:avLst/>
          </a:prstGeom>
          <a:ln w="19050">
            <a:solidFill>
              <a:srgbClr val="DC7867"/>
            </a:solidFill>
          </a:ln>
        </p:spPr>
      </p:cxnSp>
      <p:sp>
        <p:nvSpPr>
          <p:cNvPr id="38" name="Chosen 38"/>
          <p:cNvSpPr txBox="1"/>
          <p:nvPr/>
        </p:nvSpPr>
        <p:spPr>
          <a:xfrm>
            <a:off x="5002237" y="2157984"/>
            <a:ext cx="1280160" cy="182880"/>
          </a:xfrm>
          <a:prstGeom prst="rect">
            <a:avLst/>
          </a:prstGeom>
          <a:noFill/>
          <a:ln>
            <a:noFill/>
          </a:ln>
        </p:spPr>
        <p:txBody>
          <a:bodyPr wrap="square" lIns="0" tIns="0" rIns="0" bIns="0" rtlCol="0" anchor="t">
            <a:noAutofit/>
          </a:bodyPr>
          <a:lstStyle/>
          <a:p>
            <a:pPr algn="l">
              <a:buNone/>
            </a:pPr>
            <a:r>
              <a:rPr lang="es-ES" sz="900" b="1" i="0" dirty="0">
                <a:solidFill>
                  <a:srgbClr val="15191D"/>
                </a:solidFill>
                <a:latin typeface="Arial"/>
                <a:cs typeface="Arial"/>
              </a:rPr>
              <a:t>época 8: máximo</a:t>
            </a:r>
          </a:p>
        </p:txBody>
      </p:sp>
      <p:sp>
        <p:nvSpPr>
          <p:cNvPr id="39" name="Configuration panel 39"/>
          <p:cNvSpPr/>
          <p:nvPr/>
        </p:nvSpPr>
        <p:spPr>
          <a:xfrm>
            <a:off x="7589520" y="1651329"/>
            <a:ext cx="4050792" cy="1600200"/>
          </a:xfrm>
          <a:prstGeom prst="roundRect">
            <a:avLst>
              <a:gd name="adj" fmla="val 9142"/>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40" name="H 40"/>
          <p:cNvSpPr txBox="1"/>
          <p:nvPr/>
        </p:nvSpPr>
        <p:spPr>
          <a:xfrm>
            <a:off x="7818120" y="1719072"/>
            <a:ext cx="3593592" cy="274320"/>
          </a:xfrm>
          <a:prstGeom prst="rect">
            <a:avLst/>
          </a:prstGeom>
          <a:noFill/>
          <a:ln>
            <a:noFill/>
          </a:ln>
        </p:spPr>
        <p:txBody>
          <a:bodyPr wrap="square" lIns="0" tIns="0" rIns="0" bIns="0" rtlCol="0" anchor="t">
            <a:noAutofit/>
          </a:bodyPr>
          <a:lstStyle/>
          <a:p>
            <a:pPr algn="l">
              <a:buNone/>
            </a:pPr>
            <a:r>
              <a:rPr lang="es-ES" sz="1300" b="1" i="0" dirty="0">
                <a:solidFill>
                  <a:srgbClr val="15191D"/>
                </a:solidFill>
                <a:latin typeface="Arial"/>
                <a:cs typeface="Arial"/>
              </a:rPr>
              <a:t>Configuración</a:t>
            </a:r>
          </a:p>
        </p:txBody>
      </p:sp>
      <p:sp>
        <p:nvSpPr>
          <p:cNvPr id="41" name="Icon 41"/>
          <p:cNvSpPr/>
          <p:nvPr/>
        </p:nvSpPr>
        <p:spPr>
          <a:xfrm>
            <a:off x="7818120" y="2021577"/>
            <a:ext cx="182880" cy="182880"/>
          </a:xfrm>
          <a:prstGeom prst="ellipse">
            <a:avLst/>
          </a:prstGeom>
          <a:solidFill>
            <a:srgbClr val="15191D"/>
          </a:solidFill>
          <a:ln>
            <a:noFill/>
          </a:ln>
        </p:spPr>
        <p:txBody>
          <a:bodyPr wrap="square" lIns="0" tIns="0" rIns="0" bIns="0" rtlCol="0" anchor="t">
            <a:noAutofit/>
          </a:bodyPr>
          <a:lstStyle/>
          <a:p>
            <a:endParaRPr lang="es-ES" dirty="0"/>
          </a:p>
        </p:txBody>
      </p:sp>
      <p:pic>
        <p:nvPicPr>
          <p:cNvPr id="42" name="BCE ponderada 42" descr="BCE ponderada"/>
          <p:cNvPicPr>
            <a:picLocks noChangeAspect="1"/>
          </p:cNvPicPr>
          <p:nvPr/>
        </p:nvPicPr>
        <p:blipFill>
          <a:blip r:embed="rId3"/>
          <a:stretch>
            <a:fillRect/>
          </a:stretch>
        </p:blipFill>
        <p:spPr>
          <a:xfrm>
            <a:off x="7854696" y="2058153"/>
            <a:ext cx="109728" cy="109728"/>
          </a:xfrm>
          <a:prstGeom prst="rect">
            <a:avLst/>
          </a:prstGeom>
        </p:spPr>
      </p:pic>
      <p:sp>
        <p:nvSpPr>
          <p:cNvPr id="43" name="Config text 43"/>
          <p:cNvSpPr txBox="1"/>
          <p:nvPr/>
        </p:nvSpPr>
        <p:spPr>
          <a:xfrm>
            <a:off x="8092440" y="2003289"/>
            <a:ext cx="3364992"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BCE ponderada</a:t>
            </a:r>
            <a:r>
              <a:rPr lang="es-ES" sz="1000" b="0" i="0" dirty="0">
                <a:solidFill>
                  <a:srgbClr val="4A525B"/>
                </a:solidFill>
                <a:latin typeface="Arial"/>
                <a:cs typeface="Arial"/>
              </a:rPr>
              <a:t>  pos_weight ≈ 2,4</a:t>
            </a:r>
          </a:p>
        </p:txBody>
      </p:sp>
      <p:sp>
        <p:nvSpPr>
          <p:cNvPr id="44" name="Icon 44"/>
          <p:cNvSpPr/>
          <p:nvPr/>
        </p:nvSpPr>
        <p:spPr>
          <a:xfrm>
            <a:off x="7818120" y="2254749"/>
            <a:ext cx="182880" cy="182880"/>
          </a:xfrm>
          <a:prstGeom prst="ellipse">
            <a:avLst/>
          </a:prstGeom>
          <a:solidFill>
            <a:srgbClr val="15191D"/>
          </a:solidFill>
          <a:ln>
            <a:noFill/>
          </a:ln>
        </p:spPr>
        <p:txBody>
          <a:bodyPr wrap="square" lIns="0" tIns="0" rIns="0" bIns="0" rtlCol="0" anchor="t">
            <a:noAutofit/>
          </a:bodyPr>
          <a:lstStyle/>
          <a:p>
            <a:endParaRPr lang="es-ES" dirty="0"/>
          </a:p>
        </p:txBody>
      </p:sp>
      <p:pic>
        <p:nvPicPr>
          <p:cNvPr id="45" name="AdamW · 10⁻⁴ 45" descr="AdamW · 10⁻⁴"/>
          <p:cNvPicPr>
            <a:picLocks noChangeAspect="1"/>
          </p:cNvPicPr>
          <p:nvPr/>
        </p:nvPicPr>
        <p:blipFill>
          <a:blip r:embed="rId4"/>
          <a:stretch>
            <a:fillRect/>
          </a:stretch>
        </p:blipFill>
        <p:spPr>
          <a:xfrm>
            <a:off x="7854696" y="2291325"/>
            <a:ext cx="109728" cy="109728"/>
          </a:xfrm>
          <a:prstGeom prst="rect">
            <a:avLst/>
          </a:prstGeom>
        </p:spPr>
      </p:pic>
      <p:sp>
        <p:nvSpPr>
          <p:cNvPr id="46" name="Config text 46"/>
          <p:cNvSpPr txBox="1"/>
          <p:nvPr/>
        </p:nvSpPr>
        <p:spPr>
          <a:xfrm>
            <a:off x="8092440" y="2236461"/>
            <a:ext cx="3364992"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AdamW · 10⁻⁴</a:t>
            </a:r>
            <a:r>
              <a:rPr lang="es-ES" sz="1000" b="0" i="0" dirty="0">
                <a:solidFill>
                  <a:srgbClr val="4A525B"/>
                </a:solidFill>
                <a:latin typeface="Arial"/>
                <a:cs typeface="Arial"/>
              </a:rPr>
              <a:t>  lotes de 32 cortes</a:t>
            </a:r>
          </a:p>
        </p:txBody>
      </p:sp>
      <p:sp>
        <p:nvSpPr>
          <p:cNvPr id="47" name="Icon 47"/>
          <p:cNvSpPr/>
          <p:nvPr/>
        </p:nvSpPr>
        <p:spPr>
          <a:xfrm>
            <a:off x="7818120" y="2487921"/>
            <a:ext cx="182880" cy="182880"/>
          </a:xfrm>
          <a:prstGeom prst="ellipse">
            <a:avLst/>
          </a:prstGeom>
          <a:solidFill>
            <a:srgbClr val="15191D"/>
          </a:solidFill>
          <a:ln>
            <a:noFill/>
          </a:ln>
        </p:spPr>
        <p:txBody>
          <a:bodyPr wrap="square" lIns="0" tIns="0" rIns="0" bIns="0" rtlCol="0" anchor="t">
            <a:noAutofit/>
          </a:bodyPr>
          <a:lstStyle/>
          <a:p>
            <a:endParaRPr lang="es-ES" dirty="0"/>
          </a:p>
        </p:txBody>
      </p:sp>
      <p:pic>
        <p:nvPicPr>
          <p:cNvPr id="48" name="Coseno + EMA 48" descr="Coseno + EMA"/>
          <p:cNvPicPr>
            <a:picLocks noChangeAspect="1"/>
          </p:cNvPicPr>
          <p:nvPr/>
        </p:nvPicPr>
        <p:blipFill>
          <a:blip r:embed="rId5"/>
          <a:stretch>
            <a:fillRect/>
          </a:stretch>
        </p:blipFill>
        <p:spPr>
          <a:xfrm>
            <a:off x="7854696" y="2524497"/>
            <a:ext cx="109728" cy="109728"/>
          </a:xfrm>
          <a:prstGeom prst="rect">
            <a:avLst/>
          </a:prstGeom>
        </p:spPr>
      </p:pic>
      <p:sp>
        <p:nvSpPr>
          <p:cNvPr id="49" name="Config text 49"/>
          <p:cNvSpPr txBox="1"/>
          <p:nvPr/>
        </p:nvSpPr>
        <p:spPr>
          <a:xfrm>
            <a:off x="8092440" y="2469633"/>
            <a:ext cx="3364992"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Coseno + EMA</a:t>
            </a:r>
            <a:r>
              <a:rPr lang="es-ES" sz="1000" b="0" i="0" dirty="0">
                <a:solidFill>
                  <a:srgbClr val="4A525B"/>
                </a:solidFill>
                <a:latin typeface="Arial"/>
                <a:cs typeface="Arial"/>
              </a:rPr>
              <a:t>  media de pesos 0,998</a:t>
            </a:r>
          </a:p>
        </p:txBody>
      </p:sp>
      <p:sp>
        <p:nvSpPr>
          <p:cNvPr id="50" name="Icon 50"/>
          <p:cNvSpPr/>
          <p:nvPr/>
        </p:nvSpPr>
        <p:spPr>
          <a:xfrm>
            <a:off x="7818120" y="2721093"/>
            <a:ext cx="182880" cy="182880"/>
          </a:xfrm>
          <a:prstGeom prst="ellipse">
            <a:avLst/>
          </a:prstGeom>
          <a:solidFill>
            <a:srgbClr val="15191D"/>
          </a:solidFill>
          <a:ln>
            <a:noFill/>
          </a:ln>
        </p:spPr>
        <p:txBody>
          <a:bodyPr wrap="square" lIns="0" tIns="0" rIns="0" bIns="0" rtlCol="0" anchor="t">
            <a:noAutofit/>
          </a:bodyPr>
          <a:lstStyle/>
          <a:p>
            <a:endParaRPr lang="es-ES" dirty="0"/>
          </a:p>
        </p:txBody>
      </p:sp>
      <p:pic>
        <p:nvPicPr>
          <p:cNvPr id="51" name="8 épocas 51" descr="8 épocas"/>
          <p:cNvPicPr>
            <a:picLocks noChangeAspect="1"/>
          </p:cNvPicPr>
          <p:nvPr/>
        </p:nvPicPr>
        <p:blipFill>
          <a:blip r:embed="rId6"/>
          <a:stretch>
            <a:fillRect/>
          </a:stretch>
        </p:blipFill>
        <p:spPr>
          <a:xfrm>
            <a:off x="7854696" y="2757669"/>
            <a:ext cx="109728" cy="109728"/>
          </a:xfrm>
          <a:prstGeom prst="rect">
            <a:avLst/>
          </a:prstGeom>
        </p:spPr>
      </p:pic>
      <p:sp>
        <p:nvSpPr>
          <p:cNvPr id="52" name="Config text 52"/>
          <p:cNvSpPr txBox="1"/>
          <p:nvPr/>
        </p:nvSpPr>
        <p:spPr>
          <a:xfrm>
            <a:off x="8092440" y="2702805"/>
            <a:ext cx="3364992"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8 épocas</a:t>
            </a:r>
            <a:r>
              <a:rPr lang="es-ES" sz="1000" b="0" i="0" dirty="0">
                <a:solidFill>
                  <a:srgbClr val="4A525B"/>
                </a:solidFill>
                <a:latin typeface="Arial"/>
                <a:cs typeface="Arial"/>
              </a:rPr>
              <a:t>  elegidas en otros folds</a:t>
            </a:r>
          </a:p>
        </p:txBody>
      </p:sp>
      <p:sp>
        <p:nvSpPr>
          <p:cNvPr id="53" name="Icon 53"/>
          <p:cNvSpPr/>
          <p:nvPr/>
        </p:nvSpPr>
        <p:spPr>
          <a:xfrm>
            <a:off x="7818120" y="2954265"/>
            <a:ext cx="182880" cy="182880"/>
          </a:xfrm>
          <a:prstGeom prst="ellipse">
            <a:avLst/>
          </a:prstGeom>
          <a:solidFill>
            <a:srgbClr val="15191D"/>
          </a:solidFill>
          <a:ln>
            <a:noFill/>
          </a:ln>
        </p:spPr>
        <p:txBody>
          <a:bodyPr wrap="square" lIns="0" tIns="0" rIns="0" bIns="0" rtlCol="0" anchor="t">
            <a:noAutofit/>
          </a:bodyPr>
          <a:lstStyle/>
          <a:p>
            <a:endParaRPr lang="es-ES" dirty="0"/>
          </a:p>
        </p:txBody>
      </p:sp>
      <p:pic>
        <p:nvPicPr>
          <p:cNvPr id="54" name="Aumentos geométricos 54" descr="Aumentos geométricos"/>
          <p:cNvPicPr>
            <a:picLocks noChangeAspect="1"/>
          </p:cNvPicPr>
          <p:nvPr/>
        </p:nvPicPr>
        <p:blipFill>
          <a:blip r:embed="rId7"/>
          <a:stretch>
            <a:fillRect/>
          </a:stretch>
        </p:blipFill>
        <p:spPr>
          <a:xfrm>
            <a:off x="7854696" y="2990841"/>
            <a:ext cx="109728" cy="109728"/>
          </a:xfrm>
          <a:prstGeom prst="rect">
            <a:avLst/>
          </a:prstGeom>
        </p:spPr>
      </p:pic>
      <p:sp>
        <p:nvSpPr>
          <p:cNvPr id="55" name="Config text 55"/>
          <p:cNvSpPr txBox="1"/>
          <p:nvPr/>
        </p:nvSpPr>
        <p:spPr>
          <a:xfrm>
            <a:off x="8092440" y="2935977"/>
            <a:ext cx="3364992"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Aumentos geométricos</a:t>
            </a:r>
            <a:r>
              <a:rPr lang="es-ES" sz="1000" b="0" i="0" dirty="0">
                <a:solidFill>
                  <a:srgbClr val="4A525B"/>
                </a:solidFill>
                <a:latin typeface="Arial"/>
                <a:cs typeface="Arial"/>
              </a:rPr>
              <a:t>  iguales en las 3 fases</a:t>
            </a:r>
          </a:p>
        </p:txBody>
      </p:sp>
      <p:sp>
        <p:nvSpPr>
          <p:cNvPr id="56" name="Panel 56"/>
          <p:cNvSpPr/>
          <p:nvPr/>
        </p:nvSpPr>
        <p:spPr>
          <a:xfrm>
            <a:off x="548640" y="3383280"/>
            <a:ext cx="6263640" cy="2487168"/>
          </a:xfrm>
          <a:prstGeom prst="roundRect">
            <a:avLst>
              <a:gd name="adj" fmla="val 5882"/>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57" name="H 57"/>
          <p:cNvSpPr txBox="1"/>
          <p:nvPr/>
        </p:nvSpPr>
        <p:spPr>
          <a:xfrm>
            <a:off x="777240" y="3456432"/>
            <a:ext cx="3657600" cy="274320"/>
          </a:xfrm>
          <a:prstGeom prst="rect">
            <a:avLst/>
          </a:prstGeom>
          <a:noFill/>
          <a:ln>
            <a:noFill/>
          </a:ln>
        </p:spPr>
        <p:txBody>
          <a:bodyPr wrap="square" lIns="0" tIns="0" rIns="0" bIns="0" rtlCol="0" anchor="t">
            <a:noAutofit/>
          </a:bodyPr>
          <a:lstStyle/>
          <a:p>
            <a:pPr algn="l">
              <a:buNone/>
            </a:pPr>
            <a:r>
              <a:rPr lang="es-ES" sz="1300" b="1" i="0" dirty="0">
                <a:solidFill>
                  <a:srgbClr val="15191D"/>
                </a:solidFill>
                <a:latin typeface="Arial"/>
                <a:cs typeface="Arial"/>
              </a:rPr>
              <a:t>AUC por paciente</a:t>
            </a:r>
          </a:p>
        </p:txBody>
      </p:sp>
      <p:cxnSp>
        <p:nvCxnSpPr>
          <p:cNvPr id="58" name="Line 58"/>
          <p:cNvCxnSpPr/>
          <p:nvPr/>
        </p:nvCxnSpPr>
        <p:spPr>
          <a:xfrm>
            <a:off x="2788920" y="3767328"/>
            <a:ext cx="0" cy="1792224"/>
          </a:xfrm>
          <a:prstGeom prst="line">
            <a:avLst/>
          </a:prstGeom>
          <a:ln w="9525">
            <a:solidFill>
              <a:srgbClr val="15191D">
                <a:alpha val="10000"/>
              </a:srgbClr>
            </a:solidFill>
          </a:ln>
        </p:spPr>
      </p:cxnSp>
      <p:sp>
        <p:nvSpPr>
          <p:cNvPr id="59" name="Tick 59"/>
          <p:cNvSpPr txBox="1"/>
          <p:nvPr/>
        </p:nvSpPr>
        <p:spPr>
          <a:xfrm>
            <a:off x="2468880" y="5586984"/>
            <a:ext cx="640080" cy="256032"/>
          </a:xfrm>
          <a:prstGeom prst="rect">
            <a:avLst/>
          </a:prstGeom>
          <a:noFill/>
          <a:ln>
            <a:noFill/>
          </a:ln>
        </p:spPr>
        <p:txBody>
          <a:bodyPr wrap="square" lIns="0" tIns="0" rIns="0" bIns="0" rtlCol="0" anchor="t">
            <a:noAutofit/>
          </a:bodyPr>
          <a:lstStyle/>
          <a:p>
            <a:pPr algn="ctr">
              <a:buNone/>
            </a:pPr>
            <a:r>
              <a:rPr lang="es-ES" sz="1100" b="0" i="0" dirty="0">
                <a:solidFill>
                  <a:srgbClr val="8B9197"/>
                </a:solidFill>
                <a:latin typeface="Arial"/>
                <a:cs typeface="Arial"/>
              </a:rPr>
              <a:t>0,40</a:t>
            </a:r>
          </a:p>
        </p:txBody>
      </p:sp>
      <p:cxnSp>
        <p:nvCxnSpPr>
          <p:cNvPr id="60" name="Line 60"/>
          <p:cNvCxnSpPr/>
          <p:nvPr/>
        </p:nvCxnSpPr>
        <p:spPr>
          <a:xfrm>
            <a:off x="3916680" y="3767328"/>
            <a:ext cx="0" cy="1792224"/>
          </a:xfrm>
          <a:prstGeom prst="line">
            <a:avLst/>
          </a:prstGeom>
          <a:ln w="15875">
            <a:solidFill>
              <a:srgbClr val="15191D">
                <a:alpha val="35000"/>
              </a:srgbClr>
            </a:solidFill>
            <a:prstDash val="dash"/>
          </a:ln>
        </p:spPr>
      </p:cxnSp>
      <p:sp>
        <p:nvSpPr>
          <p:cNvPr id="61" name="Tick 61"/>
          <p:cNvSpPr txBox="1"/>
          <p:nvPr/>
        </p:nvSpPr>
        <p:spPr>
          <a:xfrm>
            <a:off x="3596640" y="5586984"/>
            <a:ext cx="640080" cy="256032"/>
          </a:xfrm>
          <a:prstGeom prst="rect">
            <a:avLst/>
          </a:prstGeom>
          <a:noFill/>
          <a:ln>
            <a:noFill/>
          </a:ln>
        </p:spPr>
        <p:txBody>
          <a:bodyPr wrap="square" lIns="0" tIns="0" rIns="0" bIns="0" rtlCol="0" anchor="t">
            <a:noAutofit/>
          </a:bodyPr>
          <a:lstStyle/>
          <a:p>
            <a:pPr algn="ctr">
              <a:buNone/>
            </a:pPr>
            <a:r>
              <a:rPr lang="es-ES" sz="1100" b="0" i="0" dirty="0">
                <a:solidFill>
                  <a:srgbClr val="8B9197"/>
                </a:solidFill>
                <a:latin typeface="Arial"/>
                <a:cs typeface="Arial"/>
              </a:rPr>
              <a:t>0,50</a:t>
            </a:r>
          </a:p>
        </p:txBody>
      </p:sp>
      <p:cxnSp>
        <p:nvCxnSpPr>
          <p:cNvPr id="62" name="Line 62"/>
          <p:cNvCxnSpPr/>
          <p:nvPr/>
        </p:nvCxnSpPr>
        <p:spPr>
          <a:xfrm>
            <a:off x="5044440" y="3767328"/>
            <a:ext cx="0" cy="1792224"/>
          </a:xfrm>
          <a:prstGeom prst="line">
            <a:avLst/>
          </a:prstGeom>
          <a:ln w="9525">
            <a:solidFill>
              <a:srgbClr val="15191D">
                <a:alpha val="10000"/>
              </a:srgbClr>
            </a:solidFill>
          </a:ln>
        </p:spPr>
      </p:cxnSp>
      <p:sp>
        <p:nvSpPr>
          <p:cNvPr id="63" name="Tick 63"/>
          <p:cNvSpPr txBox="1"/>
          <p:nvPr/>
        </p:nvSpPr>
        <p:spPr>
          <a:xfrm>
            <a:off x="4724400" y="5586984"/>
            <a:ext cx="640080" cy="256032"/>
          </a:xfrm>
          <a:prstGeom prst="rect">
            <a:avLst/>
          </a:prstGeom>
          <a:noFill/>
          <a:ln>
            <a:noFill/>
          </a:ln>
        </p:spPr>
        <p:txBody>
          <a:bodyPr wrap="square" lIns="0" tIns="0" rIns="0" bIns="0" rtlCol="0" anchor="t">
            <a:noAutofit/>
          </a:bodyPr>
          <a:lstStyle/>
          <a:p>
            <a:pPr algn="ctr">
              <a:buNone/>
            </a:pPr>
            <a:r>
              <a:rPr lang="es-ES" sz="1100" b="0" i="0" dirty="0">
                <a:solidFill>
                  <a:srgbClr val="8B9197"/>
                </a:solidFill>
                <a:latin typeface="Arial"/>
                <a:cs typeface="Arial"/>
              </a:rPr>
              <a:t>0,60</a:t>
            </a:r>
          </a:p>
        </p:txBody>
      </p:sp>
      <p:cxnSp>
        <p:nvCxnSpPr>
          <p:cNvPr id="64" name="Line 64"/>
          <p:cNvCxnSpPr/>
          <p:nvPr/>
        </p:nvCxnSpPr>
        <p:spPr>
          <a:xfrm>
            <a:off x="6172200" y="3767328"/>
            <a:ext cx="0" cy="1792224"/>
          </a:xfrm>
          <a:prstGeom prst="line">
            <a:avLst/>
          </a:prstGeom>
          <a:ln w="9525">
            <a:solidFill>
              <a:srgbClr val="15191D">
                <a:alpha val="10000"/>
              </a:srgbClr>
            </a:solidFill>
          </a:ln>
        </p:spPr>
      </p:cxnSp>
      <p:sp>
        <p:nvSpPr>
          <p:cNvPr id="65" name="Tick 65"/>
          <p:cNvSpPr txBox="1"/>
          <p:nvPr/>
        </p:nvSpPr>
        <p:spPr>
          <a:xfrm>
            <a:off x="5852160" y="5586984"/>
            <a:ext cx="640080" cy="256032"/>
          </a:xfrm>
          <a:prstGeom prst="rect">
            <a:avLst/>
          </a:prstGeom>
          <a:noFill/>
          <a:ln>
            <a:noFill/>
          </a:ln>
        </p:spPr>
        <p:txBody>
          <a:bodyPr wrap="square" lIns="0" tIns="0" rIns="0" bIns="0" rtlCol="0" anchor="t">
            <a:noAutofit/>
          </a:bodyPr>
          <a:lstStyle/>
          <a:p>
            <a:pPr algn="ctr">
              <a:buNone/>
            </a:pPr>
            <a:r>
              <a:rPr lang="es-ES" sz="1100" b="0" i="0" dirty="0">
                <a:solidFill>
                  <a:srgbClr val="8B9197"/>
                </a:solidFill>
                <a:latin typeface="Arial"/>
                <a:cs typeface="Arial"/>
              </a:rPr>
              <a:t>0,70</a:t>
            </a:r>
          </a:p>
        </p:txBody>
      </p:sp>
      <p:sp>
        <p:nvSpPr>
          <p:cNvPr id="66" name="Chance 66"/>
          <p:cNvSpPr txBox="1"/>
          <p:nvPr/>
        </p:nvSpPr>
        <p:spPr>
          <a:xfrm>
            <a:off x="3368040" y="3511296"/>
            <a:ext cx="1097280" cy="237744"/>
          </a:xfrm>
          <a:prstGeom prst="rect">
            <a:avLst/>
          </a:prstGeom>
          <a:noFill/>
          <a:ln>
            <a:noFill/>
          </a:ln>
        </p:spPr>
        <p:txBody>
          <a:bodyPr wrap="square" lIns="0" tIns="0" rIns="0" bIns="0" rtlCol="0" anchor="t">
            <a:noAutofit/>
          </a:bodyPr>
          <a:lstStyle/>
          <a:p>
            <a:pPr algn="ctr">
              <a:buNone/>
            </a:pPr>
            <a:r>
              <a:rPr lang="es-ES" sz="1100" b="0" i="0" dirty="0">
                <a:solidFill>
                  <a:srgbClr val="8B9197"/>
                </a:solidFill>
                <a:latin typeface="Arial"/>
                <a:cs typeface="Arial"/>
              </a:rPr>
              <a:t>azar</a:t>
            </a:r>
          </a:p>
        </p:txBody>
      </p:sp>
      <p:sp>
        <p:nvSpPr>
          <p:cNvPr id="67" name="Group 67"/>
          <p:cNvSpPr txBox="1"/>
          <p:nvPr/>
        </p:nvSpPr>
        <p:spPr>
          <a:xfrm>
            <a:off x="777240" y="3767328"/>
            <a:ext cx="2194560" cy="237744"/>
          </a:xfrm>
          <a:prstGeom prst="rect">
            <a:avLst/>
          </a:prstGeom>
          <a:noFill/>
          <a:ln>
            <a:noFill/>
          </a:ln>
        </p:spPr>
        <p:txBody>
          <a:bodyPr wrap="square" lIns="0" tIns="0" rIns="0" bIns="0" rtlCol="0" anchor="t">
            <a:noAutofit/>
          </a:bodyPr>
          <a:lstStyle/>
          <a:p>
            <a:pPr algn="l">
              <a:buNone/>
            </a:pPr>
            <a:r>
              <a:rPr lang="es-ES" sz="1100" b="1" i="0" dirty="0">
                <a:solidFill>
                  <a:srgbClr val="15191D"/>
                </a:solidFill>
                <a:latin typeface="Arial"/>
                <a:cs typeface="Arial"/>
              </a:rPr>
              <a:t>Validación · 5 folds</a:t>
            </a:r>
            <a:r>
              <a:rPr lang="es-ES" sz="900" b="0" i="0" dirty="0">
                <a:solidFill>
                  <a:srgbClr val="8B9197"/>
                </a:solidFill>
                <a:latin typeface="Arial"/>
                <a:cs typeface="Arial"/>
              </a:rPr>
              <a:t>  media ± desv.</a:t>
            </a:r>
          </a:p>
        </p:txBody>
      </p:sp>
      <p:cxnSp>
        <p:nvCxnSpPr>
          <p:cNvPr id="68" name="Line 68"/>
          <p:cNvCxnSpPr/>
          <p:nvPr/>
        </p:nvCxnSpPr>
        <p:spPr>
          <a:xfrm>
            <a:off x="4469282" y="3995928"/>
            <a:ext cx="0" cy="621792"/>
          </a:xfrm>
          <a:prstGeom prst="line">
            <a:avLst/>
          </a:prstGeom>
          <a:ln w="25400">
            <a:solidFill>
              <a:srgbClr val="DC7867"/>
            </a:solidFill>
          </a:ln>
        </p:spPr>
      </p:cxnSp>
      <p:sp>
        <p:nvSpPr>
          <p:cNvPr id="69" name="Row 69"/>
          <p:cNvSpPr txBox="1"/>
          <p:nvPr/>
        </p:nvSpPr>
        <p:spPr>
          <a:xfrm>
            <a:off x="777240" y="4032504"/>
            <a:ext cx="2011680" cy="27432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Estrecha (final)</a:t>
            </a:r>
          </a:p>
        </p:txBody>
      </p:sp>
      <p:cxnSp>
        <p:nvCxnSpPr>
          <p:cNvPr id="70" name="Line 70"/>
          <p:cNvCxnSpPr/>
          <p:nvPr/>
        </p:nvCxnSpPr>
        <p:spPr>
          <a:xfrm>
            <a:off x="4458005" y="4169664"/>
            <a:ext cx="766877" cy="0"/>
          </a:xfrm>
          <a:prstGeom prst="line">
            <a:avLst/>
          </a:prstGeom>
          <a:ln w="25400">
            <a:solidFill>
              <a:srgbClr val="15191D"/>
            </a:solidFill>
          </a:ln>
        </p:spPr>
      </p:cxnSp>
      <p:sp>
        <p:nvSpPr>
          <p:cNvPr id="71" name="Point 71"/>
          <p:cNvSpPr/>
          <p:nvPr/>
        </p:nvSpPr>
        <p:spPr>
          <a:xfrm>
            <a:off x="4768291" y="4096512"/>
            <a:ext cx="146304" cy="146304"/>
          </a:xfrm>
          <a:prstGeom prst="ellipse">
            <a:avLst/>
          </a:prstGeom>
          <a:solidFill>
            <a:srgbClr val="15191D"/>
          </a:solidFill>
          <a:ln w="19050">
            <a:solidFill>
              <a:srgbClr val="15191D"/>
            </a:solidFill>
          </a:ln>
        </p:spPr>
        <p:txBody>
          <a:bodyPr wrap="square" lIns="0" tIns="0" rIns="0" bIns="0" rtlCol="0" anchor="t">
            <a:noAutofit/>
          </a:bodyPr>
          <a:lstStyle/>
          <a:p>
            <a:endParaRPr lang="es-ES" dirty="0"/>
          </a:p>
        </p:txBody>
      </p:sp>
      <p:sp>
        <p:nvSpPr>
          <p:cNvPr id="72" name="Value 72"/>
          <p:cNvSpPr txBox="1"/>
          <p:nvPr/>
        </p:nvSpPr>
        <p:spPr>
          <a:xfrm>
            <a:off x="5270602" y="4032504"/>
            <a:ext cx="548640" cy="274320"/>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0,582</a:t>
            </a:r>
          </a:p>
        </p:txBody>
      </p:sp>
      <p:sp>
        <p:nvSpPr>
          <p:cNvPr id="73" name="Row 73"/>
          <p:cNvSpPr txBox="1"/>
          <p:nvPr/>
        </p:nvSpPr>
        <p:spPr>
          <a:xfrm>
            <a:off x="777240" y="4325112"/>
            <a:ext cx="2011680" cy="27432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Ancha</a:t>
            </a:r>
          </a:p>
        </p:txBody>
      </p:sp>
      <p:cxnSp>
        <p:nvCxnSpPr>
          <p:cNvPr id="74" name="Line 74"/>
          <p:cNvCxnSpPr/>
          <p:nvPr/>
        </p:nvCxnSpPr>
        <p:spPr>
          <a:xfrm>
            <a:off x="4164787" y="4462272"/>
            <a:ext cx="834542" cy="0"/>
          </a:xfrm>
          <a:prstGeom prst="line">
            <a:avLst/>
          </a:prstGeom>
          <a:ln w="15875">
            <a:solidFill>
              <a:srgbClr val="15191D">
                <a:alpha val="55000"/>
              </a:srgbClr>
            </a:solidFill>
          </a:ln>
        </p:spPr>
      </p:cxnSp>
      <p:sp>
        <p:nvSpPr>
          <p:cNvPr id="75" name="Point 75"/>
          <p:cNvSpPr/>
          <p:nvPr/>
        </p:nvSpPr>
        <p:spPr>
          <a:xfrm>
            <a:off x="4508906" y="4389120"/>
            <a:ext cx="146304" cy="146304"/>
          </a:xfrm>
          <a:prstGeom prst="ellipse">
            <a:avLst/>
          </a:prstGeom>
          <a:solidFill>
            <a:srgbClr val="FFFFFF"/>
          </a:solidFill>
          <a:ln w="19050">
            <a:solidFill>
              <a:srgbClr val="15191D"/>
            </a:solidFill>
          </a:ln>
        </p:spPr>
        <p:txBody>
          <a:bodyPr wrap="square" lIns="0" tIns="0" rIns="0" bIns="0" rtlCol="0" anchor="t">
            <a:noAutofit/>
          </a:bodyPr>
          <a:lstStyle/>
          <a:p>
            <a:endParaRPr lang="es-ES" dirty="0"/>
          </a:p>
        </p:txBody>
      </p:sp>
      <p:sp>
        <p:nvSpPr>
          <p:cNvPr id="76" name="Value 76"/>
          <p:cNvSpPr txBox="1"/>
          <p:nvPr/>
        </p:nvSpPr>
        <p:spPr>
          <a:xfrm>
            <a:off x="5045050" y="4325112"/>
            <a:ext cx="548640" cy="274320"/>
          </a:xfrm>
          <a:prstGeom prst="rect">
            <a:avLst/>
          </a:prstGeom>
          <a:noFill/>
          <a:ln>
            <a:noFill/>
          </a:ln>
        </p:spPr>
        <p:txBody>
          <a:bodyPr wrap="square" lIns="0" tIns="0" rIns="0" bIns="0" rtlCol="0" anchor="ctr">
            <a:noAutofit/>
          </a:bodyPr>
          <a:lstStyle/>
          <a:p>
            <a:pPr algn="l">
              <a:buNone/>
            </a:pPr>
            <a:r>
              <a:rPr lang="es-ES" sz="1100" b="0" i="0" dirty="0">
                <a:solidFill>
                  <a:srgbClr val="15191D"/>
                </a:solidFill>
                <a:latin typeface="Arial"/>
                <a:cs typeface="Arial"/>
              </a:rPr>
              <a:t>0,559</a:t>
            </a:r>
          </a:p>
        </p:txBody>
      </p:sp>
      <p:sp>
        <p:nvSpPr>
          <p:cNvPr id="77" name="Group 77"/>
          <p:cNvSpPr txBox="1"/>
          <p:nvPr/>
        </p:nvSpPr>
        <p:spPr>
          <a:xfrm>
            <a:off x="777240" y="4663440"/>
            <a:ext cx="2194560" cy="237744"/>
          </a:xfrm>
          <a:prstGeom prst="rect">
            <a:avLst/>
          </a:prstGeom>
          <a:noFill/>
          <a:ln>
            <a:noFill/>
          </a:ln>
        </p:spPr>
        <p:txBody>
          <a:bodyPr wrap="square" lIns="0" tIns="0" rIns="0" bIns="0" rtlCol="0" anchor="t">
            <a:noAutofit/>
          </a:bodyPr>
          <a:lstStyle/>
          <a:p>
            <a:pPr algn="l">
              <a:buNone/>
            </a:pPr>
            <a:r>
              <a:rPr lang="es-ES" sz="1100" b="1" i="0" dirty="0">
                <a:solidFill>
                  <a:srgbClr val="15191D"/>
                </a:solidFill>
                <a:latin typeface="Arial"/>
                <a:cs typeface="Arial"/>
              </a:rPr>
              <a:t>Test · 176 pacientes</a:t>
            </a:r>
            <a:r>
              <a:rPr lang="es-ES" sz="900" b="0" i="0" dirty="0">
                <a:solidFill>
                  <a:srgbClr val="8B9197"/>
                </a:solidFill>
                <a:latin typeface="Arial"/>
                <a:cs typeface="Arial"/>
              </a:rPr>
              <a:t>  IC 95 %</a:t>
            </a:r>
          </a:p>
        </p:txBody>
      </p:sp>
      <p:cxnSp>
        <p:nvCxnSpPr>
          <p:cNvPr id="78" name="Line 78"/>
          <p:cNvCxnSpPr/>
          <p:nvPr/>
        </p:nvCxnSpPr>
        <p:spPr>
          <a:xfrm>
            <a:off x="4412894" y="4892040"/>
            <a:ext cx="0" cy="621792"/>
          </a:xfrm>
          <a:prstGeom prst="line">
            <a:avLst/>
          </a:prstGeom>
          <a:ln w="25400">
            <a:solidFill>
              <a:srgbClr val="DC7867"/>
            </a:solidFill>
          </a:ln>
        </p:spPr>
      </p:cxnSp>
      <p:sp>
        <p:nvSpPr>
          <p:cNvPr id="79" name="Row 79"/>
          <p:cNvSpPr txBox="1"/>
          <p:nvPr/>
        </p:nvSpPr>
        <p:spPr>
          <a:xfrm>
            <a:off x="777240" y="4928616"/>
            <a:ext cx="2011680" cy="274320"/>
          </a:xfrm>
          <a:prstGeom prst="rect">
            <a:avLst/>
          </a:prstGeom>
          <a:noFill/>
          <a:ln>
            <a:noFill/>
          </a:ln>
        </p:spPr>
        <p:txBody>
          <a:bodyPr wrap="square" lIns="0" tIns="0" rIns="0" bIns="0" rtlCol="0" anchor="ctr">
            <a:noAutofit/>
          </a:bodyPr>
          <a:lstStyle/>
          <a:p>
            <a:pPr algn="l">
              <a:buNone/>
            </a:pPr>
            <a:r>
              <a:rPr lang="es-ES" sz="1200" b="0" i="0" dirty="0">
                <a:solidFill>
                  <a:srgbClr val="4A525B"/>
                </a:solidFill>
                <a:latin typeface="Arial"/>
                <a:cs typeface="Arial"/>
              </a:rPr>
              <a:t>Ancha · 1.ª mirada</a:t>
            </a:r>
          </a:p>
        </p:txBody>
      </p:sp>
      <p:cxnSp>
        <p:nvCxnSpPr>
          <p:cNvPr id="80" name="Line 80"/>
          <p:cNvCxnSpPr/>
          <p:nvPr/>
        </p:nvCxnSpPr>
        <p:spPr>
          <a:xfrm>
            <a:off x="4006901" y="5065776"/>
            <a:ext cx="1860804" cy="0"/>
          </a:xfrm>
          <a:prstGeom prst="line">
            <a:avLst/>
          </a:prstGeom>
          <a:ln w="15875">
            <a:solidFill>
              <a:srgbClr val="15191D">
                <a:alpha val="55000"/>
              </a:srgbClr>
            </a:solidFill>
          </a:ln>
        </p:spPr>
      </p:cxnSp>
      <p:sp>
        <p:nvSpPr>
          <p:cNvPr id="81" name="Point 81"/>
          <p:cNvSpPr/>
          <p:nvPr/>
        </p:nvSpPr>
        <p:spPr>
          <a:xfrm>
            <a:off x="4869790" y="4992624"/>
            <a:ext cx="146304" cy="146304"/>
          </a:xfrm>
          <a:prstGeom prst="ellipse">
            <a:avLst/>
          </a:prstGeom>
          <a:solidFill>
            <a:srgbClr val="FFFFFF"/>
          </a:solidFill>
          <a:ln w="19050">
            <a:solidFill>
              <a:srgbClr val="15191D"/>
            </a:solidFill>
          </a:ln>
        </p:spPr>
        <p:txBody>
          <a:bodyPr wrap="square" lIns="0" tIns="0" rIns="0" bIns="0" rtlCol="0" anchor="t">
            <a:noAutofit/>
          </a:bodyPr>
          <a:lstStyle/>
          <a:p>
            <a:endParaRPr lang="es-ES" dirty="0"/>
          </a:p>
        </p:txBody>
      </p:sp>
      <p:sp>
        <p:nvSpPr>
          <p:cNvPr id="82" name="Value 82"/>
          <p:cNvSpPr txBox="1"/>
          <p:nvPr/>
        </p:nvSpPr>
        <p:spPr>
          <a:xfrm>
            <a:off x="5913425" y="4928616"/>
            <a:ext cx="548640" cy="274320"/>
          </a:xfrm>
          <a:prstGeom prst="rect">
            <a:avLst/>
          </a:prstGeom>
          <a:noFill/>
          <a:ln>
            <a:noFill/>
          </a:ln>
        </p:spPr>
        <p:txBody>
          <a:bodyPr wrap="square" lIns="0" tIns="0" rIns="0" bIns="0" rtlCol="0" anchor="ctr">
            <a:noAutofit/>
          </a:bodyPr>
          <a:lstStyle/>
          <a:p>
            <a:pPr algn="l">
              <a:buNone/>
            </a:pPr>
            <a:r>
              <a:rPr lang="es-ES" sz="1100" b="0" i="0" dirty="0">
                <a:solidFill>
                  <a:srgbClr val="15191D"/>
                </a:solidFill>
                <a:latin typeface="Arial"/>
                <a:cs typeface="Arial"/>
              </a:rPr>
              <a:t>0,591</a:t>
            </a:r>
          </a:p>
        </p:txBody>
      </p:sp>
      <p:sp>
        <p:nvSpPr>
          <p:cNvPr id="83" name="Row 83"/>
          <p:cNvSpPr txBox="1"/>
          <p:nvPr/>
        </p:nvSpPr>
        <p:spPr>
          <a:xfrm>
            <a:off x="777240" y="5221224"/>
            <a:ext cx="2011680" cy="27432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Estrecha · 2.ª mirada</a:t>
            </a:r>
          </a:p>
        </p:txBody>
      </p:sp>
      <p:cxnSp>
        <p:nvCxnSpPr>
          <p:cNvPr id="84" name="Line 84"/>
          <p:cNvCxnSpPr/>
          <p:nvPr/>
        </p:nvCxnSpPr>
        <p:spPr>
          <a:xfrm>
            <a:off x="3262579" y="5358384"/>
            <a:ext cx="1815694" cy="0"/>
          </a:xfrm>
          <a:prstGeom prst="line">
            <a:avLst/>
          </a:prstGeom>
          <a:ln w="25400">
            <a:solidFill>
              <a:srgbClr val="15191D"/>
            </a:solidFill>
          </a:ln>
        </p:spPr>
      </p:cxnSp>
      <p:sp>
        <p:nvSpPr>
          <p:cNvPr id="85" name="Point 85"/>
          <p:cNvSpPr/>
          <p:nvPr/>
        </p:nvSpPr>
        <p:spPr>
          <a:xfrm>
            <a:off x="4091635" y="5285232"/>
            <a:ext cx="146304" cy="146304"/>
          </a:xfrm>
          <a:prstGeom prst="ellipse">
            <a:avLst/>
          </a:prstGeom>
          <a:solidFill>
            <a:srgbClr val="15191D"/>
          </a:solidFill>
          <a:ln w="19050">
            <a:solidFill>
              <a:srgbClr val="15191D"/>
            </a:solidFill>
          </a:ln>
        </p:spPr>
        <p:txBody>
          <a:bodyPr wrap="square" lIns="0" tIns="0" rIns="0" bIns="0" rtlCol="0" anchor="t">
            <a:noAutofit/>
          </a:bodyPr>
          <a:lstStyle/>
          <a:p>
            <a:endParaRPr lang="es-ES" dirty="0"/>
          </a:p>
        </p:txBody>
      </p:sp>
      <p:sp>
        <p:nvSpPr>
          <p:cNvPr id="86" name="Value 86"/>
          <p:cNvSpPr txBox="1"/>
          <p:nvPr/>
        </p:nvSpPr>
        <p:spPr>
          <a:xfrm>
            <a:off x="5123993" y="5221224"/>
            <a:ext cx="548640" cy="274320"/>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0,522</a:t>
            </a:r>
          </a:p>
        </p:txBody>
      </p:sp>
      <p:sp>
        <p:nvSpPr>
          <p:cNvPr id="87" name="Legend 87"/>
          <p:cNvSpPr txBox="1"/>
          <p:nvPr/>
        </p:nvSpPr>
        <p:spPr>
          <a:xfrm>
            <a:off x="777240" y="5541264"/>
            <a:ext cx="2103120" cy="320040"/>
          </a:xfrm>
          <a:prstGeom prst="rect">
            <a:avLst/>
          </a:prstGeom>
          <a:noFill/>
          <a:ln>
            <a:noFill/>
          </a:ln>
        </p:spPr>
        <p:txBody>
          <a:bodyPr wrap="square" lIns="0" tIns="0" rIns="0" bIns="0" rtlCol="0" anchor="t">
            <a:noAutofit/>
          </a:bodyPr>
          <a:lstStyle/>
          <a:p>
            <a:pPr algn="l">
              <a:buNone/>
            </a:pPr>
            <a:r>
              <a:rPr lang="es-ES" sz="1200" b="0" i="0" dirty="0">
                <a:solidFill>
                  <a:srgbClr val="DC7867"/>
                </a:solidFill>
                <a:latin typeface="Arial"/>
                <a:cs typeface="Arial"/>
              </a:rPr>
              <a:t>▍</a:t>
            </a:r>
            <a:r>
              <a:rPr lang="es-ES" sz="1100" b="0" i="0" dirty="0">
                <a:solidFill>
                  <a:srgbClr val="4A525B"/>
                </a:solidFill>
                <a:latin typeface="Arial"/>
                <a:cs typeface="Arial"/>
              </a:rPr>
              <a:t> referencia de cohorte</a:t>
            </a:r>
          </a:p>
        </p:txBody>
      </p:sp>
      <p:sp>
        <p:nvSpPr>
          <p:cNvPr id="88" name="Panel 88"/>
          <p:cNvSpPr/>
          <p:nvPr/>
        </p:nvSpPr>
        <p:spPr>
          <a:xfrm>
            <a:off x="6995160" y="3383280"/>
            <a:ext cx="4645152" cy="2487168"/>
          </a:xfrm>
          <a:prstGeom prst="roundRect">
            <a:avLst>
              <a:gd name="adj" fmla="val 5882"/>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89" name="H 89"/>
          <p:cNvSpPr txBox="1"/>
          <p:nvPr/>
        </p:nvSpPr>
        <p:spPr>
          <a:xfrm>
            <a:off x="7251192" y="3456432"/>
            <a:ext cx="4187952" cy="274320"/>
          </a:xfrm>
          <a:prstGeom prst="rect">
            <a:avLst/>
          </a:prstGeom>
          <a:noFill/>
          <a:ln>
            <a:noFill/>
          </a:ln>
        </p:spPr>
        <p:txBody>
          <a:bodyPr wrap="square" lIns="0" tIns="0" rIns="0" bIns="0" rtlCol="0" anchor="t">
            <a:noAutofit/>
          </a:bodyPr>
          <a:lstStyle/>
          <a:p>
            <a:pPr algn="l">
              <a:buNone/>
            </a:pPr>
            <a:r>
              <a:rPr lang="es-ES" sz="1300" b="1" i="0" dirty="0">
                <a:solidFill>
                  <a:srgbClr val="15191D"/>
                </a:solidFill>
                <a:latin typeface="Arial"/>
                <a:cs typeface="Arial"/>
              </a:rPr>
              <a:t>El coste de equivocarse</a:t>
            </a:r>
            <a:r>
              <a:rPr lang="es-ES" sz="1100" b="0" i="0" dirty="0">
                <a:solidFill>
                  <a:srgbClr val="8B9197"/>
                </a:solidFill>
                <a:latin typeface="Arial"/>
                <a:cs typeface="Arial"/>
              </a:rPr>
              <a:t>  test · umbral 0,35</a:t>
            </a:r>
          </a:p>
        </p:txBody>
      </p:sp>
      <p:sp>
        <p:nvSpPr>
          <p:cNvPr id="90" name="Col 90"/>
          <p:cNvSpPr txBox="1"/>
          <p:nvPr/>
        </p:nvSpPr>
        <p:spPr>
          <a:xfrm>
            <a:off x="8412480" y="3739896"/>
            <a:ext cx="1463040" cy="228600"/>
          </a:xfrm>
          <a:prstGeom prst="rect">
            <a:avLst/>
          </a:prstGeom>
          <a:noFill/>
          <a:ln>
            <a:noFill/>
          </a:ln>
        </p:spPr>
        <p:txBody>
          <a:bodyPr wrap="square" lIns="0" tIns="0" rIns="0" bIns="0" rtlCol="0" anchor="t">
            <a:noAutofit/>
          </a:bodyPr>
          <a:lstStyle/>
          <a:p>
            <a:pPr algn="ctr">
              <a:buNone/>
            </a:pPr>
            <a:r>
              <a:rPr lang="es-ES" sz="1000" b="0" i="0" dirty="0">
                <a:solidFill>
                  <a:srgbClr val="8B9197"/>
                </a:solidFill>
                <a:latin typeface="Arial"/>
                <a:cs typeface="Arial"/>
              </a:rPr>
              <a:t>predice no pCR</a:t>
            </a:r>
          </a:p>
        </p:txBody>
      </p:sp>
      <p:sp>
        <p:nvSpPr>
          <p:cNvPr id="91" name="Col 91"/>
          <p:cNvSpPr txBox="1"/>
          <p:nvPr/>
        </p:nvSpPr>
        <p:spPr>
          <a:xfrm>
            <a:off x="9948672" y="3739896"/>
            <a:ext cx="1463040" cy="228600"/>
          </a:xfrm>
          <a:prstGeom prst="rect">
            <a:avLst/>
          </a:prstGeom>
          <a:noFill/>
          <a:ln>
            <a:noFill/>
          </a:ln>
        </p:spPr>
        <p:txBody>
          <a:bodyPr wrap="square" lIns="0" tIns="0" rIns="0" bIns="0" rtlCol="0" anchor="t">
            <a:noAutofit/>
          </a:bodyPr>
          <a:lstStyle/>
          <a:p>
            <a:pPr algn="ctr">
              <a:buNone/>
            </a:pPr>
            <a:r>
              <a:rPr lang="es-ES" sz="1000" b="0" i="0" dirty="0">
                <a:solidFill>
                  <a:srgbClr val="8B9197"/>
                </a:solidFill>
                <a:latin typeface="Arial"/>
                <a:cs typeface="Arial"/>
              </a:rPr>
              <a:t>predice pCR</a:t>
            </a:r>
          </a:p>
        </p:txBody>
      </p:sp>
      <p:sp>
        <p:nvSpPr>
          <p:cNvPr id="92" name="Rowlab 92"/>
          <p:cNvSpPr txBox="1"/>
          <p:nvPr/>
        </p:nvSpPr>
        <p:spPr>
          <a:xfrm>
            <a:off x="7251192" y="3986784"/>
            <a:ext cx="1097280" cy="475488"/>
          </a:xfrm>
          <a:prstGeom prst="rect">
            <a:avLst/>
          </a:prstGeom>
          <a:noFill/>
          <a:ln>
            <a:noFill/>
          </a:ln>
        </p:spPr>
        <p:txBody>
          <a:bodyPr wrap="square" lIns="0" tIns="0" rIns="0" bIns="0" rtlCol="0" anchor="ctr">
            <a:noAutofit/>
          </a:bodyPr>
          <a:lstStyle/>
          <a:p>
            <a:pPr algn="l">
              <a:buNone/>
            </a:pPr>
            <a:r>
              <a:rPr lang="es-ES" sz="1000" b="0" i="0" dirty="0">
                <a:solidFill>
                  <a:srgbClr val="8B9197"/>
                </a:solidFill>
                <a:latin typeface="Arial"/>
                <a:cs typeface="Arial"/>
              </a:rPr>
              <a:t>real no pCR</a:t>
            </a:r>
          </a:p>
        </p:txBody>
      </p:sp>
      <p:sp>
        <p:nvSpPr>
          <p:cNvPr id="93" name="Rowlab 93"/>
          <p:cNvSpPr txBox="1"/>
          <p:nvPr/>
        </p:nvSpPr>
        <p:spPr>
          <a:xfrm>
            <a:off x="7251192" y="4535424"/>
            <a:ext cx="1097280" cy="475488"/>
          </a:xfrm>
          <a:prstGeom prst="rect">
            <a:avLst/>
          </a:prstGeom>
          <a:noFill/>
          <a:ln>
            <a:noFill/>
          </a:ln>
        </p:spPr>
        <p:txBody>
          <a:bodyPr wrap="square" lIns="0" tIns="0" rIns="0" bIns="0" rtlCol="0" anchor="ctr">
            <a:noAutofit/>
          </a:bodyPr>
          <a:lstStyle/>
          <a:p>
            <a:pPr algn="l">
              <a:buNone/>
            </a:pPr>
            <a:r>
              <a:rPr lang="es-ES" sz="1000" b="0" i="0" dirty="0">
                <a:solidFill>
                  <a:srgbClr val="8B9197"/>
                </a:solidFill>
                <a:latin typeface="Arial"/>
                <a:cs typeface="Arial"/>
              </a:rPr>
              <a:t>real pCR</a:t>
            </a:r>
          </a:p>
        </p:txBody>
      </p:sp>
      <p:sp>
        <p:nvSpPr>
          <p:cNvPr id="94" name="Cell 94"/>
          <p:cNvSpPr/>
          <p:nvPr/>
        </p:nvSpPr>
        <p:spPr>
          <a:xfrm>
            <a:off x="8412480" y="3986784"/>
            <a:ext cx="1463040" cy="475488"/>
          </a:xfrm>
          <a:prstGeom prst="roundRect">
            <a:avLst>
              <a:gd name="adj" fmla="val 15384"/>
            </a:avLst>
          </a:prstGeom>
          <a:solidFill>
            <a:srgbClr val="23656E">
              <a:alpha val="22000"/>
            </a:srgbClr>
          </a:solidFill>
          <a:ln>
            <a:noFill/>
          </a:ln>
        </p:spPr>
        <p:txBody>
          <a:bodyPr wrap="square" lIns="0" tIns="0" rIns="0" bIns="0" rtlCol="0" anchor="ctr">
            <a:noAutofit/>
          </a:bodyPr>
          <a:lstStyle/>
          <a:p>
            <a:pPr algn="ctr">
              <a:buNone/>
            </a:pPr>
            <a:r>
              <a:rPr lang="es-ES" sz="1700" b="1" i="0" dirty="0">
                <a:solidFill>
                  <a:srgbClr val="15191D"/>
                </a:solidFill>
                <a:latin typeface="Arial"/>
                <a:cs typeface="Arial"/>
              </a:rPr>
              <a:t>114</a:t>
            </a:r>
            <a:r>
              <a:rPr lang="es-ES" sz="1000" b="0" i="0" dirty="0">
                <a:solidFill>
                  <a:srgbClr val="4A525B"/>
                </a:solidFill>
                <a:latin typeface="Arial"/>
                <a:cs typeface="Arial"/>
              </a:rPr>
              <a:t>  aciertos</a:t>
            </a:r>
          </a:p>
        </p:txBody>
      </p:sp>
      <p:sp>
        <p:nvSpPr>
          <p:cNvPr id="95" name="Cell 95"/>
          <p:cNvSpPr/>
          <p:nvPr/>
        </p:nvSpPr>
        <p:spPr>
          <a:xfrm>
            <a:off x="9948672" y="3986784"/>
            <a:ext cx="1463040" cy="475488"/>
          </a:xfrm>
          <a:prstGeom prst="roundRect">
            <a:avLst>
              <a:gd name="adj" fmla="val 15384"/>
            </a:avLst>
          </a:prstGeom>
          <a:solidFill>
            <a:srgbClr val="FFFFFF">
              <a:alpha val="80000"/>
            </a:srgbClr>
          </a:solidFill>
          <a:ln w="9525">
            <a:solidFill>
              <a:srgbClr val="15191D">
                <a:alpha val="35000"/>
              </a:srgbClr>
            </a:solidFill>
            <a:prstDash val="dash"/>
          </a:ln>
        </p:spPr>
        <p:txBody>
          <a:bodyPr wrap="square" lIns="0" tIns="0" rIns="0" bIns="0" rtlCol="0" anchor="ctr">
            <a:noAutofit/>
          </a:bodyPr>
          <a:lstStyle/>
          <a:p>
            <a:pPr algn="ctr">
              <a:buNone/>
            </a:pPr>
            <a:r>
              <a:rPr lang="es-ES" sz="1700" b="1" i="0" dirty="0">
                <a:solidFill>
                  <a:srgbClr val="15191D"/>
                </a:solidFill>
                <a:latin typeface="Arial"/>
                <a:cs typeface="Arial"/>
              </a:rPr>
              <a:t>9</a:t>
            </a:r>
            <a:r>
              <a:rPr lang="es-ES" sz="1000" b="0" i="0" dirty="0">
                <a:solidFill>
                  <a:srgbClr val="4A525B"/>
                </a:solidFill>
                <a:latin typeface="Arial"/>
                <a:cs typeface="Arial"/>
              </a:rPr>
              <a:t>  falsos positivos</a:t>
            </a:r>
          </a:p>
        </p:txBody>
      </p:sp>
      <p:sp>
        <p:nvSpPr>
          <p:cNvPr id="96" name="Cell 96"/>
          <p:cNvSpPr/>
          <p:nvPr/>
        </p:nvSpPr>
        <p:spPr>
          <a:xfrm>
            <a:off x="8412480" y="4535424"/>
            <a:ext cx="1463040" cy="475488"/>
          </a:xfrm>
          <a:prstGeom prst="roundRect">
            <a:avLst>
              <a:gd name="adj" fmla="val 15384"/>
            </a:avLst>
          </a:prstGeom>
          <a:solidFill>
            <a:srgbClr val="FFFFFF">
              <a:alpha val="80000"/>
            </a:srgbClr>
          </a:solidFill>
          <a:ln w="9525">
            <a:solidFill>
              <a:srgbClr val="15191D">
                <a:alpha val="35000"/>
              </a:srgbClr>
            </a:solidFill>
            <a:prstDash val="dash"/>
          </a:ln>
        </p:spPr>
        <p:txBody>
          <a:bodyPr wrap="square" lIns="0" tIns="0" rIns="0" bIns="0" rtlCol="0" anchor="ctr">
            <a:noAutofit/>
          </a:bodyPr>
          <a:lstStyle/>
          <a:p>
            <a:pPr algn="ctr">
              <a:buNone/>
            </a:pPr>
            <a:r>
              <a:rPr lang="es-ES" sz="1700" b="1" i="0" dirty="0">
                <a:solidFill>
                  <a:srgbClr val="15191D"/>
                </a:solidFill>
                <a:latin typeface="Arial"/>
                <a:cs typeface="Arial"/>
              </a:rPr>
              <a:t>48</a:t>
            </a:r>
            <a:r>
              <a:rPr lang="es-ES" sz="1000" b="0" i="0" dirty="0">
                <a:solidFill>
                  <a:srgbClr val="4A525B"/>
                </a:solidFill>
                <a:latin typeface="Arial"/>
                <a:cs typeface="Arial"/>
              </a:rPr>
              <a:t>  falsos negativos</a:t>
            </a:r>
          </a:p>
        </p:txBody>
      </p:sp>
      <p:sp>
        <p:nvSpPr>
          <p:cNvPr id="97" name="Cell 97"/>
          <p:cNvSpPr/>
          <p:nvPr/>
        </p:nvSpPr>
        <p:spPr>
          <a:xfrm>
            <a:off x="9948672" y="4535424"/>
            <a:ext cx="1463040" cy="475488"/>
          </a:xfrm>
          <a:prstGeom prst="roundRect">
            <a:avLst>
              <a:gd name="adj" fmla="val 15384"/>
            </a:avLst>
          </a:prstGeom>
          <a:solidFill>
            <a:srgbClr val="DC7867">
              <a:alpha val="30000"/>
            </a:srgbClr>
          </a:solidFill>
          <a:ln>
            <a:noFill/>
          </a:ln>
        </p:spPr>
        <p:txBody>
          <a:bodyPr wrap="square" lIns="0" tIns="0" rIns="0" bIns="0" rtlCol="0" anchor="ctr">
            <a:noAutofit/>
          </a:bodyPr>
          <a:lstStyle/>
          <a:p>
            <a:pPr algn="ctr">
              <a:buNone/>
            </a:pPr>
            <a:r>
              <a:rPr lang="es-ES" sz="1700" b="1" i="0" dirty="0">
                <a:solidFill>
                  <a:srgbClr val="15191D"/>
                </a:solidFill>
                <a:latin typeface="Arial"/>
                <a:cs typeface="Arial"/>
              </a:rPr>
              <a:t>5</a:t>
            </a:r>
            <a:r>
              <a:rPr lang="es-ES" sz="1000" b="0" i="0" dirty="0">
                <a:solidFill>
                  <a:srgbClr val="4A525B"/>
                </a:solidFill>
                <a:latin typeface="Arial"/>
                <a:cs typeface="Arial"/>
              </a:rPr>
              <a:t>  aciertos</a:t>
            </a:r>
          </a:p>
        </p:txBody>
      </p:sp>
      <p:sp>
        <p:nvSpPr>
          <p:cNvPr id="98" name="Errors 98"/>
          <p:cNvSpPr txBox="1"/>
          <p:nvPr/>
        </p:nvSpPr>
        <p:spPr>
          <a:xfrm>
            <a:off x="7251192" y="5084064"/>
            <a:ext cx="4187952" cy="768096"/>
          </a:xfrm>
          <a:prstGeom prst="rect">
            <a:avLst/>
          </a:prstGeom>
          <a:noFill/>
          <a:ln>
            <a:noFill/>
          </a:ln>
        </p:spPr>
        <p:txBody>
          <a:bodyPr wrap="square" lIns="0" tIns="0" rIns="0" bIns="0" rtlCol="0" anchor="t">
            <a:noAutofit/>
          </a:bodyPr>
          <a:lstStyle/>
          <a:p>
            <a:pPr algn="l">
              <a:lnSpc>
                <a:spcPct val="95000"/>
              </a:lnSpc>
              <a:spcAft>
                <a:spcPts val="200"/>
              </a:spcAft>
              <a:buNone/>
            </a:pPr>
            <a:r>
              <a:rPr lang="es-ES" sz="1100" b="1" i="0" dirty="0">
                <a:solidFill>
                  <a:srgbClr val="15191D"/>
                </a:solidFill>
                <a:latin typeface="Arial"/>
                <a:cs typeface="Arial"/>
              </a:rPr>
              <a:t>Falso positivo: </a:t>
            </a:r>
            <a:r>
              <a:rPr lang="es-ES" sz="1100" b="0" i="0" dirty="0">
                <a:solidFill>
                  <a:srgbClr val="4A525B"/>
                </a:solidFill>
                <a:latin typeface="Arial"/>
                <a:cs typeface="Arial"/>
              </a:rPr>
              <a:t>anuncia una pCR que no llega</a:t>
            </a:r>
          </a:p>
          <a:p>
            <a:pPr algn="l">
              <a:lnSpc>
                <a:spcPct val="95000"/>
              </a:lnSpc>
              <a:spcAft>
                <a:spcPts val="200"/>
              </a:spcAft>
              <a:buNone/>
            </a:pPr>
            <a:r>
              <a:rPr lang="es-ES" sz="1100" b="1" i="0" dirty="0">
                <a:solidFill>
                  <a:srgbClr val="15191D"/>
                </a:solidFill>
                <a:latin typeface="Arial"/>
                <a:cs typeface="Arial"/>
              </a:rPr>
              <a:t>Falso negativo: </a:t>
            </a:r>
            <a:r>
              <a:rPr lang="es-ES" sz="1100" b="0" i="0" dirty="0">
                <a:solidFill>
                  <a:srgbClr val="4A525B"/>
                </a:solidFill>
                <a:latin typeface="Arial"/>
                <a:cs typeface="Arial"/>
              </a:rPr>
              <a:t>no reconoce a una paciente que sí responde</a:t>
            </a:r>
          </a:p>
          <a:p>
            <a:pPr algn="l">
              <a:lnSpc>
                <a:spcPct val="95000"/>
              </a:lnSpc>
              <a:buNone/>
            </a:pPr>
            <a:r>
              <a:rPr lang="es-ES" sz="1100" b="0" i="1" dirty="0">
                <a:solidFill>
                  <a:srgbClr val="4A525B"/>
                </a:solidFill>
                <a:latin typeface="Arial"/>
                <a:cs typeface="Arial"/>
              </a:rPr>
              <a:t>El umbral prioriza la especificidad (92,7 % en test) frente a la sensibilidad (9,4 %)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DEFF1"/>
        </a:solidFill>
        <a:effectLst/>
      </p:bgPr>
    </p:bg>
    <p:spTree>
      <p:nvGrpSpPr>
        <p:cNvPr id="1" name=""/>
        <p:cNvGrpSpPr/>
        <p:nvPr/>
      </p:nvGrpSpPr>
      <p:grpSpPr>
        <a:xfrm>
          <a:off x="0" y="0"/>
          <a:ext cx="0" cy="0"/>
          <a:chOff x="0" y="0"/>
          <a:chExt cx="0" cy="0"/>
        </a:xfrm>
      </p:grpSpPr>
      <p:sp>
        <p:nvSpPr>
          <p:cNvPr id="3" name="Blob 3"/>
          <p:cNvSpPr/>
          <p:nvPr/>
        </p:nvSpPr>
        <p:spPr>
          <a:xfrm>
            <a:off x="7863840" y="-1463040"/>
            <a:ext cx="5669280" cy="4572000"/>
          </a:xfrm>
          <a:prstGeom prst="ellipse">
            <a:avLst/>
          </a:prstGeom>
          <a:solidFill>
            <a:srgbClr val="D6E4E6">
              <a:alpha val="80000"/>
            </a:srgbClr>
          </a:solidFill>
          <a:ln>
            <a:noFill/>
          </a:ln>
          <a:effectLst>
            <a:softEdge rad="1280160"/>
          </a:effectLst>
        </p:spPr>
        <p:txBody>
          <a:bodyPr wrap="square" lIns="0" tIns="0" rIns="0" bIns="0" rtlCol="0" anchor="t">
            <a:noAutofit/>
          </a:bodyPr>
          <a:lstStyle/>
          <a:p>
            <a:endParaRPr lang="es-ES" dirty="0"/>
          </a:p>
        </p:txBody>
      </p:sp>
      <p:sp>
        <p:nvSpPr>
          <p:cNvPr id="4" name="Blob 4"/>
          <p:cNvSpPr/>
          <p:nvPr/>
        </p:nvSpPr>
        <p:spPr>
          <a:xfrm>
            <a:off x="-1645920" y="3566160"/>
            <a:ext cx="5852160" cy="4206240"/>
          </a:xfrm>
          <a:prstGeom prst="ellipse">
            <a:avLst/>
          </a:prstGeom>
          <a:solidFill>
            <a:srgbClr val="E6E0EE">
              <a:alpha val="80000"/>
            </a:srgbClr>
          </a:solidFill>
          <a:ln>
            <a:noFill/>
          </a:ln>
          <a:effectLst>
            <a:softEdge rad="1280160"/>
          </a:effectLst>
        </p:spPr>
        <p:txBody>
          <a:bodyPr wrap="square" lIns="0" tIns="0" rIns="0" bIns="0" rtlCol="0" anchor="t">
            <a:noAutofit/>
          </a:bodyPr>
          <a:lstStyle/>
          <a:p>
            <a:endParaRPr lang="es-ES" dirty="0"/>
          </a:p>
        </p:txBody>
      </p:sp>
      <p:sp>
        <p:nvSpPr>
          <p:cNvPr id="5" name="Blob 5"/>
          <p:cNvSpPr/>
          <p:nvPr/>
        </p:nvSpPr>
        <p:spPr>
          <a:xfrm>
            <a:off x="4754880" y="4206240"/>
            <a:ext cx="4937760" cy="3291840"/>
          </a:xfrm>
          <a:prstGeom prst="ellipse">
            <a:avLst/>
          </a:prstGeom>
          <a:solidFill>
            <a:srgbClr val="ECE5DC">
              <a:alpha val="70000"/>
            </a:srgbClr>
          </a:solidFill>
          <a:ln>
            <a:noFill/>
          </a:ln>
          <a:effectLst>
            <a:softEdge rad="1280160"/>
          </a:effectLst>
        </p:spPr>
        <p:txBody>
          <a:bodyPr wrap="square" lIns="0" tIns="0" rIns="0" bIns="0" rtlCol="0" anchor="t">
            <a:noAutofit/>
          </a:bodyPr>
          <a:lstStyle/>
          <a:p>
            <a:endParaRPr lang="es-ES" dirty="0"/>
          </a:p>
        </p:txBody>
      </p:sp>
      <p:sp>
        <p:nvSpPr>
          <p:cNvPr id="6" name="Kicker 6"/>
          <p:cNvSpPr txBox="1"/>
          <p:nvPr/>
        </p:nvSpPr>
        <p:spPr>
          <a:xfrm>
            <a:off x="548640" y="347472"/>
            <a:ext cx="8686800" cy="292608"/>
          </a:xfrm>
          <a:prstGeom prst="rect">
            <a:avLst/>
          </a:prstGeom>
          <a:noFill/>
          <a:ln>
            <a:noFill/>
          </a:ln>
        </p:spPr>
        <p:txBody>
          <a:bodyPr wrap="square" lIns="0" tIns="0" rIns="0" bIns="0" rtlCol="0" anchor="t">
            <a:noAutofit/>
          </a:bodyPr>
          <a:lstStyle/>
          <a:p>
            <a:pPr algn="l">
              <a:buNone/>
            </a:pPr>
            <a:r>
              <a:rPr lang="es-ES" sz="1300" b="0" i="0" dirty="0">
                <a:solidFill>
                  <a:srgbClr val="4A525B"/>
                </a:solidFill>
                <a:latin typeface="Arial"/>
                <a:cs typeface="Arial"/>
              </a:rPr>
              <a:t>5 · Aplicación, limitaciones y propuesta de mejora</a:t>
            </a:r>
          </a:p>
        </p:txBody>
      </p:sp>
      <p:sp>
        <p:nvSpPr>
          <p:cNvPr id="7" name="Title 7"/>
          <p:cNvSpPr txBox="1"/>
          <p:nvPr/>
        </p:nvSpPr>
        <p:spPr>
          <a:xfrm>
            <a:off x="548640" y="621792"/>
            <a:ext cx="11064240" cy="914400"/>
          </a:xfrm>
          <a:prstGeom prst="rect">
            <a:avLst/>
          </a:prstGeom>
          <a:noFill/>
          <a:ln>
            <a:noFill/>
          </a:ln>
        </p:spPr>
        <p:txBody>
          <a:bodyPr wrap="square" lIns="0" tIns="0" rIns="0" bIns="0" rtlCol="0" anchor="t">
            <a:noAutofit/>
          </a:bodyPr>
          <a:lstStyle/>
          <a:p>
            <a:pPr algn="l">
              <a:lnSpc>
                <a:spcPct val="95000"/>
              </a:lnSpc>
              <a:buNone/>
            </a:pPr>
            <a:r>
              <a:rPr lang="es-ES" sz="2500" b="1" i="0" dirty="0">
                <a:solidFill>
                  <a:srgbClr val="15191D"/>
                </a:solidFill>
                <a:latin typeface="Arial"/>
                <a:cs typeface="Arial"/>
              </a:rPr>
              <a:t>Lector pCR ya funciona, pero acierta poco; si viera el tumor completo, un hospital podría ahorrar unos 200.000 € al año</a:t>
            </a:r>
          </a:p>
        </p:txBody>
      </p:sp>
      <p:sp>
        <p:nvSpPr>
          <p:cNvPr id="8" name="Page 8"/>
          <p:cNvSpPr txBox="1"/>
          <p:nvPr/>
        </p:nvSpPr>
        <p:spPr>
          <a:xfrm>
            <a:off x="548640" y="6355080"/>
            <a:ext cx="1828800" cy="274320"/>
          </a:xfrm>
          <a:prstGeom prst="rect">
            <a:avLst/>
          </a:prstGeom>
          <a:noFill/>
          <a:ln>
            <a:noFill/>
          </a:ln>
        </p:spPr>
        <p:txBody>
          <a:bodyPr wrap="square" lIns="0" tIns="0" rIns="0" bIns="0" rtlCol="0" anchor="t">
            <a:noAutofit/>
          </a:bodyPr>
          <a:lstStyle/>
          <a:p>
            <a:pPr algn="l">
              <a:buNone/>
            </a:pPr>
            <a:r>
              <a:rPr lang="es-ES" sz="1100" b="0" i="0" dirty="0">
                <a:solidFill>
                  <a:srgbClr val="8B9197"/>
                </a:solidFill>
                <a:latin typeface="Arial"/>
                <a:cs typeface="Arial"/>
              </a:rPr>
              <a:t>5 / 5</a:t>
            </a:r>
          </a:p>
        </p:txBody>
      </p:sp>
      <p:sp>
        <p:nvSpPr>
          <p:cNvPr id="9" name="Panel 9"/>
          <p:cNvSpPr/>
          <p:nvPr/>
        </p:nvSpPr>
        <p:spPr>
          <a:xfrm>
            <a:off x="548640" y="1691640"/>
            <a:ext cx="3611880" cy="3538728"/>
          </a:xfrm>
          <a:prstGeom prst="roundRect">
            <a:avLst>
              <a:gd name="adj" fmla="val 4134"/>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10" name="H 10"/>
          <p:cNvSpPr txBox="1"/>
          <p:nvPr/>
        </p:nvSpPr>
        <p:spPr>
          <a:xfrm>
            <a:off x="777240" y="1783080"/>
            <a:ext cx="3154680" cy="274320"/>
          </a:xfrm>
          <a:prstGeom prst="rect">
            <a:avLst/>
          </a:prstGeom>
          <a:noFill/>
          <a:ln>
            <a:noFill/>
          </a:ln>
        </p:spPr>
        <p:txBody>
          <a:bodyPr wrap="square" lIns="0" tIns="0" rIns="0" bIns="0" rtlCol="0" anchor="t">
            <a:noAutofit/>
          </a:bodyPr>
          <a:lstStyle/>
          <a:p>
            <a:pPr algn="l">
              <a:buNone/>
            </a:pPr>
            <a:r>
              <a:rPr lang="es-ES" sz="1400" b="1" i="0" dirty="0">
                <a:solidFill>
                  <a:srgbClr val="15191D"/>
                </a:solidFill>
                <a:latin typeface="Arial"/>
                <a:cs typeface="Arial"/>
              </a:rPr>
              <a:t>Lector pCR, hoy</a:t>
            </a:r>
          </a:p>
        </p:txBody>
      </p:sp>
      <p:pic>
        <p:nvPicPr>
          <p:cNvPr id="11" name="Lector pCR en el navegador 11" descr="Lector pCR en el navegador"/>
          <p:cNvPicPr>
            <a:picLocks noChangeAspect="1"/>
          </p:cNvPicPr>
          <p:nvPr/>
        </p:nvPicPr>
        <p:blipFill>
          <a:blip r:embed="rId3"/>
          <a:stretch>
            <a:fillRect/>
          </a:stretch>
        </p:blipFill>
        <p:spPr>
          <a:xfrm>
            <a:off x="777240" y="2148840"/>
            <a:ext cx="3154680" cy="2072450"/>
          </a:xfrm>
          <a:prstGeom prst="rect">
            <a:avLst/>
          </a:prstGeom>
        </p:spPr>
      </p:pic>
      <p:sp>
        <p:nvSpPr>
          <p:cNvPr id="12" name="Link 12"/>
          <p:cNvSpPr txBox="1"/>
          <p:nvPr/>
        </p:nvSpPr>
        <p:spPr>
          <a:xfrm>
            <a:off x="777240" y="4270248"/>
            <a:ext cx="3154680" cy="237744"/>
          </a:xfrm>
          <a:prstGeom prst="rect">
            <a:avLst/>
          </a:prstGeom>
          <a:noFill/>
          <a:ln>
            <a:noFill/>
          </a:ln>
        </p:spPr>
        <p:txBody>
          <a:bodyPr wrap="square" lIns="0" tIns="0" rIns="0" bIns="0" rtlCol="0" anchor="t">
            <a:noAutofit/>
          </a:bodyPr>
          <a:lstStyle/>
          <a:p>
            <a:pPr algn="l">
              <a:buNone/>
            </a:pPr>
            <a:r>
              <a:rPr lang="es-ES" sz="1100" b="1" i="0" u="sng" dirty="0">
                <a:latin typeface="Arial"/>
                <a:cs typeface="Arial"/>
                <a:hlinkClick r:id="rId4">
                  <a:extLst>
                    <a:ext uri="{A12FA001-AC4F-418D-AE19-62706E023703}">
                      <ahyp:hlinkClr xmlns:ahyp="http://schemas.microsoft.com/office/drawing/2018/hyperlinkcolor" val="tx"/>
                    </a:ext>
                  </a:extLst>
                </a:hlinkClick>
              </a:rPr>
              <a:t>alejandrobarreche.github.io/breast-cnn</a:t>
            </a:r>
          </a:p>
        </p:txBody>
      </p:sp>
      <p:sp>
        <p:nvSpPr>
          <p:cNvPr id="13" name="Bullet 13"/>
          <p:cNvSpPr/>
          <p:nvPr/>
        </p:nvSpPr>
        <p:spPr>
          <a:xfrm>
            <a:off x="795528" y="4608576"/>
            <a:ext cx="54864" cy="54864"/>
          </a:xfrm>
          <a:prstGeom prst="ellipse">
            <a:avLst/>
          </a:prstGeom>
          <a:solidFill>
            <a:srgbClr val="15191D"/>
          </a:solidFill>
          <a:ln>
            <a:noFill/>
          </a:ln>
        </p:spPr>
        <p:txBody>
          <a:bodyPr wrap="square" lIns="0" tIns="0" rIns="0" bIns="0" rtlCol="0" anchor="t">
            <a:noAutofit/>
          </a:bodyPr>
          <a:lstStyle/>
          <a:p>
            <a:endParaRPr lang="es-ES" dirty="0"/>
          </a:p>
        </p:txBody>
      </p:sp>
      <p:sp>
        <p:nvSpPr>
          <p:cNvPr id="14" name="Limit text 14"/>
          <p:cNvSpPr txBox="1"/>
          <p:nvPr/>
        </p:nvSpPr>
        <p:spPr>
          <a:xfrm>
            <a:off x="932688" y="4526280"/>
            <a:ext cx="3063240"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Acierta poco</a:t>
            </a:r>
            <a:r>
              <a:rPr lang="es-ES" sz="1000" b="0" i="0" dirty="0">
                <a:solidFill>
                  <a:srgbClr val="4A525B"/>
                </a:solidFill>
                <a:latin typeface="Arial"/>
                <a:cs typeface="Arial"/>
              </a:rPr>
              <a:t>  detecta 5 de 53 pCR en test</a:t>
            </a:r>
          </a:p>
        </p:txBody>
      </p:sp>
      <p:sp>
        <p:nvSpPr>
          <p:cNvPr id="15" name="Bullet 15"/>
          <p:cNvSpPr/>
          <p:nvPr/>
        </p:nvSpPr>
        <p:spPr>
          <a:xfrm>
            <a:off x="795528" y="4837176"/>
            <a:ext cx="54864" cy="54864"/>
          </a:xfrm>
          <a:prstGeom prst="ellipse">
            <a:avLst/>
          </a:prstGeom>
          <a:solidFill>
            <a:srgbClr val="15191D"/>
          </a:solidFill>
          <a:ln>
            <a:noFill/>
          </a:ln>
        </p:spPr>
        <p:txBody>
          <a:bodyPr wrap="square" lIns="0" tIns="0" rIns="0" bIns="0" rtlCol="0" anchor="t">
            <a:noAutofit/>
          </a:bodyPr>
          <a:lstStyle/>
          <a:p>
            <a:endParaRPr lang="es-ES" dirty="0"/>
          </a:p>
        </p:txBody>
      </p:sp>
      <p:sp>
        <p:nvSpPr>
          <p:cNvPr id="16" name="Limit text 16"/>
          <p:cNvSpPr txBox="1"/>
          <p:nvPr/>
        </p:nvSpPr>
        <p:spPr>
          <a:xfrm>
            <a:off x="932688" y="4754880"/>
            <a:ext cx="3063240"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Ve un corte</a:t>
            </a:r>
            <a:r>
              <a:rPr lang="es-ES" sz="1000" b="0" i="0" dirty="0">
                <a:solidFill>
                  <a:srgbClr val="4A525B"/>
                </a:solidFill>
                <a:latin typeface="Arial"/>
                <a:cs typeface="Arial"/>
              </a:rPr>
              <a:t>  una imagen 2D, no el tumor en 3D</a:t>
            </a:r>
          </a:p>
        </p:txBody>
      </p:sp>
      <p:sp>
        <p:nvSpPr>
          <p:cNvPr id="17" name="Bullet 17"/>
          <p:cNvSpPr/>
          <p:nvPr/>
        </p:nvSpPr>
        <p:spPr>
          <a:xfrm>
            <a:off x="795528" y="5065776"/>
            <a:ext cx="54864" cy="54864"/>
          </a:xfrm>
          <a:prstGeom prst="ellipse">
            <a:avLst/>
          </a:prstGeom>
          <a:solidFill>
            <a:srgbClr val="15191D"/>
          </a:solidFill>
          <a:ln>
            <a:noFill/>
          </a:ln>
        </p:spPr>
        <p:txBody>
          <a:bodyPr wrap="square" lIns="0" tIns="0" rIns="0" bIns="0" rtlCol="0" anchor="t">
            <a:noAutofit/>
          </a:bodyPr>
          <a:lstStyle/>
          <a:p>
            <a:endParaRPr lang="es-ES" dirty="0"/>
          </a:p>
        </p:txBody>
      </p:sp>
      <p:sp>
        <p:nvSpPr>
          <p:cNvPr id="18" name="Limit text 18"/>
          <p:cNvSpPr txBox="1"/>
          <p:nvPr/>
        </p:nvSpPr>
        <p:spPr>
          <a:xfrm>
            <a:off x="932688" y="4983480"/>
            <a:ext cx="3063240" cy="219456"/>
          </a:xfrm>
          <a:prstGeom prst="rect">
            <a:avLst/>
          </a:prstGeom>
          <a:noFill/>
          <a:ln>
            <a:noFill/>
          </a:ln>
        </p:spPr>
        <p:txBody>
          <a:bodyPr wrap="square" lIns="0" tIns="0" rIns="0" bIns="0" rtlCol="0" anchor="ctr">
            <a:noAutofit/>
          </a:bodyPr>
          <a:lstStyle/>
          <a:p>
            <a:pPr algn="l">
              <a:buNone/>
            </a:pPr>
            <a:r>
              <a:rPr lang="es-ES" sz="1100" b="1" i="0" dirty="0">
                <a:solidFill>
                  <a:srgbClr val="15191D"/>
                </a:solidFill>
                <a:latin typeface="Arial"/>
                <a:cs typeface="Arial"/>
              </a:rPr>
              <a:t>Aprende el hospital</a:t>
            </a:r>
            <a:r>
              <a:rPr lang="es-ES" sz="1000" b="0" i="0" dirty="0">
                <a:solidFill>
                  <a:srgbClr val="4A525B"/>
                </a:solidFill>
                <a:latin typeface="Arial"/>
                <a:cs typeface="Arial"/>
              </a:rPr>
              <a:t>  y no solo la imagen</a:t>
            </a:r>
          </a:p>
        </p:txBody>
      </p:sp>
      <p:sp>
        <p:nvSpPr>
          <p:cNvPr id="19" name="Panel 19"/>
          <p:cNvSpPr/>
          <p:nvPr/>
        </p:nvSpPr>
        <p:spPr>
          <a:xfrm>
            <a:off x="4288536" y="1691640"/>
            <a:ext cx="3611880" cy="3538728"/>
          </a:xfrm>
          <a:prstGeom prst="roundRect">
            <a:avLst>
              <a:gd name="adj" fmla="val 4134"/>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20" name="H 20"/>
          <p:cNvSpPr txBox="1"/>
          <p:nvPr/>
        </p:nvSpPr>
        <p:spPr>
          <a:xfrm>
            <a:off x="4517136" y="1783080"/>
            <a:ext cx="3154680" cy="274320"/>
          </a:xfrm>
          <a:prstGeom prst="rect">
            <a:avLst/>
          </a:prstGeom>
          <a:noFill/>
          <a:ln>
            <a:noFill/>
          </a:ln>
        </p:spPr>
        <p:txBody>
          <a:bodyPr wrap="square" lIns="0" tIns="0" rIns="0" bIns="0" rtlCol="0" anchor="t">
            <a:noAutofit/>
          </a:bodyPr>
          <a:lstStyle/>
          <a:p>
            <a:pPr algn="l">
              <a:buNone/>
            </a:pPr>
            <a:r>
              <a:rPr lang="es-ES" sz="1400" b="1" i="0" dirty="0">
                <a:solidFill>
                  <a:srgbClr val="15191D"/>
                </a:solidFill>
                <a:latin typeface="Arial"/>
                <a:cs typeface="Arial"/>
              </a:rPr>
              <a:t>Mejora propuesta</a:t>
            </a:r>
          </a:p>
        </p:txBody>
      </p:sp>
      <p:sp>
        <p:nvSpPr>
          <p:cNvPr id="21" name="Step 21"/>
          <p:cNvSpPr/>
          <p:nvPr/>
        </p:nvSpPr>
        <p:spPr>
          <a:xfrm>
            <a:off x="4517136" y="2194560"/>
            <a:ext cx="457200" cy="457200"/>
          </a:xfrm>
          <a:prstGeom prst="ellipse">
            <a:avLst/>
          </a:prstGeom>
          <a:solidFill>
            <a:srgbClr val="15191D"/>
          </a:solidFill>
          <a:ln>
            <a:noFill/>
          </a:ln>
        </p:spPr>
        <p:txBody>
          <a:bodyPr wrap="square" lIns="0" tIns="0" rIns="0" bIns="0" rtlCol="0" anchor="t">
            <a:noAutofit/>
          </a:bodyPr>
          <a:lstStyle/>
          <a:p>
            <a:endParaRPr lang="es-ES" dirty="0"/>
          </a:p>
        </p:txBody>
      </p:sp>
      <p:pic>
        <p:nvPicPr>
          <p:cNvPr id="22" name="Tumor completo en 3D 22" descr="Tumor completo en 3D"/>
          <p:cNvPicPr>
            <a:picLocks noChangeAspect="1"/>
          </p:cNvPicPr>
          <p:nvPr/>
        </p:nvPicPr>
        <p:blipFill>
          <a:blip r:embed="rId5"/>
          <a:stretch>
            <a:fillRect/>
          </a:stretch>
        </p:blipFill>
        <p:spPr>
          <a:xfrm>
            <a:off x="4617720" y="2295144"/>
            <a:ext cx="256032" cy="256032"/>
          </a:xfrm>
          <a:prstGeom prst="rect">
            <a:avLst/>
          </a:prstGeom>
        </p:spPr>
      </p:pic>
      <p:sp>
        <p:nvSpPr>
          <p:cNvPr id="23" name="Step text 23"/>
          <p:cNvSpPr txBox="1"/>
          <p:nvPr/>
        </p:nvSpPr>
        <p:spPr>
          <a:xfrm>
            <a:off x="5093208" y="2157984"/>
            <a:ext cx="1965960" cy="54864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Tumor completo en 3D</a:t>
            </a:r>
          </a:p>
          <a:p>
            <a:pPr algn="l">
              <a:buNone/>
            </a:pPr>
            <a:r>
              <a:rPr lang="es-ES" sz="1100" b="0" i="0" dirty="0">
                <a:solidFill>
                  <a:srgbClr val="4A525B"/>
                </a:solidFill>
                <a:latin typeface="Arial"/>
                <a:cs typeface="Arial"/>
              </a:rPr>
              <a:t>2.070 resonancias públicas</a:t>
            </a:r>
          </a:p>
        </p:txBody>
      </p:sp>
      <p:sp>
        <p:nvSpPr>
          <p:cNvPr id="24" name="Cost 24"/>
          <p:cNvSpPr txBox="1"/>
          <p:nvPr/>
        </p:nvSpPr>
        <p:spPr>
          <a:xfrm>
            <a:off x="7031736" y="2194560"/>
            <a:ext cx="640080" cy="457200"/>
          </a:xfrm>
          <a:prstGeom prst="rect">
            <a:avLst/>
          </a:prstGeom>
          <a:noFill/>
          <a:ln>
            <a:noFill/>
          </a:ln>
        </p:spPr>
        <p:txBody>
          <a:bodyPr wrap="square" lIns="0" tIns="0" rIns="0" bIns="0" rtlCol="0" anchor="ctr">
            <a:noAutofit/>
          </a:bodyPr>
          <a:lstStyle/>
          <a:p>
            <a:pPr algn="r">
              <a:buNone/>
            </a:pPr>
            <a:r>
              <a:rPr lang="es-ES" sz="1300" b="1" i="0" dirty="0">
                <a:solidFill>
                  <a:srgbClr val="15191D"/>
                </a:solidFill>
                <a:latin typeface="Arial"/>
                <a:cs typeface="Arial"/>
              </a:rPr>
              <a:t>2 k€</a:t>
            </a:r>
          </a:p>
        </p:txBody>
      </p:sp>
      <p:sp>
        <p:nvSpPr>
          <p:cNvPr id="25" name="Step 25"/>
          <p:cNvSpPr/>
          <p:nvPr/>
        </p:nvSpPr>
        <p:spPr>
          <a:xfrm>
            <a:off x="4517136" y="2816352"/>
            <a:ext cx="457200" cy="457200"/>
          </a:xfrm>
          <a:prstGeom prst="ellipse">
            <a:avLst/>
          </a:prstGeom>
          <a:solidFill>
            <a:srgbClr val="15191D"/>
          </a:solidFill>
          <a:ln>
            <a:noFill/>
          </a:ln>
        </p:spPr>
        <p:txBody>
          <a:bodyPr wrap="square" lIns="0" tIns="0" rIns="0" bIns="0" rtlCol="0" anchor="t">
            <a:noAutofit/>
          </a:bodyPr>
          <a:lstStyle/>
          <a:p>
            <a:endParaRPr lang="es-ES" dirty="0"/>
          </a:p>
        </p:txBody>
      </p:sp>
      <p:pic>
        <p:nvPicPr>
          <p:cNvPr id="26" name="Tumor marcado 26" descr="Tumor marcado"/>
          <p:cNvPicPr>
            <a:picLocks noChangeAspect="1"/>
          </p:cNvPicPr>
          <p:nvPr/>
        </p:nvPicPr>
        <p:blipFill>
          <a:blip r:embed="rId6"/>
          <a:stretch>
            <a:fillRect/>
          </a:stretch>
        </p:blipFill>
        <p:spPr>
          <a:xfrm>
            <a:off x="4617720" y="2916936"/>
            <a:ext cx="256032" cy="256032"/>
          </a:xfrm>
          <a:prstGeom prst="rect">
            <a:avLst/>
          </a:prstGeom>
        </p:spPr>
      </p:pic>
      <p:sp>
        <p:nvSpPr>
          <p:cNvPr id="27" name="Step text 27"/>
          <p:cNvSpPr txBox="1"/>
          <p:nvPr/>
        </p:nvSpPr>
        <p:spPr>
          <a:xfrm>
            <a:off x="5093208" y="2779776"/>
            <a:ext cx="1965960" cy="54864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Tumor marcado</a:t>
            </a:r>
          </a:p>
          <a:p>
            <a:pPr algn="l">
              <a:buNone/>
            </a:pPr>
            <a:r>
              <a:rPr lang="es-ES" sz="1100" b="0" i="0" dirty="0">
                <a:solidFill>
                  <a:srgbClr val="4A525B"/>
                </a:solidFill>
                <a:latin typeface="Arial"/>
                <a:cs typeface="Arial"/>
              </a:rPr>
              <a:t>un radiólogo, 170 horas</a:t>
            </a:r>
          </a:p>
        </p:txBody>
      </p:sp>
      <p:sp>
        <p:nvSpPr>
          <p:cNvPr id="28" name="Cost 28"/>
          <p:cNvSpPr txBox="1"/>
          <p:nvPr/>
        </p:nvSpPr>
        <p:spPr>
          <a:xfrm>
            <a:off x="7031736" y="2816352"/>
            <a:ext cx="640080" cy="457200"/>
          </a:xfrm>
          <a:prstGeom prst="rect">
            <a:avLst/>
          </a:prstGeom>
          <a:noFill/>
          <a:ln>
            <a:noFill/>
          </a:ln>
        </p:spPr>
        <p:txBody>
          <a:bodyPr wrap="square" lIns="0" tIns="0" rIns="0" bIns="0" rtlCol="0" anchor="ctr">
            <a:noAutofit/>
          </a:bodyPr>
          <a:lstStyle/>
          <a:p>
            <a:pPr algn="r">
              <a:buNone/>
            </a:pPr>
            <a:r>
              <a:rPr lang="es-ES" sz="1300" b="1" i="0" dirty="0">
                <a:solidFill>
                  <a:srgbClr val="15191D"/>
                </a:solidFill>
                <a:latin typeface="Arial"/>
                <a:cs typeface="Arial"/>
              </a:rPr>
              <a:t>10 k€</a:t>
            </a:r>
          </a:p>
        </p:txBody>
      </p:sp>
      <p:sp>
        <p:nvSpPr>
          <p:cNvPr id="29" name="Step 29"/>
          <p:cNvSpPr/>
          <p:nvPr/>
        </p:nvSpPr>
        <p:spPr>
          <a:xfrm>
            <a:off x="4517136" y="3438144"/>
            <a:ext cx="457200" cy="457200"/>
          </a:xfrm>
          <a:prstGeom prst="ellipse">
            <a:avLst/>
          </a:prstGeom>
          <a:solidFill>
            <a:srgbClr val="15191D"/>
          </a:solidFill>
          <a:ln>
            <a:noFill/>
          </a:ln>
        </p:spPr>
        <p:txBody>
          <a:bodyPr wrap="square" lIns="0" tIns="0" rIns="0" bIns="0" rtlCol="0" anchor="t">
            <a:noAutofit/>
          </a:bodyPr>
          <a:lstStyle/>
          <a:p>
            <a:endParaRPr lang="es-ES" dirty="0"/>
          </a:p>
        </p:txBody>
      </p:sp>
      <p:pic>
        <p:nvPicPr>
          <p:cNvPr id="30" name="Validar en 3 hospitales 30" descr="Validar en 3 hospitales"/>
          <p:cNvPicPr>
            <a:picLocks noChangeAspect="1"/>
          </p:cNvPicPr>
          <p:nvPr/>
        </p:nvPicPr>
        <p:blipFill>
          <a:blip r:embed="rId7"/>
          <a:stretch>
            <a:fillRect/>
          </a:stretch>
        </p:blipFill>
        <p:spPr>
          <a:xfrm>
            <a:off x="4617720" y="3538728"/>
            <a:ext cx="256032" cy="256032"/>
          </a:xfrm>
          <a:prstGeom prst="rect">
            <a:avLst/>
          </a:prstGeom>
        </p:spPr>
      </p:pic>
      <p:sp>
        <p:nvSpPr>
          <p:cNvPr id="31" name="Step text 31"/>
          <p:cNvSpPr txBox="1"/>
          <p:nvPr/>
        </p:nvSpPr>
        <p:spPr>
          <a:xfrm>
            <a:off x="5093208" y="3401568"/>
            <a:ext cx="1965960" cy="548640"/>
          </a:xfrm>
          <a:prstGeom prst="rect">
            <a:avLst/>
          </a:prstGeom>
          <a:noFill/>
          <a:ln>
            <a:noFill/>
          </a:ln>
        </p:spPr>
        <p:txBody>
          <a:bodyPr wrap="square" lIns="0" tIns="0" rIns="0" bIns="0" rtlCol="0" anchor="ctr">
            <a:noAutofit/>
          </a:bodyPr>
          <a:lstStyle/>
          <a:p>
            <a:pPr algn="l">
              <a:buNone/>
            </a:pPr>
            <a:r>
              <a:rPr lang="es-ES" sz="1200" b="1" i="0" dirty="0">
                <a:solidFill>
                  <a:srgbClr val="15191D"/>
                </a:solidFill>
                <a:latin typeface="Arial"/>
                <a:cs typeface="Arial"/>
              </a:rPr>
              <a:t>Validar en 3 hospitales</a:t>
            </a:r>
          </a:p>
          <a:p>
            <a:pPr algn="l">
              <a:buNone/>
            </a:pPr>
            <a:r>
              <a:rPr lang="es-ES" sz="1100" b="0" i="0" dirty="0">
                <a:solidFill>
                  <a:srgbClr val="4A525B"/>
                </a:solidFill>
                <a:latin typeface="Arial"/>
                <a:cs typeface="Arial"/>
              </a:rPr>
              <a:t>pacientes nuevas, 12 meses</a:t>
            </a:r>
          </a:p>
        </p:txBody>
      </p:sp>
      <p:sp>
        <p:nvSpPr>
          <p:cNvPr id="32" name="Cost 32"/>
          <p:cNvSpPr txBox="1"/>
          <p:nvPr/>
        </p:nvSpPr>
        <p:spPr>
          <a:xfrm>
            <a:off x="7031736" y="3438144"/>
            <a:ext cx="640080" cy="457200"/>
          </a:xfrm>
          <a:prstGeom prst="rect">
            <a:avLst/>
          </a:prstGeom>
          <a:noFill/>
          <a:ln>
            <a:noFill/>
          </a:ln>
        </p:spPr>
        <p:txBody>
          <a:bodyPr wrap="square" lIns="0" tIns="0" rIns="0" bIns="0" rtlCol="0" anchor="ctr">
            <a:noAutofit/>
          </a:bodyPr>
          <a:lstStyle/>
          <a:p>
            <a:pPr algn="r">
              <a:buNone/>
            </a:pPr>
            <a:r>
              <a:rPr lang="es-ES" sz="1300" b="1" i="0" dirty="0">
                <a:solidFill>
                  <a:srgbClr val="15191D"/>
                </a:solidFill>
                <a:latin typeface="Arial"/>
                <a:cs typeface="Arial"/>
              </a:rPr>
              <a:t>60 k€</a:t>
            </a:r>
          </a:p>
        </p:txBody>
      </p:sp>
      <p:cxnSp>
        <p:nvCxnSpPr>
          <p:cNvPr id="33" name="Line 33"/>
          <p:cNvCxnSpPr/>
          <p:nvPr/>
        </p:nvCxnSpPr>
        <p:spPr>
          <a:xfrm>
            <a:off x="4517136" y="4087368"/>
            <a:ext cx="3200400" cy="0"/>
          </a:xfrm>
          <a:prstGeom prst="line">
            <a:avLst/>
          </a:prstGeom>
          <a:ln w="9525">
            <a:solidFill>
              <a:srgbClr val="15191D">
                <a:alpha val="20000"/>
              </a:srgbClr>
            </a:solidFill>
          </a:ln>
        </p:spPr>
      </p:cxnSp>
      <p:sp>
        <p:nvSpPr>
          <p:cNvPr id="34" name="Total label 34"/>
          <p:cNvSpPr txBox="1"/>
          <p:nvPr/>
        </p:nvSpPr>
        <p:spPr>
          <a:xfrm>
            <a:off x="4517136" y="4160520"/>
            <a:ext cx="3154680" cy="237744"/>
          </a:xfrm>
          <a:prstGeom prst="rect">
            <a:avLst/>
          </a:prstGeom>
          <a:noFill/>
          <a:ln>
            <a:noFill/>
          </a:ln>
        </p:spPr>
        <p:txBody>
          <a:bodyPr wrap="square" lIns="0" tIns="0" rIns="0" bIns="0" rtlCol="0" anchor="t">
            <a:noAutofit/>
          </a:bodyPr>
          <a:lstStyle/>
          <a:p>
            <a:pPr algn="l">
              <a:buNone/>
            </a:pPr>
            <a:r>
              <a:rPr lang="es-ES" sz="1100" b="0" i="0" dirty="0">
                <a:solidFill>
                  <a:srgbClr val="4A525B"/>
                </a:solidFill>
                <a:latin typeface="Arial"/>
                <a:cs typeface="Arial"/>
              </a:rPr>
              <a:t>Inversión única</a:t>
            </a:r>
          </a:p>
        </p:txBody>
      </p:sp>
      <p:sp>
        <p:nvSpPr>
          <p:cNvPr id="35" name="Total 35"/>
          <p:cNvSpPr txBox="1"/>
          <p:nvPr/>
        </p:nvSpPr>
        <p:spPr>
          <a:xfrm>
            <a:off x="4517136" y="4389120"/>
            <a:ext cx="3154680" cy="457200"/>
          </a:xfrm>
          <a:prstGeom prst="rect">
            <a:avLst/>
          </a:prstGeom>
          <a:noFill/>
          <a:ln>
            <a:noFill/>
          </a:ln>
        </p:spPr>
        <p:txBody>
          <a:bodyPr wrap="square" lIns="0" tIns="0" rIns="0" bIns="0" rtlCol="0" anchor="ctr">
            <a:noAutofit/>
          </a:bodyPr>
          <a:lstStyle/>
          <a:p>
            <a:pPr algn="l">
              <a:buNone/>
            </a:pPr>
            <a:r>
              <a:rPr lang="es-ES" sz="2200" b="1" i="0" dirty="0">
                <a:solidFill>
                  <a:srgbClr val="15191D"/>
                </a:solidFill>
                <a:latin typeface="Arial"/>
                <a:cs typeface="Arial"/>
              </a:rPr>
              <a:t>≈ 72 k€</a:t>
            </a:r>
          </a:p>
        </p:txBody>
      </p:sp>
      <p:sp>
        <p:nvSpPr>
          <p:cNvPr id="36" name="Goal 36"/>
          <p:cNvSpPr txBox="1"/>
          <p:nvPr/>
        </p:nvSpPr>
        <p:spPr>
          <a:xfrm>
            <a:off x="4517136" y="4818888"/>
            <a:ext cx="3154680" cy="274320"/>
          </a:xfrm>
          <a:prstGeom prst="rect">
            <a:avLst/>
          </a:prstGeom>
          <a:noFill/>
          <a:ln>
            <a:noFill/>
          </a:ln>
        </p:spPr>
        <p:txBody>
          <a:bodyPr wrap="square" lIns="0" tIns="0" rIns="0" bIns="0" rtlCol="0" anchor="t">
            <a:noAutofit/>
          </a:bodyPr>
          <a:lstStyle/>
          <a:p>
            <a:pPr algn="l">
              <a:buNone/>
            </a:pPr>
            <a:r>
              <a:rPr lang="es-ES" sz="1100" b="0" i="0" dirty="0">
                <a:solidFill>
                  <a:srgbClr val="4A525B"/>
                </a:solidFill>
                <a:latin typeface="Arial"/>
                <a:cs typeface="Arial"/>
              </a:rPr>
              <a:t>objetivo: AUC 0,75 en hospitales nuevos</a:t>
            </a:r>
          </a:p>
        </p:txBody>
      </p:sp>
      <p:sp>
        <p:nvSpPr>
          <p:cNvPr id="37" name="Panel 37"/>
          <p:cNvSpPr/>
          <p:nvPr/>
        </p:nvSpPr>
        <p:spPr>
          <a:xfrm>
            <a:off x="8028432" y="1691640"/>
            <a:ext cx="3611880" cy="3538728"/>
          </a:xfrm>
          <a:prstGeom prst="roundRect">
            <a:avLst>
              <a:gd name="adj" fmla="val 4134"/>
            </a:avLst>
          </a:prstGeom>
          <a:solidFill>
            <a:srgbClr val="FFFFFF">
              <a:alpha val="62000"/>
            </a:srgbClr>
          </a:solidFill>
          <a:ln w="12700">
            <a:solidFill>
              <a:srgbClr val="FFFFFF">
                <a:alpha val="90000"/>
              </a:srgbClr>
            </a:solidFill>
          </a:ln>
          <a:effectLst>
            <a:outerShdw blurRad="508000" dist="152400" dir="5400000" algn="t" rotWithShape="0">
              <a:srgbClr val="1E2832">
                <a:alpha val="9000"/>
              </a:srgbClr>
            </a:outerShdw>
          </a:effectLst>
        </p:spPr>
        <p:txBody>
          <a:bodyPr wrap="square" lIns="0" tIns="0" rIns="0" bIns="0" rtlCol="0" anchor="t">
            <a:noAutofit/>
          </a:bodyPr>
          <a:lstStyle/>
          <a:p>
            <a:endParaRPr lang="es-ES" dirty="0"/>
          </a:p>
        </p:txBody>
      </p:sp>
      <p:sp>
        <p:nvSpPr>
          <p:cNvPr id="38" name="H 38"/>
          <p:cNvSpPr txBox="1"/>
          <p:nvPr/>
        </p:nvSpPr>
        <p:spPr>
          <a:xfrm>
            <a:off x="8257032" y="1783080"/>
            <a:ext cx="3154680" cy="274320"/>
          </a:xfrm>
          <a:prstGeom prst="rect">
            <a:avLst/>
          </a:prstGeom>
          <a:noFill/>
          <a:ln>
            <a:noFill/>
          </a:ln>
        </p:spPr>
        <p:txBody>
          <a:bodyPr wrap="square" lIns="0" tIns="0" rIns="0" bIns="0" rtlCol="0" anchor="t">
            <a:noAutofit/>
          </a:bodyPr>
          <a:lstStyle/>
          <a:p>
            <a:pPr algn="l">
              <a:buNone/>
            </a:pPr>
            <a:r>
              <a:rPr lang="es-ES" sz="1400" b="1" i="0" dirty="0">
                <a:solidFill>
                  <a:srgbClr val="15191D"/>
                </a:solidFill>
                <a:latin typeface="Arial"/>
                <a:cs typeface="Arial"/>
              </a:rPr>
              <a:t>Un hospital de referencia, un año</a:t>
            </a:r>
          </a:p>
        </p:txBody>
      </p:sp>
      <p:sp>
        <p:nvSpPr>
          <p:cNvPr id="39" name="Sub 39"/>
          <p:cNvSpPr txBox="1"/>
          <p:nvPr/>
        </p:nvSpPr>
        <p:spPr>
          <a:xfrm>
            <a:off x="8257032" y="2057400"/>
            <a:ext cx="3154680" cy="256032"/>
          </a:xfrm>
          <a:prstGeom prst="rect">
            <a:avLst/>
          </a:prstGeom>
          <a:noFill/>
          <a:ln>
            <a:noFill/>
          </a:ln>
        </p:spPr>
        <p:txBody>
          <a:bodyPr wrap="square" lIns="0" tIns="0" rIns="0" bIns="0" rtlCol="0" anchor="t">
            <a:noAutofit/>
          </a:bodyPr>
          <a:lstStyle/>
          <a:p>
            <a:pPr algn="l">
              <a:buNone/>
            </a:pPr>
            <a:r>
              <a:rPr lang="es-ES" sz="1100" b="0" i="0" dirty="0">
                <a:solidFill>
                  <a:srgbClr val="4A525B"/>
                </a:solidFill>
                <a:latin typeface="Arial"/>
                <a:cs typeface="Arial"/>
              </a:rPr>
              <a:t>150 pacientes reciben tratamiento antes de operar</a:t>
            </a:r>
          </a:p>
        </p:txBody>
      </p:sp>
      <p:sp>
        <p:nvSpPr>
          <p:cNvPr id="40" name="Patient 40"/>
          <p:cNvSpPr/>
          <p:nvPr/>
        </p:nvSpPr>
        <p:spPr>
          <a:xfrm>
            <a:off x="8276692" y="2441448"/>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41" name="Patient 41"/>
          <p:cNvSpPr/>
          <p:nvPr/>
        </p:nvSpPr>
        <p:spPr>
          <a:xfrm>
            <a:off x="8402879" y="2441448"/>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42" name="Patient 42"/>
          <p:cNvSpPr/>
          <p:nvPr/>
        </p:nvSpPr>
        <p:spPr>
          <a:xfrm>
            <a:off x="8529066" y="2441448"/>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43" name="Patient 43"/>
          <p:cNvSpPr/>
          <p:nvPr/>
        </p:nvSpPr>
        <p:spPr>
          <a:xfrm>
            <a:off x="8655253" y="2441448"/>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44" name="Patient 44"/>
          <p:cNvSpPr/>
          <p:nvPr/>
        </p:nvSpPr>
        <p:spPr>
          <a:xfrm>
            <a:off x="8781440" y="2441448"/>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45" name="Patient 45"/>
          <p:cNvSpPr/>
          <p:nvPr/>
        </p:nvSpPr>
        <p:spPr>
          <a:xfrm>
            <a:off x="8907628" y="2441448"/>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46" name="Patient 46"/>
          <p:cNvSpPr/>
          <p:nvPr/>
        </p:nvSpPr>
        <p:spPr>
          <a:xfrm>
            <a:off x="9033815" y="2441448"/>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47" name="Patient 47"/>
          <p:cNvSpPr/>
          <p:nvPr/>
        </p:nvSpPr>
        <p:spPr>
          <a:xfrm>
            <a:off x="9160002" y="2441448"/>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48" name="Patient 48"/>
          <p:cNvSpPr/>
          <p:nvPr/>
        </p:nvSpPr>
        <p:spPr>
          <a:xfrm>
            <a:off x="9286189"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49" name="Patient 49"/>
          <p:cNvSpPr/>
          <p:nvPr/>
        </p:nvSpPr>
        <p:spPr>
          <a:xfrm>
            <a:off x="9412376"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0" name="Patient 50"/>
          <p:cNvSpPr/>
          <p:nvPr/>
        </p:nvSpPr>
        <p:spPr>
          <a:xfrm>
            <a:off x="9538564"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1" name="Patient 51"/>
          <p:cNvSpPr/>
          <p:nvPr/>
        </p:nvSpPr>
        <p:spPr>
          <a:xfrm>
            <a:off x="9664751"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2" name="Patient 52"/>
          <p:cNvSpPr/>
          <p:nvPr/>
        </p:nvSpPr>
        <p:spPr>
          <a:xfrm>
            <a:off x="9790938"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3" name="Patient 53"/>
          <p:cNvSpPr/>
          <p:nvPr/>
        </p:nvSpPr>
        <p:spPr>
          <a:xfrm>
            <a:off x="9917125"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4" name="Patient 54"/>
          <p:cNvSpPr/>
          <p:nvPr/>
        </p:nvSpPr>
        <p:spPr>
          <a:xfrm>
            <a:off x="10043312"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5" name="Patient 55"/>
          <p:cNvSpPr/>
          <p:nvPr/>
        </p:nvSpPr>
        <p:spPr>
          <a:xfrm>
            <a:off x="10169500"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6" name="Patient 56"/>
          <p:cNvSpPr/>
          <p:nvPr/>
        </p:nvSpPr>
        <p:spPr>
          <a:xfrm>
            <a:off x="10295687"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7" name="Patient 57"/>
          <p:cNvSpPr/>
          <p:nvPr/>
        </p:nvSpPr>
        <p:spPr>
          <a:xfrm>
            <a:off x="10421874"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8" name="Patient 58"/>
          <p:cNvSpPr/>
          <p:nvPr/>
        </p:nvSpPr>
        <p:spPr>
          <a:xfrm>
            <a:off x="10548061"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59" name="Patient 59"/>
          <p:cNvSpPr/>
          <p:nvPr/>
        </p:nvSpPr>
        <p:spPr>
          <a:xfrm>
            <a:off x="10674248"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60" name="Patient 60"/>
          <p:cNvSpPr/>
          <p:nvPr/>
        </p:nvSpPr>
        <p:spPr>
          <a:xfrm>
            <a:off x="10800436"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61" name="Patient 61"/>
          <p:cNvSpPr/>
          <p:nvPr/>
        </p:nvSpPr>
        <p:spPr>
          <a:xfrm>
            <a:off x="10926623"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62" name="Patient 62"/>
          <p:cNvSpPr/>
          <p:nvPr/>
        </p:nvSpPr>
        <p:spPr>
          <a:xfrm>
            <a:off x="11052810"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63" name="Patient 63"/>
          <p:cNvSpPr/>
          <p:nvPr/>
        </p:nvSpPr>
        <p:spPr>
          <a:xfrm>
            <a:off x="11178997"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64" name="Patient 64"/>
          <p:cNvSpPr/>
          <p:nvPr/>
        </p:nvSpPr>
        <p:spPr>
          <a:xfrm>
            <a:off x="11305184" y="2441448"/>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65" name="Patient 65"/>
          <p:cNvSpPr/>
          <p:nvPr/>
        </p:nvSpPr>
        <p:spPr>
          <a:xfrm>
            <a:off x="8276692" y="2567635"/>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66" name="Patient 66"/>
          <p:cNvSpPr/>
          <p:nvPr/>
        </p:nvSpPr>
        <p:spPr>
          <a:xfrm>
            <a:off x="8402879" y="2567635"/>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67" name="Patient 67"/>
          <p:cNvSpPr/>
          <p:nvPr/>
        </p:nvSpPr>
        <p:spPr>
          <a:xfrm>
            <a:off x="8529066" y="2567635"/>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68" name="Patient 68"/>
          <p:cNvSpPr/>
          <p:nvPr/>
        </p:nvSpPr>
        <p:spPr>
          <a:xfrm>
            <a:off x="8655253" y="2567635"/>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69" name="Patient 69"/>
          <p:cNvSpPr/>
          <p:nvPr/>
        </p:nvSpPr>
        <p:spPr>
          <a:xfrm>
            <a:off x="8781440" y="2567635"/>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70" name="Patient 70"/>
          <p:cNvSpPr/>
          <p:nvPr/>
        </p:nvSpPr>
        <p:spPr>
          <a:xfrm>
            <a:off x="8907628" y="2567635"/>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71" name="Patient 71"/>
          <p:cNvSpPr/>
          <p:nvPr/>
        </p:nvSpPr>
        <p:spPr>
          <a:xfrm>
            <a:off x="9033815" y="2567635"/>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72" name="Patient 72"/>
          <p:cNvSpPr/>
          <p:nvPr/>
        </p:nvSpPr>
        <p:spPr>
          <a:xfrm>
            <a:off x="9160002" y="2567635"/>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73" name="Patient 73"/>
          <p:cNvSpPr/>
          <p:nvPr/>
        </p:nvSpPr>
        <p:spPr>
          <a:xfrm>
            <a:off x="9286189"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74" name="Patient 74"/>
          <p:cNvSpPr/>
          <p:nvPr/>
        </p:nvSpPr>
        <p:spPr>
          <a:xfrm>
            <a:off x="9412376"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75" name="Patient 75"/>
          <p:cNvSpPr/>
          <p:nvPr/>
        </p:nvSpPr>
        <p:spPr>
          <a:xfrm>
            <a:off x="9538564"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76" name="Patient 76"/>
          <p:cNvSpPr/>
          <p:nvPr/>
        </p:nvSpPr>
        <p:spPr>
          <a:xfrm>
            <a:off x="9664751"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77" name="Patient 77"/>
          <p:cNvSpPr/>
          <p:nvPr/>
        </p:nvSpPr>
        <p:spPr>
          <a:xfrm>
            <a:off x="9790938"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78" name="Patient 78"/>
          <p:cNvSpPr/>
          <p:nvPr/>
        </p:nvSpPr>
        <p:spPr>
          <a:xfrm>
            <a:off x="9917125"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79" name="Patient 79"/>
          <p:cNvSpPr/>
          <p:nvPr/>
        </p:nvSpPr>
        <p:spPr>
          <a:xfrm>
            <a:off x="10043312"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0" name="Patient 80"/>
          <p:cNvSpPr/>
          <p:nvPr/>
        </p:nvSpPr>
        <p:spPr>
          <a:xfrm>
            <a:off x="10169500"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1" name="Patient 81"/>
          <p:cNvSpPr/>
          <p:nvPr/>
        </p:nvSpPr>
        <p:spPr>
          <a:xfrm>
            <a:off x="10295687"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2" name="Patient 82"/>
          <p:cNvSpPr/>
          <p:nvPr/>
        </p:nvSpPr>
        <p:spPr>
          <a:xfrm>
            <a:off x="10421874"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3" name="Patient 83"/>
          <p:cNvSpPr/>
          <p:nvPr/>
        </p:nvSpPr>
        <p:spPr>
          <a:xfrm>
            <a:off x="10548061"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4" name="Patient 84"/>
          <p:cNvSpPr/>
          <p:nvPr/>
        </p:nvSpPr>
        <p:spPr>
          <a:xfrm>
            <a:off x="10674248"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5" name="Patient 85"/>
          <p:cNvSpPr/>
          <p:nvPr/>
        </p:nvSpPr>
        <p:spPr>
          <a:xfrm>
            <a:off x="10800436"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6" name="Patient 86"/>
          <p:cNvSpPr/>
          <p:nvPr/>
        </p:nvSpPr>
        <p:spPr>
          <a:xfrm>
            <a:off x="10926623"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7" name="Patient 87"/>
          <p:cNvSpPr/>
          <p:nvPr/>
        </p:nvSpPr>
        <p:spPr>
          <a:xfrm>
            <a:off x="11052810"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8" name="Patient 88"/>
          <p:cNvSpPr/>
          <p:nvPr/>
        </p:nvSpPr>
        <p:spPr>
          <a:xfrm>
            <a:off x="11178997"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89" name="Patient 89"/>
          <p:cNvSpPr/>
          <p:nvPr/>
        </p:nvSpPr>
        <p:spPr>
          <a:xfrm>
            <a:off x="11305184" y="2567635"/>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90" name="Patient 90"/>
          <p:cNvSpPr/>
          <p:nvPr/>
        </p:nvSpPr>
        <p:spPr>
          <a:xfrm>
            <a:off x="8276692" y="2693822"/>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91" name="Patient 91"/>
          <p:cNvSpPr/>
          <p:nvPr/>
        </p:nvSpPr>
        <p:spPr>
          <a:xfrm>
            <a:off x="8402879" y="2693822"/>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92" name="Patient 92"/>
          <p:cNvSpPr/>
          <p:nvPr/>
        </p:nvSpPr>
        <p:spPr>
          <a:xfrm>
            <a:off x="8529066" y="2693822"/>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93" name="Patient 93"/>
          <p:cNvSpPr/>
          <p:nvPr/>
        </p:nvSpPr>
        <p:spPr>
          <a:xfrm>
            <a:off x="8655253" y="2693822"/>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94" name="Patient 94"/>
          <p:cNvSpPr/>
          <p:nvPr/>
        </p:nvSpPr>
        <p:spPr>
          <a:xfrm>
            <a:off x="8781440" y="2693822"/>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95" name="Patient 95"/>
          <p:cNvSpPr/>
          <p:nvPr/>
        </p:nvSpPr>
        <p:spPr>
          <a:xfrm>
            <a:off x="8907628" y="2693822"/>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96" name="Patient 96"/>
          <p:cNvSpPr/>
          <p:nvPr/>
        </p:nvSpPr>
        <p:spPr>
          <a:xfrm>
            <a:off x="9033815" y="2693822"/>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97" name="Patient 97"/>
          <p:cNvSpPr/>
          <p:nvPr/>
        </p:nvSpPr>
        <p:spPr>
          <a:xfrm>
            <a:off x="9160002" y="2693822"/>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98" name="Patient 98"/>
          <p:cNvSpPr/>
          <p:nvPr/>
        </p:nvSpPr>
        <p:spPr>
          <a:xfrm>
            <a:off x="9286189"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99" name="Patient 99"/>
          <p:cNvSpPr/>
          <p:nvPr/>
        </p:nvSpPr>
        <p:spPr>
          <a:xfrm>
            <a:off x="9412376"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0" name="Patient 100"/>
          <p:cNvSpPr/>
          <p:nvPr/>
        </p:nvSpPr>
        <p:spPr>
          <a:xfrm>
            <a:off x="9538564"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1" name="Patient 101"/>
          <p:cNvSpPr/>
          <p:nvPr/>
        </p:nvSpPr>
        <p:spPr>
          <a:xfrm>
            <a:off x="9664751"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2" name="Patient 102"/>
          <p:cNvSpPr/>
          <p:nvPr/>
        </p:nvSpPr>
        <p:spPr>
          <a:xfrm>
            <a:off x="9790938"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3" name="Patient 103"/>
          <p:cNvSpPr/>
          <p:nvPr/>
        </p:nvSpPr>
        <p:spPr>
          <a:xfrm>
            <a:off x="9917125"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4" name="Patient 104"/>
          <p:cNvSpPr/>
          <p:nvPr/>
        </p:nvSpPr>
        <p:spPr>
          <a:xfrm>
            <a:off x="10043312"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5" name="Patient 105"/>
          <p:cNvSpPr/>
          <p:nvPr/>
        </p:nvSpPr>
        <p:spPr>
          <a:xfrm>
            <a:off x="10169500"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6" name="Patient 106"/>
          <p:cNvSpPr/>
          <p:nvPr/>
        </p:nvSpPr>
        <p:spPr>
          <a:xfrm>
            <a:off x="10295687"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7" name="Patient 107"/>
          <p:cNvSpPr/>
          <p:nvPr/>
        </p:nvSpPr>
        <p:spPr>
          <a:xfrm>
            <a:off x="10421874"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8" name="Patient 108"/>
          <p:cNvSpPr/>
          <p:nvPr/>
        </p:nvSpPr>
        <p:spPr>
          <a:xfrm>
            <a:off x="10548061"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09" name="Patient 109"/>
          <p:cNvSpPr/>
          <p:nvPr/>
        </p:nvSpPr>
        <p:spPr>
          <a:xfrm>
            <a:off x="10674248"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10" name="Patient 110"/>
          <p:cNvSpPr/>
          <p:nvPr/>
        </p:nvSpPr>
        <p:spPr>
          <a:xfrm>
            <a:off x="10800436"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11" name="Patient 111"/>
          <p:cNvSpPr/>
          <p:nvPr/>
        </p:nvSpPr>
        <p:spPr>
          <a:xfrm>
            <a:off x="10926623"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12" name="Patient 112"/>
          <p:cNvSpPr/>
          <p:nvPr/>
        </p:nvSpPr>
        <p:spPr>
          <a:xfrm>
            <a:off x="11052810"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13" name="Patient 113"/>
          <p:cNvSpPr/>
          <p:nvPr/>
        </p:nvSpPr>
        <p:spPr>
          <a:xfrm>
            <a:off x="11178997"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14" name="Patient 114"/>
          <p:cNvSpPr/>
          <p:nvPr/>
        </p:nvSpPr>
        <p:spPr>
          <a:xfrm>
            <a:off x="11305184" y="2693822"/>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15" name="Patient 115"/>
          <p:cNvSpPr/>
          <p:nvPr/>
        </p:nvSpPr>
        <p:spPr>
          <a:xfrm>
            <a:off x="8276692" y="2820010"/>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116" name="Patient 116"/>
          <p:cNvSpPr/>
          <p:nvPr/>
        </p:nvSpPr>
        <p:spPr>
          <a:xfrm>
            <a:off x="8402879" y="2820010"/>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117" name="Patient 117"/>
          <p:cNvSpPr/>
          <p:nvPr/>
        </p:nvSpPr>
        <p:spPr>
          <a:xfrm>
            <a:off x="8529066" y="2820010"/>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18" name="Patient 118"/>
          <p:cNvSpPr/>
          <p:nvPr/>
        </p:nvSpPr>
        <p:spPr>
          <a:xfrm>
            <a:off x="8655253" y="2820010"/>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19" name="Patient 119"/>
          <p:cNvSpPr/>
          <p:nvPr/>
        </p:nvSpPr>
        <p:spPr>
          <a:xfrm>
            <a:off x="8781440" y="2820010"/>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20" name="Patient 120"/>
          <p:cNvSpPr/>
          <p:nvPr/>
        </p:nvSpPr>
        <p:spPr>
          <a:xfrm>
            <a:off x="8907628" y="2820010"/>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21" name="Patient 121"/>
          <p:cNvSpPr/>
          <p:nvPr/>
        </p:nvSpPr>
        <p:spPr>
          <a:xfrm>
            <a:off x="9033815" y="2820010"/>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22" name="Patient 122"/>
          <p:cNvSpPr/>
          <p:nvPr/>
        </p:nvSpPr>
        <p:spPr>
          <a:xfrm>
            <a:off x="9160002"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23" name="Patient 123"/>
          <p:cNvSpPr/>
          <p:nvPr/>
        </p:nvSpPr>
        <p:spPr>
          <a:xfrm>
            <a:off x="9286189"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24" name="Patient 124"/>
          <p:cNvSpPr/>
          <p:nvPr/>
        </p:nvSpPr>
        <p:spPr>
          <a:xfrm>
            <a:off x="9412376"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25" name="Patient 125"/>
          <p:cNvSpPr/>
          <p:nvPr/>
        </p:nvSpPr>
        <p:spPr>
          <a:xfrm>
            <a:off x="9538564"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26" name="Patient 126"/>
          <p:cNvSpPr/>
          <p:nvPr/>
        </p:nvSpPr>
        <p:spPr>
          <a:xfrm>
            <a:off x="9664751"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27" name="Patient 127"/>
          <p:cNvSpPr/>
          <p:nvPr/>
        </p:nvSpPr>
        <p:spPr>
          <a:xfrm>
            <a:off x="9790938"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28" name="Patient 128"/>
          <p:cNvSpPr/>
          <p:nvPr/>
        </p:nvSpPr>
        <p:spPr>
          <a:xfrm>
            <a:off x="9917125"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29" name="Patient 129"/>
          <p:cNvSpPr/>
          <p:nvPr/>
        </p:nvSpPr>
        <p:spPr>
          <a:xfrm>
            <a:off x="10043312"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0" name="Patient 130"/>
          <p:cNvSpPr/>
          <p:nvPr/>
        </p:nvSpPr>
        <p:spPr>
          <a:xfrm>
            <a:off x="10169500"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1" name="Patient 131"/>
          <p:cNvSpPr/>
          <p:nvPr/>
        </p:nvSpPr>
        <p:spPr>
          <a:xfrm>
            <a:off x="10295687"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2" name="Patient 132"/>
          <p:cNvSpPr/>
          <p:nvPr/>
        </p:nvSpPr>
        <p:spPr>
          <a:xfrm>
            <a:off x="10421874"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3" name="Patient 133"/>
          <p:cNvSpPr/>
          <p:nvPr/>
        </p:nvSpPr>
        <p:spPr>
          <a:xfrm>
            <a:off x="10548061"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4" name="Patient 134"/>
          <p:cNvSpPr/>
          <p:nvPr/>
        </p:nvSpPr>
        <p:spPr>
          <a:xfrm>
            <a:off x="10674248"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5" name="Patient 135"/>
          <p:cNvSpPr/>
          <p:nvPr/>
        </p:nvSpPr>
        <p:spPr>
          <a:xfrm>
            <a:off x="10800436"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6" name="Patient 136"/>
          <p:cNvSpPr/>
          <p:nvPr/>
        </p:nvSpPr>
        <p:spPr>
          <a:xfrm>
            <a:off x="10926623"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7" name="Patient 137"/>
          <p:cNvSpPr/>
          <p:nvPr/>
        </p:nvSpPr>
        <p:spPr>
          <a:xfrm>
            <a:off x="11052810"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8" name="Patient 138"/>
          <p:cNvSpPr/>
          <p:nvPr/>
        </p:nvSpPr>
        <p:spPr>
          <a:xfrm>
            <a:off x="11178997"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39" name="Patient 139"/>
          <p:cNvSpPr/>
          <p:nvPr/>
        </p:nvSpPr>
        <p:spPr>
          <a:xfrm>
            <a:off x="11305184" y="2820010"/>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40" name="Patient 140"/>
          <p:cNvSpPr/>
          <p:nvPr/>
        </p:nvSpPr>
        <p:spPr>
          <a:xfrm>
            <a:off x="8276692" y="2946197"/>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141" name="Patient 141"/>
          <p:cNvSpPr/>
          <p:nvPr/>
        </p:nvSpPr>
        <p:spPr>
          <a:xfrm>
            <a:off x="8402879" y="2946197"/>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142" name="Patient 142"/>
          <p:cNvSpPr/>
          <p:nvPr/>
        </p:nvSpPr>
        <p:spPr>
          <a:xfrm>
            <a:off x="8529066" y="2946197"/>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43" name="Patient 143"/>
          <p:cNvSpPr/>
          <p:nvPr/>
        </p:nvSpPr>
        <p:spPr>
          <a:xfrm>
            <a:off x="8655253" y="2946197"/>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44" name="Patient 144"/>
          <p:cNvSpPr/>
          <p:nvPr/>
        </p:nvSpPr>
        <p:spPr>
          <a:xfrm>
            <a:off x="8781440" y="2946197"/>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45" name="Patient 145"/>
          <p:cNvSpPr/>
          <p:nvPr/>
        </p:nvSpPr>
        <p:spPr>
          <a:xfrm>
            <a:off x="8907628" y="2946197"/>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46" name="Patient 146"/>
          <p:cNvSpPr/>
          <p:nvPr/>
        </p:nvSpPr>
        <p:spPr>
          <a:xfrm>
            <a:off x="9033815" y="2946197"/>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47" name="Patient 147"/>
          <p:cNvSpPr/>
          <p:nvPr/>
        </p:nvSpPr>
        <p:spPr>
          <a:xfrm>
            <a:off x="9160002"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48" name="Patient 148"/>
          <p:cNvSpPr/>
          <p:nvPr/>
        </p:nvSpPr>
        <p:spPr>
          <a:xfrm>
            <a:off x="9286189"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49" name="Patient 149"/>
          <p:cNvSpPr/>
          <p:nvPr/>
        </p:nvSpPr>
        <p:spPr>
          <a:xfrm>
            <a:off x="9412376"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0" name="Patient 150"/>
          <p:cNvSpPr/>
          <p:nvPr/>
        </p:nvSpPr>
        <p:spPr>
          <a:xfrm>
            <a:off x="9538564"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1" name="Patient 151"/>
          <p:cNvSpPr/>
          <p:nvPr/>
        </p:nvSpPr>
        <p:spPr>
          <a:xfrm>
            <a:off x="9664751"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2" name="Patient 152"/>
          <p:cNvSpPr/>
          <p:nvPr/>
        </p:nvSpPr>
        <p:spPr>
          <a:xfrm>
            <a:off x="9790938"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3" name="Patient 153"/>
          <p:cNvSpPr/>
          <p:nvPr/>
        </p:nvSpPr>
        <p:spPr>
          <a:xfrm>
            <a:off x="9917125"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4" name="Patient 154"/>
          <p:cNvSpPr/>
          <p:nvPr/>
        </p:nvSpPr>
        <p:spPr>
          <a:xfrm>
            <a:off x="10043312"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5" name="Patient 155"/>
          <p:cNvSpPr/>
          <p:nvPr/>
        </p:nvSpPr>
        <p:spPr>
          <a:xfrm>
            <a:off x="10169500"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6" name="Patient 156"/>
          <p:cNvSpPr/>
          <p:nvPr/>
        </p:nvSpPr>
        <p:spPr>
          <a:xfrm>
            <a:off x="10295687"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7" name="Patient 157"/>
          <p:cNvSpPr/>
          <p:nvPr/>
        </p:nvSpPr>
        <p:spPr>
          <a:xfrm>
            <a:off x="10421874"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8" name="Patient 158"/>
          <p:cNvSpPr/>
          <p:nvPr/>
        </p:nvSpPr>
        <p:spPr>
          <a:xfrm>
            <a:off x="10548061"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59" name="Patient 159"/>
          <p:cNvSpPr/>
          <p:nvPr/>
        </p:nvSpPr>
        <p:spPr>
          <a:xfrm>
            <a:off x="10674248"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60" name="Patient 160"/>
          <p:cNvSpPr/>
          <p:nvPr/>
        </p:nvSpPr>
        <p:spPr>
          <a:xfrm>
            <a:off x="10800436"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61" name="Patient 161"/>
          <p:cNvSpPr/>
          <p:nvPr/>
        </p:nvSpPr>
        <p:spPr>
          <a:xfrm>
            <a:off x="10926623"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62" name="Patient 162"/>
          <p:cNvSpPr/>
          <p:nvPr/>
        </p:nvSpPr>
        <p:spPr>
          <a:xfrm>
            <a:off x="11052810"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63" name="Patient 163"/>
          <p:cNvSpPr/>
          <p:nvPr/>
        </p:nvSpPr>
        <p:spPr>
          <a:xfrm>
            <a:off x="11178997"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64" name="Patient 164"/>
          <p:cNvSpPr/>
          <p:nvPr/>
        </p:nvSpPr>
        <p:spPr>
          <a:xfrm>
            <a:off x="11305184" y="2946197"/>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65" name="Patient 165"/>
          <p:cNvSpPr/>
          <p:nvPr/>
        </p:nvSpPr>
        <p:spPr>
          <a:xfrm>
            <a:off x="8276692" y="3072384"/>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166" name="Patient 166"/>
          <p:cNvSpPr/>
          <p:nvPr/>
        </p:nvSpPr>
        <p:spPr>
          <a:xfrm>
            <a:off x="8402879" y="3072384"/>
            <a:ext cx="86868" cy="86868"/>
          </a:xfrm>
          <a:prstGeom prst="ellipse">
            <a:avLst/>
          </a:prstGeom>
          <a:solidFill>
            <a:srgbClr val="15191D"/>
          </a:solidFill>
          <a:ln>
            <a:noFill/>
          </a:ln>
        </p:spPr>
        <p:txBody>
          <a:bodyPr wrap="square" lIns="0" tIns="0" rIns="0" bIns="0" rtlCol="0" anchor="t">
            <a:noAutofit/>
          </a:bodyPr>
          <a:lstStyle/>
          <a:p>
            <a:endParaRPr lang="es-ES" dirty="0"/>
          </a:p>
        </p:txBody>
      </p:sp>
      <p:sp>
        <p:nvSpPr>
          <p:cNvPr id="167" name="Patient 167"/>
          <p:cNvSpPr/>
          <p:nvPr/>
        </p:nvSpPr>
        <p:spPr>
          <a:xfrm>
            <a:off x="8529066" y="3072384"/>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68" name="Patient 168"/>
          <p:cNvSpPr/>
          <p:nvPr/>
        </p:nvSpPr>
        <p:spPr>
          <a:xfrm>
            <a:off x="8655253" y="3072384"/>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69" name="Patient 169"/>
          <p:cNvSpPr/>
          <p:nvPr/>
        </p:nvSpPr>
        <p:spPr>
          <a:xfrm>
            <a:off x="8781440" y="3072384"/>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70" name="Patient 170"/>
          <p:cNvSpPr/>
          <p:nvPr/>
        </p:nvSpPr>
        <p:spPr>
          <a:xfrm>
            <a:off x="8907628" y="3072384"/>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71" name="Patient 171"/>
          <p:cNvSpPr/>
          <p:nvPr/>
        </p:nvSpPr>
        <p:spPr>
          <a:xfrm>
            <a:off x="9033815" y="3072384"/>
            <a:ext cx="86868" cy="86868"/>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72" name="Patient 172"/>
          <p:cNvSpPr/>
          <p:nvPr/>
        </p:nvSpPr>
        <p:spPr>
          <a:xfrm>
            <a:off x="9160002"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73" name="Patient 173"/>
          <p:cNvSpPr/>
          <p:nvPr/>
        </p:nvSpPr>
        <p:spPr>
          <a:xfrm>
            <a:off x="9286189"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74" name="Patient 174"/>
          <p:cNvSpPr/>
          <p:nvPr/>
        </p:nvSpPr>
        <p:spPr>
          <a:xfrm>
            <a:off x="9412376"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75" name="Patient 175"/>
          <p:cNvSpPr/>
          <p:nvPr/>
        </p:nvSpPr>
        <p:spPr>
          <a:xfrm>
            <a:off x="9538564"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76" name="Patient 176"/>
          <p:cNvSpPr/>
          <p:nvPr/>
        </p:nvSpPr>
        <p:spPr>
          <a:xfrm>
            <a:off x="9664751"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77" name="Patient 177"/>
          <p:cNvSpPr/>
          <p:nvPr/>
        </p:nvSpPr>
        <p:spPr>
          <a:xfrm>
            <a:off x="9790938"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78" name="Patient 178"/>
          <p:cNvSpPr/>
          <p:nvPr/>
        </p:nvSpPr>
        <p:spPr>
          <a:xfrm>
            <a:off x="9917125"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79" name="Patient 179"/>
          <p:cNvSpPr/>
          <p:nvPr/>
        </p:nvSpPr>
        <p:spPr>
          <a:xfrm>
            <a:off x="10043312"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0" name="Patient 180"/>
          <p:cNvSpPr/>
          <p:nvPr/>
        </p:nvSpPr>
        <p:spPr>
          <a:xfrm>
            <a:off x="10169500"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1" name="Patient 181"/>
          <p:cNvSpPr/>
          <p:nvPr/>
        </p:nvSpPr>
        <p:spPr>
          <a:xfrm>
            <a:off x="10295687"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2" name="Patient 182"/>
          <p:cNvSpPr/>
          <p:nvPr/>
        </p:nvSpPr>
        <p:spPr>
          <a:xfrm>
            <a:off x="10421874"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3" name="Patient 183"/>
          <p:cNvSpPr/>
          <p:nvPr/>
        </p:nvSpPr>
        <p:spPr>
          <a:xfrm>
            <a:off x="10548061"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4" name="Patient 184"/>
          <p:cNvSpPr/>
          <p:nvPr/>
        </p:nvSpPr>
        <p:spPr>
          <a:xfrm>
            <a:off x="10674248"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5" name="Patient 185"/>
          <p:cNvSpPr/>
          <p:nvPr/>
        </p:nvSpPr>
        <p:spPr>
          <a:xfrm>
            <a:off x="10800436"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6" name="Patient 186"/>
          <p:cNvSpPr/>
          <p:nvPr/>
        </p:nvSpPr>
        <p:spPr>
          <a:xfrm>
            <a:off x="10926623"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7" name="Patient 187"/>
          <p:cNvSpPr/>
          <p:nvPr/>
        </p:nvSpPr>
        <p:spPr>
          <a:xfrm>
            <a:off x="11052810"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8" name="Patient 188"/>
          <p:cNvSpPr/>
          <p:nvPr/>
        </p:nvSpPr>
        <p:spPr>
          <a:xfrm>
            <a:off x="11178997"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89" name="Patient 189"/>
          <p:cNvSpPr/>
          <p:nvPr/>
        </p:nvSpPr>
        <p:spPr>
          <a:xfrm>
            <a:off x="11305184" y="3072384"/>
            <a:ext cx="86868" cy="86868"/>
          </a:xfrm>
          <a:prstGeom prst="ellipse">
            <a:avLst/>
          </a:prstGeom>
          <a:solidFill>
            <a:srgbClr val="15191D">
              <a:alpha val="14000"/>
            </a:srgbClr>
          </a:solidFill>
          <a:ln>
            <a:noFill/>
          </a:ln>
        </p:spPr>
        <p:txBody>
          <a:bodyPr wrap="square" lIns="0" tIns="0" rIns="0" bIns="0" rtlCol="0" anchor="t">
            <a:noAutofit/>
          </a:bodyPr>
          <a:lstStyle/>
          <a:p>
            <a:endParaRPr lang="es-ES" dirty="0"/>
          </a:p>
        </p:txBody>
      </p:sp>
      <p:sp>
        <p:nvSpPr>
          <p:cNvPr id="190" name="Key 190"/>
          <p:cNvSpPr/>
          <p:nvPr/>
        </p:nvSpPr>
        <p:spPr>
          <a:xfrm>
            <a:off x="8275320" y="3354019"/>
            <a:ext cx="91440" cy="91440"/>
          </a:xfrm>
          <a:prstGeom prst="ellipse">
            <a:avLst/>
          </a:prstGeom>
          <a:solidFill>
            <a:srgbClr val="15191D"/>
          </a:solidFill>
          <a:ln>
            <a:noFill/>
          </a:ln>
        </p:spPr>
        <p:txBody>
          <a:bodyPr wrap="square" lIns="0" tIns="0" rIns="0" bIns="0" rtlCol="0" anchor="t">
            <a:noAutofit/>
          </a:bodyPr>
          <a:lstStyle/>
          <a:p>
            <a:endParaRPr lang="es-ES" dirty="0"/>
          </a:p>
        </p:txBody>
      </p:sp>
      <p:sp>
        <p:nvSpPr>
          <p:cNvPr id="191" name="Key text 191"/>
          <p:cNvSpPr txBox="1"/>
          <p:nvPr/>
        </p:nvSpPr>
        <p:spPr>
          <a:xfrm>
            <a:off x="8412480" y="3271723"/>
            <a:ext cx="1645920" cy="256032"/>
          </a:xfrm>
          <a:prstGeom prst="rect">
            <a:avLst/>
          </a:prstGeom>
          <a:noFill/>
          <a:ln>
            <a:noFill/>
          </a:ln>
        </p:spPr>
        <p:txBody>
          <a:bodyPr wrap="square" lIns="0" tIns="0" rIns="0" bIns="0" rtlCol="0" anchor="t">
            <a:noAutofit/>
          </a:bodyPr>
          <a:lstStyle/>
          <a:p>
            <a:pPr algn="l">
              <a:buNone/>
            </a:pPr>
            <a:r>
              <a:rPr lang="es-ES" sz="1100" b="0" i="0" dirty="0">
                <a:solidFill>
                  <a:srgbClr val="4A525B"/>
                </a:solidFill>
                <a:latin typeface="Arial"/>
                <a:cs typeface="Arial"/>
              </a:rPr>
              <a:t>15 evitan la quimioterapia</a:t>
            </a:r>
          </a:p>
        </p:txBody>
      </p:sp>
      <p:sp>
        <p:nvSpPr>
          <p:cNvPr id="192" name="Key 192"/>
          <p:cNvSpPr/>
          <p:nvPr/>
        </p:nvSpPr>
        <p:spPr>
          <a:xfrm>
            <a:off x="10104120" y="3354019"/>
            <a:ext cx="91440" cy="91440"/>
          </a:xfrm>
          <a:prstGeom prst="ellipse">
            <a:avLst/>
          </a:prstGeom>
          <a:solidFill>
            <a:srgbClr val="FFFFFF"/>
          </a:solidFill>
          <a:ln w="12700">
            <a:solidFill>
              <a:srgbClr val="15191D"/>
            </a:solidFill>
          </a:ln>
        </p:spPr>
        <p:txBody>
          <a:bodyPr wrap="square" lIns="0" tIns="0" rIns="0" bIns="0" rtlCol="0" anchor="t">
            <a:noAutofit/>
          </a:bodyPr>
          <a:lstStyle/>
          <a:p>
            <a:endParaRPr lang="es-ES" dirty="0"/>
          </a:p>
        </p:txBody>
      </p:sp>
      <p:sp>
        <p:nvSpPr>
          <p:cNvPr id="193" name="Key text 193"/>
          <p:cNvSpPr txBox="1"/>
          <p:nvPr/>
        </p:nvSpPr>
        <p:spPr>
          <a:xfrm>
            <a:off x="10241280" y="3271723"/>
            <a:ext cx="1463040" cy="256032"/>
          </a:xfrm>
          <a:prstGeom prst="rect">
            <a:avLst/>
          </a:prstGeom>
          <a:noFill/>
          <a:ln>
            <a:noFill/>
          </a:ln>
        </p:spPr>
        <p:txBody>
          <a:bodyPr wrap="square" lIns="0" tIns="0" rIns="0" bIns="0" rtlCol="0" anchor="t">
            <a:noAutofit/>
          </a:bodyPr>
          <a:lstStyle/>
          <a:p>
            <a:pPr algn="l">
              <a:buNone/>
            </a:pPr>
            <a:r>
              <a:rPr lang="es-ES" sz="1100" b="0" i="0" dirty="0">
                <a:solidFill>
                  <a:srgbClr val="4A525B"/>
                </a:solidFill>
                <a:latin typeface="Arial"/>
                <a:cs typeface="Arial"/>
              </a:rPr>
              <a:t>30 evitan solo el PET</a:t>
            </a:r>
          </a:p>
        </p:txBody>
      </p:sp>
      <p:sp>
        <p:nvSpPr>
          <p:cNvPr id="194" name="Gain 194"/>
          <p:cNvSpPr txBox="1"/>
          <p:nvPr/>
        </p:nvSpPr>
        <p:spPr>
          <a:xfrm>
            <a:off x="8257032" y="3637483"/>
            <a:ext cx="1051560" cy="365760"/>
          </a:xfrm>
          <a:prstGeom prst="rect">
            <a:avLst/>
          </a:prstGeom>
          <a:noFill/>
          <a:ln>
            <a:noFill/>
          </a:ln>
        </p:spPr>
        <p:txBody>
          <a:bodyPr wrap="square" lIns="0" tIns="0" rIns="0" bIns="0" rtlCol="0" anchor="ctr">
            <a:noAutofit/>
          </a:bodyPr>
          <a:lstStyle/>
          <a:p>
            <a:pPr algn="l">
              <a:buNone/>
            </a:pPr>
            <a:r>
              <a:rPr lang="es-ES" sz="1500" b="1" i="0" dirty="0">
                <a:solidFill>
                  <a:srgbClr val="15191D"/>
                </a:solidFill>
                <a:latin typeface="Arial"/>
                <a:cs typeface="Arial"/>
              </a:rPr>
              <a:t>135 k€</a:t>
            </a:r>
          </a:p>
        </p:txBody>
      </p:sp>
      <p:sp>
        <p:nvSpPr>
          <p:cNvPr id="195" name="Gain label 195"/>
          <p:cNvSpPr txBox="1"/>
          <p:nvPr/>
        </p:nvSpPr>
        <p:spPr>
          <a:xfrm>
            <a:off x="9308592" y="3637483"/>
            <a:ext cx="2148840" cy="365760"/>
          </a:xfrm>
          <a:prstGeom prst="rect">
            <a:avLst/>
          </a:prstGeom>
          <a:noFill/>
          <a:ln>
            <a:noFill/>
          </a:ln>
        </p:spPr>
        <p:txBody>
          <a:bodyPr wrap="square" lIns="0" tIns="0" rIns="0" bIns="0" rtlCol="0" anchor="ctr">
            <a:noAutofit/>
          </a:bodyPr>
          <a:lstStyle/>
          <a:p>
            <a:pPr algn="l">
              <a:buNone/>
            </a:pPr>
            <a:r>
              <a:rPr lang="es-ES" sz="1200" b="0" i="0" dirty="0">
                <a:solidFill>
                  <a:srgbClr val="15191D"/>
                </a:solidFill>
                <a:latin typeface="Arial"/>
                <a:cs typeface="Arial"/>
              </a:rPr>
              <a:t>quimioterapia evitada  </a:t>
            </a:r>
            <a:r>
              <a:rPr lang="es-ES" sz="1000" b="0" i="0" dirty="0">
                <a:solidFill>
                  <a:srgbClr val="8B9197"/>
                </a:solidFill>
                <a:latin typeface="Arial"/>
                <a:cs typeface="Arial"/>
              </a:rPr>
              <a:t>15 × 9 k€</a:t>
            </a:r>
          </a:p>
        </p:txBody>
      </p:sp>
      <p:sp>
        <p:nvSpPr>
          <p:cNvPr id="196" name="Gain 196"/>
          <p:cNvSpPr txBox="1"/>
          <p:nvPr/>
        </p:nvSpPr>
        <p:spPr>
          <a:xfrm>
            <a:off x="8257032" y="4039819"/>
            <a:ext cx="1051560" cy="365760"/>
          </a:xfrm>
          <a:prstGeom prst="rect">
            <a:avLst/>
          </a:prstGeom>
          <a:noFill/>
          <a:ln>
            <a:noFill/>
          </a:ln>
        </p:spPr>
        <p:txBody>
          <a:bodyPr wrap="square" lIns="0" tIns="0" rIns="0" bIns="0" rtlCol="0" anchor="ctr">
            <a:noAutofit/>
          </a:bodyPr>
          <a:lstStyle/>
          <a:p>
            <a:pPr algn="l">
              <a:buNone/>
            </a:pPr>
            <a:r>
              <a:rPr lang="es-ES" sz="1500" b="1" i="0" dirty="0">
                <a:solidFill>
                  <a:srgbClr val="15191D"/>
                </a:solidFill>
                <a:latin typeface="Arial"/>
                <a:cs typeface="Arial"/>
              </a:rPr>
              <a:t>68 k€</a:t>
            </a:r>
          </a:p>
        </p:txBody>
      </p:sp>
      <p:sp>
        <p:nvSpPr>
          <p:cNvPr id="197" name="Gain label 197"/>
          <p:cNvSpPr txBox="1"/>
          <p:nvPr/>
        </p:nvSpPr>
        <p:spPr>
          <a:xfrm>
            <a:off x="9308592" y="4039819"/>
            <a:ext cx="2148840" cy="365760"/>
          </a:xfrm>
          <a:prstGeom prst="rect">
            <a:avLst/>
          </a:prstGeom>
          <a:noFill/>
          <a:ln>
            <a:noFill/>
          </a:ln>
        </p:spPr>
        <p:txBody>
          <a:bodyPr wrap="square" lIns="0" tIns="0" rIns="0" bIns="0" rtlCol="0" anchor="ctr">
            <a:noAutofit/>
          </a:bodyPr>
          <a:lstStyle/>
          <a:p>
            <a:pPr algn="l">
              <a:buNone/>
            </a:pPr>
            <a:r>
              <a:rPr lang="es-ES" sz="1200" b="0" i="0" dirty="0">
                <a:solidFill>
                  <a:srgbClr val="15191D"/>
                </a:solidFill>
                <a:latin typeface="Arial"/>
                <a:cs typeface="Arial"/>
              </a:rPr>
              <a:t>PET evitados  </a:t>
            </a:r>
            <a:r>
              <a:rPr lang="es-ES" sz="1000" b="0" i="0" dirty="0">
                <a:solidFill>
                  <a:srgbClr val="8B9197"/>
                </a:solidFill>
                <a:latin typeface="Arial"/>
                <a:cs typeface="Arial"/>
              </a:rPr>
              <a:t>45 × 1,5 k€</a:t>
            </a:r>
          </a:p>
        </p:txBody>
      </p:sp>
      <p:cxnSp>
        <p:nvCxnSpPr>
          <p:cNvPr id="198" name="Line 198"/>
          <p:cNvCxnSpPr/>
          <p:nvPr/>
        </p:nvCxnSpPr>
        <p:spPr>
          <a:xfrm>
            <a:off x="8257032" y="4460443"/>
            <a:ext cx="3154680" cy="0"/>
          </a:xfrm>
          <a:prstGeom prst="line">
            <a:avLst/>
          </a:prstGeom>
          <a:ln w="9525">
            <a:solidFill>
              <a:srgbClr val="15191D">
                <a:alpha val="20000"/>
              </a:srgbClr>
            </a:solidFill>
          </a:ln>
        </p:spPr>
      </p:cxnSp>
      <p:sp>
        <p:nvSpPr>
          <p:cNvPr id="199" name="Total 199"/>
          <p:cNvSpPr txBox="1"/>
          <p:nvPr/>
        </p:nvSpPr>
        <p:spPr>
          <a:xfrm>
            <a:off x="8257032" y="4515307"/>
            <a:ext cx="3154680" cy="384048"/>
          </a:xfrm>
          <a:prstGeom prst="rect">
            <a:avLst/>
          </a:prstGeom>
          <a:noFill/>
          <a:ln>
            <a:noFill/>
          </a:ln>
        </p:spPr>
        <p:txBody>
          <a:bodyPr wrap="square" lIns="0" tIns="0" rIns="0" bIns="0" rtlCol="0" anchor="ctr">
            <a:noAutofit/>
          </a:bodyPr>
          <a:lstStyle/>
          <a:p>
            <a:pPr algn="l">
              <a:buNone/>
            </a:pPr>
            <a:r>
              <a:rPr lang="es-ES" sz="2200" b="1" i="0" dirty="0">
                <a:solidFill>
                  <a:srgbClr val="15191D"/>
                </a:solidFill>
                <a:latin typeface="Arial"/>
                <a:cs typeface="Arial"/>
              </a:rPr>
              <a:t>≈ 200 k€ al año</a:t>
            </a:r>
          </a:p>
        </p:txBody>
      </p:sp>
      <p:sp>
        <p:nvSpPr>
          <p:cNvPr id="200" name="Payback 200"/>
          <p:cNvSpPr txBox="1"/>
          <p:nvPr/>
        </p:nvSpPr>
        <p:spPr>
          <a:xfrm>
            <a:off x="8257032" y="4899355"/>
            <a:ext cx="3154680" cy="256032"/>
          </a:xfrm>
          <a:prstGeom prst="rect">
            <a:avLst/>
          </a:prstGeom>
          <a:noFill/>
          <a:ln>
            <a:noFill/>
          </a:ln>
        </p:spPr>
        <p:txBody>
          <a:bodyPr wrap="square" lIns="0" tIns="0" rIns="0" bIns="0" rtlCol="0" anchor="t">
            <a:noAutofit/>
          </a:bodyPr>
          <a:lstStyle/>
          <a:p>
            <a:pPr algn="l">
              <a:buNone/>
            </a:pPr>
            <a:r>
              <a:rPr lang="es-ES" sz="1100" b="0" i="0" dirty="0">
                <a:solidFill>
                  <a:srgbClr val="4A525B"/>
                </a:solidFill>
                <a:latin typeface="Arial"/>
                <a:cs typeface="Arial"/>
              </a:rPr>
              <a:t>la mejora se paga en unos 4 meses</a:t>
            </a:r>
          </a:p>
        </p:txBody>
      </p:sp>
      <p:sp>
        <p:nvSpPr>
          <p:cNvPr id="201" name="Conclusion 201"/>
          <p:cNvSpPr/>
          <p:nvPr/>
        </p:nvSpPr>
        <p:spPr>
          <a:xfrm>
            <a:off x="548640" y="5376672"/>
            <a:ext cx="11091672" cy="475488"/>
          </a:xfrm>
          <a:prstGeom prst="roundRect">
            <a:avLst>
              <a:gd name="adj" fmla="val 23076"/>
            </a:avLst>
          </a:prstGeom>
          <a:solidFill>
            <a:srgbClr val="15191D"/>
          </a:solidFill>
          <a:ln>
            <a:noFill/>
          </a:ln>
        </p:spPr>
        <p:txBody>
          <a:bodyPr wrap="square" lIns="274320" tIns="27432" rIns="182880" bIns="27432" rtlCol="0" anchor="ctr">
            <a:noAutofit/>
          </a:bodyPr>
          <a:lstStyle/>
          <a:p>
            <a:pPr algn="l">
              <a:buNone/>
            </a:pPr>
            <a:r>
              <a:rPr lang="es-ES" sz="1400" b="1" i="0" dirty="0">
                <a:solidFill>
                  <a:srgbClr val="FFFFFF"/>
                </a:solidFill>
                <a:latin typeface="Arial"/>
                <a:cs typeface="Arial"/>
              </a:rPr>
              <a:t>Conclusión  </a:t>
            </a:r>
            <a:r>
              <a:rPr lang="es-ES" sz="1300" b="0" i="0" dirty="0">
                <a:solidFill>
                  <a:srgbClr val="D5D8DB"/>
                </a:solidFill>
                <a:latin typeface="Arial"/>
                <a:cs typeface="Arial"/>
              </a:rPr>
              <a:t>el producto ya está listo; falta un modelo que vea el tumor entero y se valide fuera de estos datos</a:t>
            </a:r>
          </a:p>
        </p:txBody>
      </p:sp>
      <p:sp>
        <p:nvSpPr>
          <p:cNvPr id="202" name="Sources 202"/>
          <p:cNvSpPr txBox="1"/>
          <p:nvPr/>
        </p:nvSpPr>
        <p:spPr>
          <a:xfrm>
            <a:off x="4389120" y="5897880"/>
            <a:ext cx="7251192" cy="228600"/>
          </a:xfrm>
          <a:prstGeom prst="rect">
            <a:avLst/>
          </a:prstGeom>
          <a:noFill/>
          <a:ln>
            <a:noFill/>
          </a:ln>
        </p:spPr>
        <p:txBody>
          <a:bodyPr wrap="square" lIns="0" tIns="0" rIns="0" bIns="0" rtlCol="0" anchor="t">
            <a:noAutofit/>
          </a:bodyPr>
          <a:lstStyle/>
          <a:p>
            <a:pPr algn="r">
              <a:buNone/>
            </a:pPr>
            <a:r>
              <a:rPr lang="es-ES" sz="900" b="0" i="1" dirty="0">
                <a:solidFill>
                  <a:srgbClr val="8B9197"/>
                </a:solidFill>
                <a:latin typeface="Arial"/>
                <a:cs typeface="Arial"/>
              </a:rPr>
              <a:t>Escenario si se alcanza el objetivo de AUC; supuestos y fuentes en las notas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8">
            <a:extLst>
              <a:ext uri="{FF2B5EF4-FFF2-40B4-BE49-F238E27FC236}">
                <a16:creationId xmlns:a16="http://schemas.microsoft.com/office/drawing/2014/main" id="{49E18F14-67C1-03FD-1B54-7C091E7B083A}"/>
              </a:ext>
            </a:extLst>
          </p:cNvPr>
          <p:cNvSpPr/>
          <p:nvPr/>
        </p:nvSpPr>
        <p:spPr>
          <a:xfrm>
            <a:off x="0" y="-43543"/>
            <a:ext cx="12192000" cy="6901544"/>
          </a:xfrm>
          <a:custGeom>
            <a:avLst/>
            <a:gdLst/>
            <a:ahLst/>
            <a:cxnLst/>
            <a:rect l="l" t="t" r="r" b="b"/>
            <a:pathLst>
              <a:path w="7616190" h="7560309">
                <a:moveTo>
                  <a:pt x="7615643" y="0"/>
                </a:moveTo>
                <a:lnTo>
                  <a:pt x="0" y="0"/>
                </a:lnTo>
                <a:lnTo>
                  <a:pt x="0" y="7559992"/>
                </a:lnTo>
                <a:lnTo>
                  <a:pt x="3689819" y="7559992"/>
                </a:lnTo>
                <a:lnTo>
                  <a:pt x="7615643" y="0"/>
                </a:lnTo>
                <a:close/>
              </a:path>
            </a:pathLst>
          </a:custGeom>
          <a:solidFill>
            <a:srgbClr val="15191D"/>
          </a:solidFill>
        </p:spPr>
        <p:txBody>
          <a:bodyPr wrap="square" lIns="0" tIns="0" rIns="0" bIns="0" rtlCol="0"/>
          <a:lstStyle/>
          <a:p>
            <a:endParaRPr dirty="0">
              <a:latin typeface="+mj-lt"/>
            </a:endParaRPr>
          </a:p>
        </p:txBody>
      </p:sp>
      <p:pic>
        <p:nvPicPr>
          <p:cNvPr id="10" name="object 16">
            <a:extLst>
              <a:ext uri="{FF2B5EF4-FFF2-40B4-BE49-F238E27FC236}">
                <a16:creationId xmlns:a16="http://schemas.microsoft.com/office/drawing/2014/main" id="{58731C1D-78BA-E384-79A1-F1D7DFBABCC3}"/>
              </a:ext>
            </a:extLst>
          </p:cNvPr>
          <p:cNvPicPr/>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tretch>
            <a:fillRect/>
          </a:stretch>
        </p:blipFill>
        <p:spPr>
          <a:xfrm>
            <a:off x="7941076" y="-145846"/>
            <a:ext cx="3613741" cy="1338944"/>
          </a:xfrm>
          <a:prstGeom prst="rect">
            <a:avLst/>
          </a:prstGeom>
        </p:spPr>
      </p:pic>
      <p:sp>
        <p:nvSpPr>
          <p:cNvPr id="2" name="CuadroTexto 1">
            <a:extLst>
              <a:ext uri="{FF2B5EF4-FFF2-40B4-BE49-F238E27FC236}">
                <a16:creationId xmlns:a16="http://schemas.microsoft.com/office/drawing/2014/main" id="{AD7A7B74-ACDE-3952-607E-91F98A156E41}"/>
              </a:ext>
            </a:extLst>
          </p:cNvPr>
          <p:cNvSpPr txBox="1"/>
          <p:nvPr/>
        </p:nvSpPr>
        <p:spPr>
          <a:xfrm>
            <a:off x="309713" y="4524888"/>
            <a:ext cx="4273173" cy="2062103"/>
          </a:xfrm>
          <a:prstGeom prst="rect">
            <a:avLst/>
          </a:prstGeom>
          <a:noFill/>
        </p:spPr>
        <p:txBody>
          <a:bodyPr wrap="square">
            <a:spAutoFit/>
          </a:bodyPr>
          <a:lstStyle/>
          <a:p>
            <a:r>
              <a:rPr lang="es-ES_tradnl" sz="4000" dirty="0">
                <a:solidFill>
                  <a:schemeClr val="bg1"/>
                </a:solidFill>
                <a:latin typeface="+mj-lt"/>
              </a:rPr>
              <a:t>Soy Innovación </a:t>
            </a:r>
          </a:p>
          <a:p>
            <a:r>
              <a:rPr lang="es-ES_tradnl" sz="4000" dirty="0">
                <a:solidFill>
                  <a:schemeClr val="bg1"/>
                </a:solidFill>
                <a:latin typeface="+mj-lt"/>
              </a:rPr>
              <a:t>Soy </a:t>
            </a:r>
            <a:r>
              <a:rPr lang="es-ES_tradnl" sz="4000" dirty="0" err="1">
                <a:solidFill>
                  <a:schemeClr val="bg1"/>
                </a:solidFill>
                <a:latin typeface="+mj-lt"/>
              </a:rPr>
              <a:t>Maker</a:t>
            </a:r>
            <a:endParaRPr lang="es-ES_tradnl" sz="4000" dirty="0">
              <a:solidFill>
                <a:schemeClr val="bg1"/>
              </a:solidFill>
              <a:latin typeface="+mj-lt"/>
            </a:endParaRPr>
          </a:p>
          <a:p>
            <a:r>
              <a:rPr lang="es-ES_tradnl" sz="4800" b="1" dirty="0">
                <a:solidFill>
                  <a:schemeClr val="bg1"/>
                </a:solidFill>
                <a:latin typeface="+mj-lt"/>
              </a:rPr>
              <a:t>Soy UAX</a:t>
            </a:r>
            <a:endParaRPr lang="es-ES_tradnl" sz="1200" b="1" dirty="0">
              <a:solidFill>
                <a:schemeClr val="bg1"/>
              </a:solidFill>
              <a:latin typeface="+mj-lt"/>
            </a:endParaRPr>
          </a:p>
        </p:txBody>
      </p:sp>
      <p:sp>
        <p:nvSpPr>
          <p:cNvPr id="9" name="CuadroTexto 8">
            <a:extLst>
              <a:ext uri="{FF2B5EF4-FFF2-40B4-BE49-F238E27FC236}">
                <a16:creationId xmlns:a16="http://schemas.microsoft.com/office/drawing/2014/main" id="{F2D642AB-E684-4603-A6BD-4087E8D9F867}"/>
              </a:ext>
            </a:extLst>
          </p:cNvPr>
          <p:cNvSpPr txBox="1"/>
          <p:nvPr/>
        </p:nvSpPr>
        <p:spPr>
          <a:xfrm>
            <a:off x="2132120" y="2333112"/>
            <a:ext cx="7927759" cy="1569660"/>
          </a:xfrm>
          <a:prstGeom prst="rect">
            <a:avLst/>
          </a:prstGeom>
          <a:noFill/>
        </p:spPr>
        <p:txBody>
          <a:bodyPr wrap="square" rtlCol="0">
            <a:spAutoFit/>
          </a:bodyPr>
          <a:lstStyle/>
          <a:p>
            <a:pPr algn="ctr"/>
            <a:r>
              <a:rPr lang="es-ES_tradnl" sz="4800" b="1" dirty="0">
                <a:solidFill>
                  <a:schemeClr val="bg1"/>
                </a:solidFill>
                <a:latin typeface="+mj-lt"/>
              </a:rPr>
              <a:t> </a:t>
            </a:r>
          </a:p>
          <a:p>
            <a:pPr algn="ctr"/>
            <a:r>
              <a:rPr lang="es-ES_tradnl" sz="4800" b="1" dirty="0">
                <a:solidFill>
                  <a:schemeClr val="bg1"/>
                </a:solidFill>
                <a:latin typeface="+mj-lt"/>
              </a:rPr>
              <a:t>¡Gracias!</a:t>
            </a:r>
          </a:p>
        </p:txBody>
      </p:sp>
    </p:spTree>
    <p:extLst>
      <p:ext uri="{BB962C8B-B14F-4D97-AF65-F5344CB8AC3E}">
        <p14:creationId xmlns:p14="http://schemas.microsoft.com/office/powerpoint/2010/main" val="11022190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M Roman 10">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roceso xmlns="4bd470e1-a810-4dc7-a7f4-504af0e5f80d">PE01.01</Proceso>
    <Macroproceso xmlns="4bd470e1-a810-4dc7-a7f4-504af0e5f80d">LIDERAZGO Y ESTRATEGIA</Macroproceso>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9B84DA0D6C2ADE46966ECE7A6B7DD2B5" ma:contentTypeVersion="8" ma:contentTypeDescription="Crear nuevo documento." ma:contentTypeScope="" ma:versionID="36dcda6161a342f68f8c529063e8cda3">
  <xsd:schema xmlns:xsd="http://www.w3.org/2001/XMLSchema" xmlns:xs="http://www.w3.org/2001/XMLSchema" xmlns:p="http://schemas.microsoft.com/office/2006/metadata/properties" xmlns:ns2="4bd470e1-a810-4dc7-a7f4-504af0e5f80d" xmlns:ns3="94bf27de-86a6-4ac7-874e-21eaa1714b2f" targetNamespace="http://schemas.microsoft.com/office/2006/metadata/properties" ma:root="true" ma:fieldsID="0e2e7ed13747b05cb62c0c7df8d0962a" ns2:_="" ns3:_="">
    <xsd:import namespace="4bd470e1-a810-4dc7-a7f4-504af0e5f80d"/>
    <xsd:import namespace="94bf27de-86a6-4ac7-874e-21eaa1714b2f"/>
    <xsd:element name="properties">
      <xsd:complexType>
        <xsd:sequence>
          <xsd:element name="documentManagement">
            <xsd:complexType>
              <xsd:all>
                <xsd:element ref="ns2:MediaServiceMetadata" minOccurs="0"/>
                <xsd:element ref="ns2:MediaServiceFastMetadata" minOccurs="0"/>
                <xsd:element ref="ns2:Macroproceso" minOccurs="0"/>
                <xsd:element ref="ns2:Proceso"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bd470e1-a810-4dc7-a7f4-504af0e5f8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acroproceso" ma:index="10" nillable="true" ma:displayName="Macroproceso" ma:format="Dropdown" ma:internalName="Macroproceso">
      <xsd:simpleType>
        <xsd:restriction base="dms:Text">
          <xsd:maxLength value="255"/>
        </xsd:restriction>
      </xsd:simpleType>
    </xsd:element>
    <xsd:element name="Proceso" ma:index="11" nillable="true" ma:displayName="Proceso" ma:format="Dropdown" ma:internalName="Proceso">
      <xsd:simpleType>
        <xsd:restriction base="dms:Text">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4bf27de-86a6-4ac7-874e-21eaa1714b2f" elementFormDefault="qualified">
    <xsd:import namespace="http://schemas.microsoft.com/office/2006/documentManagement/types"/>
    <xsd:import namespace="http://schemas.microsoft.com/office/infopath/2007/PartnerControls"/>
    <xsd:element name="SharedWithUsers" ma:index="14"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F8CADC5-B4F8-4677-9B61-54BC6C46CF0F}">
  <ds:schemaRefs>
    <ds:schemaRef ds:uri="http://schemas.microsoft.com/sharepoint/v3/contenttype/forms"/>
  </ds:schemaRefs>
</ds:datastoreItem>
</file>

<file path=customXml/itemProps2.xml><?xml version="1.0" encoding="utf-8"?>
<ds:datastoreItem xmlns:ds="http://schemas.openxmlformats.org/officeDocument/2006/customXml" ds:itemID="{C5FC8CCB-90C7-4014-A3CC-51D62035841A}">
  <ds:schemaRefs>
    <ds:schemaRef ds:uri="http://schemas.microsoft.com/office/2006/metadata/properties"/>
    <ds:schemaRef ds:uri="http://schemas.microsoft.com/office/infopath/2007/PartnerControls"/>
    <ds:schemaRef ds:uri="4bd470e1-a810-4dc7-a7f4-504af0e5f80d"/>
  </ds:schemaRefs>
</ds:datastoreItem>
</file>

<file path=customXml/itemProps3.xml><?xml version="1.0" encoding="utf-8"?>
<ds:datastoreItem xmlns:ds="http://schemas.openxmlformats.org/officeDocument/2006/customXml" ds:itemID="{2487E67B-EA3D-412C-8702-4A89E4D9D8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bd470e1-a810-4dc7-a7f4-504af0e5f80d"/>
    <ds:schemaRef ds:uri="94bf27de-86a6-4ac7-874e-21eaa1714b2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11873</TotalTime>
  <Words>2180</Words>
  <Application>Microsoft Macintosh PowerPoint</Application>
  <PresentationFormat>Panorámica</PresentationFormat>
  <Paragraphs>184</Paragraphs>
  <Slides>7</Slides>
  <Notes>7</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7</vt:i4>
      </vt:variant>
    </vt:vector>
  </HeadingPairs>
  <TitlesOfParts>
    <vt:vector size="10" baseType="lpstr">
      <vt:lpstr>Arial</vt:lpstr>
      <vt:lpstr>Calibri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Revisión por la Dirección</dc:title>
  <dc:creator>Javier Medina de Moya</dc:creator>
  <cp:lastModifiedBy>Alejandro Barreche Ruiz</cp:lastModifiedBy>
  <cp:revision>84</cp:revision>
  <cp:lastPrinted>2023-04-11T15:07:57Z</cp:lastPrinted>
  <dcterms:created xsi:type="dcterms:W3CDTF">2023-02-27T08:54:16Z</dcterms:created>
  <dcterms:modified xsi:type="dcterms:W3CDTF">2026-10-30T17:22:04Z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0x0101009B84DA0D6C2ADE46966ECE7A6B7DD2B5</vt:lpwstr>
  </property>
</Properties>
</file>