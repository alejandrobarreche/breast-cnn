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301" r:id="rId101"/>
    <p:sldId id="302" r:id="rId102"/>
    <p:sldId id="303" r:id="rId103"/>
    <p:sldId id="304" r:id="rId104"/>
    <p:sldId id="305" r:id="rId105"/>
    <p:sldId id="306" r:id="rId106"/>
    <p:sldId id="307" r:id="rId107"/>
  </p:sldIdLst>
  <p:sldSz cx="12192000" cy="6858000"/>
  <p:notesSz cx="7099300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60AB"/>
    <a:srgbClr val="065CA9"/>
    <a:srgbClr val="0A849F"/>
    <a:srgbClr val="2F528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/>
    <p:restoredTop sz="94648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1" Type="http://schemas.openxmlformats.org/officeDocument/2006/relationships/slide" Target="slides/slide1.xml"/><Relationship Id="rId102" Type="http://schemas.openxmlformats.org/officeDocument/2006/relationships/slide" Target="slides/slide2.xml"/><Relationship Id="rId103" Type="http://schemas.openxmlformats.org/officeDocument/2006/relationships/slide" Target="slides/slide3.xml"/><Relationship Id="rId104" Type="http://schemas.openxmlformats.org/officeDocument/2006/relationships/slide" Target="slides/slide4.xml"/><Relationship Id="rId105" Type="http://schemas.openxmlformats.org/officeDocument/2006/relationships/slide" Target="slides/slide5.xml"/><Relationship Id="rId106" Type="http://schemas.openxmlformats.org/officeDocument/2006/relationships/slide" Target="slides/slide6.xml"/><Relationship Id="rId107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6F5C5E53-F147-8644-A0CF-46FCFCB7C5D6}" type="datetimeFigureOut">
              <a:rPr lang="es-ES_tradnl" smtClean="0"/>
              <a:t>14/09/2025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47058AE-FEB0-D242-BCAE-44464DE802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43059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 xml:space="preserve">[5 s] Presento una red convolucional 2D, entrenada desde cero, que estima a partir de la resonancia previa al tratamiento la probabilidad de respuesta patológica completa en cáncer de mama.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 xml:space="preserve">[40 s] Algunas pacientes con cáncer de mama reciben el tratamiento antes de la cirugía: es el tratamiento neoadyuvante. Solo al operar se sabe si el tumor ha desaparecido; eso es la respuesta patológica completa, o pCR, y se asocia a mayor supervivencia. Contamos con la resonancia previa de 1.450 pacientes de tres cohortes, con su resultado; solo unas 3 de cada 10 alcanzan la pCR. La pregunta es si esa imagen permite anticipar la respuesta. Mi propuesta es Lector pCR: una red convolucional entrenada desde cero que estima la probabilidad de pCR de cada paciente y la compara con un umbral. Apoya al médico, no lo sustituye. Abajo está el proceso que voy a recorrer.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 xml:space="preserve">[35 s] Cada corte tiene tres fases de la resonancia: antes del contraste, poco después y más tarde. Son tres instantes, no colores, así que no uso normalización de ImageNet. La resta de la fase temprana menos la previa muestra dónde capta contraste el tejido; el tumor suele captar más. Hay 1.097 pacientes de entrenamiento con unos diez cortes cada una, repartidas en cinco folds por paciente: los cortes de una paciente nunca se separan. Solo el 29,4 % alcanza pCR, así que pondero la clase positiva con N0 entre N1, calculado en cada fold solo con su entrenamiento.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 xml:space="preserve">[70 s] La red recibe un tensor de 3 × 256 × 256 y recorta los 128 píxeles centrales, donde se concentra el tumor en las tres cohortes. Siguen cinco bloques: cada uno aplica dos convoluciones 3×3 con normalización por lotes y ReLU, y un max-pooling que reduce la resolución a la mitad, mientras los canales se duplican de 4 a 64. Al final, el campo receptivo es de 156 píxeles, de modo que cada salida ve todo el recorte. Una media global, dropout de 0,3 y una capa lineal dan un único logit; la sigmoide lo convierte en probabilidad. La anchura se eligió con validación: con 296.000 parámetros la red memoriza —tras 40 épocas el AUC de entrenamiento supera al de validación en 0,37— y con 19.000 no aprende lo suficiente. Con 74.000 se obtuvo el mejor AUC por paciente, 0,583, eligiendo la época sin mirar el fold evaluado.</a:t>
            </a:r>
          </a:p>
          <a:p>
            <a:r>
              <a:rPr lang="es-ES" dirty="0"/>
              <a:t xml:space="preserve"/>
            </a:r>
          </a:p>
          <a:p>
            <a:r>
              <a:rPr lang="es-ES" dirty="0"/>
              <a:t xml:space="preserve">Preguntas probables: ¿por qué no más profunda? Probé una variante profunda y no mejoró. ¿Por qué BatchNorm? Estabiliza el entrenamiento desde cero; por eso la penalización de pesos fuerte no ayuda (la escala de las convoluciones seguidas de BN no afecta a la salida).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 xml:space="preserve">[80 s] El entrenamiento usa BCE ponderada, AdamW, decaimiento coseno y media exponencial de los pesos, con aumentos geométricos idénticos en las tres fases, durante 8 épocas elegidas con los otros folds. El AUC mide si el modelo ordena bien: es la probabilidad de que una paciente con pCR reciba más puntuación que una sin pCR; 0,5 es azar. La línea coral es una referencia que solo conoce la cohorte de origen. En validación, el modelo estrecho llega a 0,582, pero la diferencia no es significativa; en test, el ancho dio 0,591 y el estrecho 0,522, en una segunda evaluación que declaro como tal. A la derecha, el coste de equivocarse. Un falso positivo anuncia una respuesta completa que no llega; un falso negativo no reconoce a una paciente que sí responde. Fijé el umbral en validación para una especificidad del 90 %, para no dar falsas expectativas. En test eso deja 9 falsos positivos, pero solo detecta 5 de las 53 pCR.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 xml:space="preserve">[30 s, demostración] Abrir la web, cargar un ejemplo y mostrar probabilidad, umbral y clase predicha.</a:t>
            </a:r>
          </a:p>
          <a:p>
            <a:r>
              <a:rPr lang="es-ES" dirty="0"/>
              <a:t xml:space="preserve"/>
            </a:r>
          </a:p>
          <a:p>
            <a:r>
              <a:rPr lang="es-ES" dirty="0"/>
              <a:t xml:space="preserve">[40 s] Lector pCR ejecuta el modelo en el navegador y replica el preprocesado de Python con una diferencia inferior a una millonésima; las imágenes no salen del equipo. Para llevarlo a un hospital propongo tres pasos: datos 3D con el tumor segmentado; comparar una CNN 3D con la actual en los mismos folds y validarla en varios centros de forma prospectiva; e integrarla con el PACS como apoyo al comité de tumores, con marcado CE. Abajo, los riesgos y cómo se mitigan: la señal es débil, parte depende del hospital, no debe usarse como diagnóstico y requiere regulación. Conclusión: el sistema es reproducible y desplegable, pero la imagen 2D sola no basta para predecir la pCR.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 xml:space="preserve">Durante las preguntas, volver a la diapositiva 5 si hace falta mostrar las conclusiones.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uax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hlinkClick r:id="rId2"/>
            <a:extLst>
              <a:ext uri="{FF2B5EF4-FFF2-40B4-BE49-F238E27FC236}">
                <a16:creationId xmlns:a16="http://schemas.microsoft.com/office/drawing/2014/main" id="{5BF8870F-7094-C29D-E8ED-ECA89B0365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46" y="260963"/>
            <a:ext cx="1874520" cy="411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62349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5">
            <a:extLst>
              <a:ext uri="{FF2B5EF4-FFF2-40B4-BE49-F238E27FC236}">
                <a16:creationId xmlns:a16="http://schemas.microsoft.com/office/drawing/2014/main" id="{B5B8F871-0E84-42DA-BFCD-CDAC5D2E41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b="9915"/>
          <a:stretch/>
        </p:blipFill>
        <p:spPr>
          <a:xfrm>
            <a:off x="9666514" y="5977316"/>
            <a:ext cx="2525486" cy="8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1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8580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10" Type="http://schemas.openxmlformats.org/officeDocument/2006/relationships/image" Target="../media/slide_pre.png"/><Relationship Id="rId11" Type="http://schemas.openxmlformats.org/officeDocument/2006/relationships/image" Target="../media/slide_early.png"/><Relationship Id="rId12" Type="http://schemas.openxmlformats.org/officeDocument/2006/relationships/image" Target="../media/slide_late.png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10" Type="http://schemas.openxmlformats.org/officeDocument/2006/relationships/image" Target="../media/slide_early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10" Type="http://schemas.openxmlformats.org/officeDocument/2006/relationships/image" Target="../media/slide_pre.png"/><Relationship Id="rId11" Type="http://schemas.openxmlformats.org/officeDocument/2006/relationships/image" Target="../media/slide_early.png"/><Relationship Id="rId12" Type="http://schemas.openxmlformats.org/officeDocument/2006/relationships/image" Target="../media/slide_late.png"/><Relationship Id="rId13" Type="http://schemas.openxmlformats.org/officeDocument/2006/relationships/image" Target="../media/slide_enhancement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10" Type="http://schemas.openxmlformats.org/officeDocument/2006/relationships/image" Target="../media/slide_early.png"/><Relationship Id="rId11" Type="http://schemas.openxmlformats.org/officeDocument/2006/relationships/image" Target="../media/slide_early_crop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bre 11">
            <a:extLst>
              <a:ext uri="{FF2B5EF4-FFF2-40B4-BE49-F238E27FC236}">
                <a16:creationId xmlns:a16="http://schemas.microsoft.com/office/drawing/2014/main" id="{D2B11345-E8EA-ACC7-79CF-9FA1F48C198A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custGeom>
            <a:avLst/>
            <a:gdLst>
              <a:gd name="connsiteX0" fmla="*/ 1130164 w 5988108"/>
              <a:gd name="connsiteY0" fmla="*/ 0 h 6858123"/>
              <a:gd name="connsiteX1" fmla="*/ 4627399 w 5988108"/>
              <a:gd name="connsiteY1" fmla="*/ 0 h 6858123"/>
              <a:gd name="connsiteX2" fmla="*/ 4627399 w 5988108"/>
              <a:gd name="connsiteY2" fmla="*/ 121 h 6858123"/>
              <a:gd name="connsiteX3" fmla="*/ 5988108 w 5988108"/>
              <a:gd name="connsiteY3" fmla="*/ 121 h 6858123"/>
              <a:gd name="connsiteX4" fmla="*/ 3645379 w 5988108"/>
              <a:gd name="connsiteY4" fmla="*/ 6858120 h 6858123"/>
              <a:gd name="connsiteX5" fmla="*/ 3497235 w 5988108"/>
              <a:gd name="connsiteY5" fmla="*/ 6858120 h 6858123"/>
              <a:gd name="connsiteX6" fmla="*/ 3497235 w 5988108"/>
              <a:gd name="connsiteY6" fmla="*/ 6858123 h 6858123"/>
              <a:gd name="connsiteX7" fmla="*/ 0 w 5988108"/>
              <a:gd name="connsiteY7" fmla="*/ 6858123 h 6858123"/>
              <a:gd name="connsiteX8" fmla="*/ 0 w 5988108"/>
              <a:gd name="connsiteY8" fmla="*/ 123 h 6858123"/>
              <a:gd name="connsiteX9" fmla="*/ 1130164 w 5988108"/>
              <a:gd name="connsiteY9" fmla="*/ 123 h 685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88108" h="6858123">
                <a:moveTo>
                  <a:pt x="1130164" y="0"/>
                </a:moveTo>
                <a:lnTo>
                  <a:pt x="4627399" y="0"/>
                </a:lnTo>
                <a:lnTo>
                  <a:pt x="4627399" y="121"/>
                </a:lnTo>
                <a:lnTo>
                  <a:pt x="5988108" y="121"/>
                </a:lnTo>
                <a:lnTo>
                  <a:pt x="3645379" y="6858120"/>
                </a:lnTo>
                <a:lnTo>
                  <a:pt x="3497235" y="6858120"/>
                </a:lnTo>
                <a:lnTo>
                  <a:pt x="3497235" y="6858123"/>
                </a:lnTo>
                <a:lnTo>
                  <a:pt x="0" y="6858123"/>
                </a:lnTo>
                <a:lnTo>
                  <a:pt x="0" y="123"/>
                </a:lnTo>
                <a:lnTo>
                  <a:pt x="1130164" y="123"/>
                </a:lnTo>
                <a:close/>
              </a:path>
            </a:pathLst>
          </a:custGeom>
          <a:solidFill>
            <a:srgbClr val="1519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pic>
        <p:nvPicPr>
          <p:cNvPr id="10" name="object 16">
            <a:extLst>
              <a:ext uri="{FF2B5EF4-FFF2-40B4-BE49-F238E27FC236}">
                <a16:creationId xmlns:a16="http://schemas.microsoft.com/office/drawing/2014/main" id="{58731C1D-78BA-E384-79A1-F1D7DFBABC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538902"/>
            <a:ext cx="3497234" cy="1319098"/>
          </a:xfrm>
          <a:prstGeom prst="rect">
            <a:avLst/>
          </a:prstGeom>
        </p:spPr>
      </p:pic>
      <p:pic>
        <p:nvPicPr>
          <p:cNvPr id="21" name="Fase PRE 21" descr="Fase PR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777240"/>
            <a:ext cx="1280160" cy="1280160"/>
          </a:xfrm>
          <a:prstGeom prst="roundRect">
            <a:avLst>
              <a:gd name="adj" fmla="val 7142"/>
            </a:avLst>
          </a:prstGeom>
        </p:spPr>
      </p:pic>
      <p:sp>
        <p:nvSpPr>
          <p:cNvPr id="22" name="Label 22"/>
          <p:cNvSpPr txBox="1"/>
          <p:nvPr/>
        </p:nvSpPr>
        <p:spPr>
          <a:xfrm>
            <a:off x="822960" y="21031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A4A9AE"/>
                </a:solidFill>
                <a:latin typeface="Arial"/>
                <a:cs typeface="Arial"/>
              </a:rPr>
              <a:t xml:space="preserve">PRE</a:t>
            </a:r>
          </a:p>
        </p:txBody>
      </p:sp>
      <p:pic>
        <p:nvPicPr>
          <p:cNvPr id="23" name="Fase EARLY 23" descr="Fase EARLY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0280" y="777240"/>
            <a:ext cx="1280160" cy="1280160"/>
          </a:xfrm>
          <a:prstGeom prst="roundRect">
            <a:avLst>
              <a:gd name="adj" fmla="val 7142"/>
            </a:avLst>
          </a:prstGeom>
        </p:spPr>
      </p:pic>
      <p:sp>
        <p:nvSpPr>
          <p:cNvPr id="24" name="Label 24"/>
          <p:cNvSpPr txBox="1"/>
          <p:nvPr/>
        </p:nvSpPr>
        <p:spPr>
          <a:xfrm>
            <a:off x="2240280" y="21031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A4A9AE"/>
                </a:solidFill>
                <a:latin typeface="Arial"/>
                <a:cs typeface="Arial"/>
              </a:rPr>
              <a:t xml:space="preserve">EARLY</a:t>
            </a:r>
          </a:p>
        </p:txBody>
      </p:sp>
      <p:pic>
        <p:nvPicPr>
          <p:cNvPr id="25" name="Fase LATE 25" descr="Fase LAT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0" y="777240"/>
            <a:ext cx="1280160" cy="1280160"/>
          </a:xfrm>
          <a:prstGeom prst="roundRect">
            <a:avLst>
              <a:gd name="adj" fmla="val 7142"/>
            </a:avLst>
          </a:prstGeom>
        </p:spPr>
      </p:pic>
      <p:sp>
        <p:nvSpPr>
          <p:cNvPr id="26" name="Label 26"/>
          <p:cNvSpPr txBox="1"/>
          <p:nvPr/>
        </p:nvSpPr>
        <p:spPr>
          <a:xfrm>
            <a:off x="3657600" y="21031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A4A9AE"/>
                </a:solidFill>
                <a:latin typeface="Arial"/>
                <a:cs typeface="Arial"/>
              </a:rPr>
              <a:t xml:space="preserve">LATE</a:t>
            </a:r>
          </a:p>
        </p:txBody>
      </p:sp>
      <p:sp>
        <p:nvSpPr>
          <p:cNvPr id="27" name="Title 27"/>
          <p:cNvSpPr txBox="1"/>
          <p:nvPr/>
        </p:nvSpPr>
        <p:spPr>
          <a:xfrm>
            <a:off x="822960" y="2697480"/>
            <a:ext cx="6949440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s-ES" sz="32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Predicción de respuesta patológica completa con una CNN 2D sobre DCE-MRI de mama</a:t>
            </a:r>
          </a:p>
        </p:txBody>
      </p:sp>
      <p:sp>
        <p:nvSpPr>
          <p:cNvPr id="28" name="Subtitle 28"/>
          <p:cNvSpPr txBox="1"/>
          <p:nvPr/>
        </p:nvSpPr>
        <p:spPr>
          <a:xfrm>
            <a:off x="822960" y="434340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700" b="0" i="0" dirty="0">
                <a:solidFill>
                  <a:srgbClr val="E8EAEC"/>
                </a:solidFill>
                <a:latin typeface="Arial"/>
                <a:cs typeface="Arial"/>
              </a:rPr>
              <a:t xml:space="preserve">Alejandro Barreche · Aprendizaje Automático</a:t>
            </a:r>
          </a:p>
        </p:txBody>
      </p:sp>
      <p:sp>
        <p:nvSpPr>
          <p:cNvPr id="29" name="Date 29"/>
          <p:cNvSpPr txBox="1"/>
          <p:nvPr/>
        </p:nvSpPr>
        <p:spPr>
          <a:xfrm>
            <a:off x="822960" y="47091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500" b="0" i="0" dirty="0">
                <a:solidFill>
                  <a:srgbClr val="A4A9AE"/>
                </a:solidFill>
                <a:latin typeface="Arial"/>
                <a:cs typeface="Arial"/>
              </a:rPr>
              <a:t xml:space="preserve">4 de noviembre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 3"/>
          <p:cNvSpPr/>
          <p:nvPr/>
        </p:nvSpPr>
        <p:spPr>
          <a:xfrm>
            <a:off x="7863840" y="-1463040"/>
            <a:ext cx="5669280" cy="4572000"/>
          </a:xfrm>
          <a:prstGeom prst="ellipse">
            <a:avLst/>
          </a:prstGeom>
          <a:solidFill>
            <a:srgbClr val="D6E4E6">
              <a:alpha val="8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4" name="Blob 4"/>
          <p:cNvSpPr/>
          <p:nvPr/>
        </p:nvSpPr>
        <p:spPr>
          <a:xfrm>
            <a:off x="-1645920" y="3566160"/>
            <a:ext cx="5852160" cy="4206240"/>
          </a:xfrm>
          <a:prstGeom prst="ellipse">
            <a:avLst/>
          </a:prstGeom>
          <a:solidFill>
            <a:srgbClr val="E6E0EE">
              <a:alpha val="8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5" name="Blob 5"/>
          <p:cNvSpPr/>
          <p:nvPr/>
        </p:nvSpPr>
        <p:spPr>
          <a:xfrm>
            <a:off x="4754880" y="4206240"/>
            <a:ext cx="4937760" cy="3291840"/>
          </a:xfrm>
          <a:prstGeom prst="ellipse">
            <a:avLst/>
          </a:prstGeom>
          <a:solidFill>
            <a:srgbClr val="ECE5DC">
              <a:alpha val="7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6" name="Kicker 6"/>
          <p:cNvSpPr txBox="1"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3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1 · Contexto del caso y solución</a:t>
            </a:r>
          </a:p>
        </p:txBody>
      </p:sp>
      <p:sp>
        <p:nvSpPr>
          <p:cNvPr id="7" name="Title 7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s-ES" sz="25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Hoy la respuesta al tratamiento solo se conoce al operar; Lector pCR la estima antes, a partir de la resonancia</a:t>
            </a:r>
          </a:p>
        </p:txBody>
      </p:sp>
      <p:sp>
        <p:nvSpPr>
          <p:cNvPr id="8" name="Page 8"/>
          <p:cNvSpPr txBox="1"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1 / 5</a:t>
            </a:r>
          </a:p>
        </p:txBody>
      </p:sp>
      <p:sp>
        <p:nvSpPr>
          <p:cNvPr id="9" name="Panel 9"/>
          <p:cNvSpPr/>
          <p:nvPr/>
        </p:nvSpPr>
        <p:spPr>
          <a:xfrm>
            <a:off x="548640" y="1783080"/>
            <a:ext cx="5760720" cy="2880360"/>
          </a:xfrm>
          <a:prstGeom prst="roundRect">
            <a:avLst>
              <a:gd name="adj" fmla="val 5079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10" name="H 10"/>
          <p:cNvSpPr txBox="1"/>
          <p:nvPr/>
        </p:nvSpPr>
        <p:spPr>
          <a:xfrm>
            <a:off x="822960" y="18745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5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Lo que tenemos</a:t>
            </a:r>
          </a:p>
        </p:txBody>
      </p:sp>
      <p:sp>
        <p:nvSpPr>
          <p:cNvPr id="11" name="Num 11"/>
          <p:cNvSpPr/>
          <p:nvPr/>
        </p:nvSpPr>
        <p:spPr>
          <a:xfrm>
            <a:off x="822960" y="2313432"/>
            <a:ext cx="347472" cy="347472"/>
          </a:xfrm>
          <a:prstGeom prst="ellipse">
            <a:avLst/>
          </a:prstGeom>
          <a:noFill/>
          <a:ln w="15875">
            <a:solidFill>
              <a:srgbClr val="15191D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1</a:t>
            </a:r>
          </a:p>
        </p:txBody>
      </p:sp>
      <p:sp>
        <p:nvSpPr>
          <p:cNvPr id="12" name="Point 12"/>
          <p:cNvSpPr txBox="1"/>
          <p:nvPr/>
        </p:nvSpPr>
        <p:spPr>
          <a:xfrm>
            <a:off x="1325880" y="2286000"/>
            <a:ext cx="4800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4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Tratamiento antes de la cirugía </a:t>
            </a:r>
            <a:r>
              <a:rPr lang="es-ES" sz="14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(neoadyuvante): si el tumor desaparece, hay respuesta patológica completa (pCR), asociada a mayor supervivencia</a:t>
            </a:r>
          </a:p>
        </p:txBody>
      </p:sp>
      <p:sp>
        <p:nvSpPr>
          <p:cNvPr id="13" name="Num 13"/>
          <p:cNvSpPr/>
          <p:nvPr/>
        </p:nvSpPr>
        <p:spPr>
          <a:xfrm>
            <a:off x="822960" y="3154680"/>
            <a:ext cx="347472" cy="347472"/>
          </a:xfrm>
          <a:prstGeom prst="ellipse">
            <a:avLst/>
          </a:prstGeom>
          <a:noFill/>
          <a:ln w="15875">
            <a:solidFill>
              <a:srgbClr val="15191D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2</a:t>
            </a:r>
          </a:p>
        </p:txBody>
      </p:sp>
      <p:sp>
        <p:nvSpPr>
          <p:cNvPr id="14" name="Point 14"/>
          <p:cNvSpPr txBox="1"/>
          <p:nvPr/>
        </p:nvSpPr>
        <p:spPr>
          <a:xfrm>
            <a:off x="1325880" y="3127248"/>
            <a:ext cx="4800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4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La pCR solo se conoce al operar, </a:t>
            </a:r>
            <a:r>
              <a:rPr lang="es-ES" sz="14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meses después de empezar el tratamiento</a:t>
            </a:r>
          </a:p>
        </p:txBody>
      </p:sp>
      <p:sp>
        <p:nvSpPr>
          <p:cNvPr id="15" name="Num 15"/>
          <p:cNvSpPr/>
          <p:nvPr/>
        </p:nvSpPr>
        <p:spPr>
          <a:xfrm>
            <a:off x="822960" y="3685032"/>
            <a:ext cx="347472" cy="347472"/>
          </a:xfrm>
          <a:prstGeom prst="ellipse">
            <a:avLst/>
          </a:prstGeom>
          <a:noFill/>
          <a:ln w="15875">
            <a:solidFill>
              <a:srgbClr val="15191D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3</a:t>
            </a:r>
          </a:p>
        </p:txBody>
      </p:sp>
      <p:sp>
        <p:nvSpPr>
          <p:cNvPr id="16" name="Point 16"/>
          <p:cNvSpPr txBox="1"/>
          <p:nvPr/>
        </p:nvSpPr>
        <p:spPr>
          <a:xfrm>
            <a:off x="1325880" y="3657600"/>
            <a:ext cx="48006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4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Resonancias previas de 1.450 pacientes </a:t>
            </a:r>
            <a:r>
              <a:rPr lang="es-ES" sz="14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de 3 cohortes, con su resultado pCR; solo ~3 de cada 10 la alcanzan</a:t>
            </a:r>
          </a:p>
        </p:txBody>
      </p:sp>
      <p:sp>
        <p:nvSpPr>
          <p:cNvPr id="17" name="Citation 17"/>
          <p:cNvSpPr txBox="1"/>
          <p:nvPr/>
        </p:nvSpPr>
        <p:spPr>
          <a:xfrm>
            <a:off x="1325880" y="4370832"/>
            <a:ext cx="4846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000" b="0" i="1" dirty="0">
                <a:solidFill>
                  <a:srgbClr val="8B9197"/>
                </a:solidFill>
                <a:latin typeface="Arial"/>
                <a:cs typeface="Arial"/>
              </a:rPr>
              <a:t xml:space="preserve">pCR y supervivencia: Cortazar et al., Lancet 2014</a:t>
            </a:r>
          </a:p>
        </p:txBody>
      </p:sp>
      <p:sp>
        <p:nvSpPr>
          <p:cNvPr id="18" name="Panel 18"/>
          <p:cNvSpPr/>
          <p:nvPr/>
        </p:nvSpPr>
        <p:spPr>
          <a:xfrm>
            <a:off x="6492240" y="1783080"/>
            <a:ext cx="5148072" cy="2880360"/>
          </a:xfrm>
          <a:prstGeom prst="roundRect">
            <a:avLst>
              <a:gd name="adj" fmla="val 5079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19" name="H 19"/>
          <p:cNvSpPr txBox="1"/>
          <p:nvPr/>
        </p:nvSpPr>
        <p:spPr>
          <a:xfrm>
            <a:off x="6766560" y="187452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5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La solución</a:t>
            </a:r>
          </a:p>
        </p:txBody>
      </p:sp>
      <p:sp>
        <p:nvSpPr>
          <p:cNvPr id="20" name="Solution 20"/>
          <p:cNvSpPr txBox="1"/>
          <p:nvPr/>
        </p:nvSpPr>
        <p:spPr>
          <a:xfrm>
            <a:off x="6766560" y="2212848"/>
            <a:ext cx="4663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4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Lector pCR: </a:t>
            </a:r>
            <a:r>
              <a:rPr lang="es-ES" sz="14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una CNN entrenada desde cero estima la probabilidad de pCR de cada paciente solo con su resonancia previa</a:t>
            </a:r>
          </a:p>
        </p:txBody>
      </p:sp>
      <p:sp>
        <p:nvSpPr>
          <p:cNvPr id="21" name="Viewer 21"/>
          <p:cNvSpPr/>
          <p:nvPr/>
        </p:nvSpPr>
        <p:spPr>
          <a:xfrm>
            <a:off x="6766560" y="3063240"/>
            <a:ext cx="1371600" cy="1371600"/>
          </a:xfrm>
          <a:prstGeom prst="roundRect">
            <a:avLst>
              <a:gd name="adj" fmla="val 10666"/>
            </a:avLst>
          </a:prstGeom>
          <a:solidFill>
            <a:srgbClr val="0E1113"/>
          </a:solidFill>
          <a:ln>
            <a:noFill/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pic>
        <p:nvPicPr>
          <p:cNvPr id="22" name="Resonancia 22" descr="Resonanci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0" y="3154680"/>
            <a:ext cx="1188720" cy="1188720"/>
          </a:xfrm>
          <a:prstGeom prst="roundRect">
            <a:avLst>
              <a:gd name="adj" fmla="val 3846"/>
            </a:avLst>
          </a:prstGeom>
        </p:spPr>
      </p:pic>
      <p:cxnSp>
        <p:nvCxnSpPr>
          <p:cNvPr id="23" name="Line 23"/>
          <p:cNvCxnSpPr/>
          <p:nvPr/>
        </p:nvCxnSpPr>
        <p:spPr>
          <a:xfrm>
            <a:off x="8229600" y="3749040"/>
            <a:ext cx="320040" cy="0"/>
          </a:xfrm>
          <a:prstGeom prst="line">
            <a:avLst/>
          </a:prstGeom>
          <a:ln w="15875">
            <a:solidFill>
              <a:srgbClr val="15191D"/>
            </a:solidFill>
            <a:tailEnd type="triangle" w="med" len="med"/>
          </a:ln>
        </p:spPr>
      </p:cxnSp>
      <p:sp>
        <p:nvSpPr>
          <p:cNvPr id="24" name="Scale no pCR 24"/>
          <p:cNvSpPr/>
          <p:nvPr/>
        </p:nvSpPr>
        <p:spPr>
          <a:xfrm>
            <a:off x="8686800" y="3611880"/>
            <a:ext cx="928116" cy="146304"/>
          </a:xfrm>
          <a:prstGeom prst="rect">
            <a:avLst/>
          </a:prstGeom>
          <a:solidFill>
            <a:srgbClr val="23656E">
              <a:alpha val="7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25" name="Scale pCR 25"/>
          <p:cNvSpPr/>
          <p:nvPr/>
        </p:nvSpPr>
        <p:spPr>
          <a:xfrm>
            <a:off x="9614916" y="3611880"/>
            <a:ext cx="1723644" cy="146304"/>
          </a:xfrm>
          <a:prstGeom prst="rect">
            <a:avLst/>
          </a:prstGeom>
          <a:solidFill>
            <a:srgbClr val="DC7867">
              <a:alpha val="85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cxnSp>
        <p:nvCxnSpPr>
          <p:cNvPr id="26" name="Line 26"/>
          <p:cNvCxnSpPr/>
          <p:nvPr/>
        </p:nvCxnSpPr>
        <p:spPr>
          <a:xfrm>
            <a:off x="9614916" y="3502152"/>
            <a:ext cx="0" cy="365760"/>
          </a:xfrm>
          <a:prstGeom prst="line">
            <a:avLst/>
          </a:prstGeom>
          <a:ln w="19050">
            <a:solidFill>
              <a:srgbClr val="15191D"/>
            </a:solidFill>
          </a:ln>
        </p:spPr>
      </p:cxnSp>
      <p:sp>
        <p:nvSpPr>
          <p:cNvPr id="27" name="Scale title 27"/>
          <p:cNvSpPr txBox="1"/>
          <p:nvPr/>
        </p:nvSpPr>
        <p:spPr>
          <a:xfrm>
            <a:off x="8595360" y="3154680"/>
            <a:ext cx="2834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Probabilidad de pCR</a:t>
            </a:r>
          </a:p>
        </p:txBody>
      </p:sp>
      <p:sp>
        <p:nvSpPr>
          <p:cNvPr id="28" name="Tick 28"/>
          <p:cNvSpPr txBox="1"/>
          <p:nvPr/>
        </p:nvSpPr>
        <p:spPr>
          <a:xfrm>
            <a:off x="8549640" y="381304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0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0</a:t>
            </a:r>
          </a:p>
        </p:txBody>
      </p:sp>
      <p:sp>
        <p:nvSpPr>
          <p:cNvPr id="29" name="Tick 29"/>
          <p:cNvSpPr txBox="1"/>
          <p:nvPr/>
        </p:nvSpPr>
        <p:spPr>
          <a:xfrm>
            <a:off x="11109960" y="3813048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0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1</a:t>
            </a:r>
          </a:p>
        </p:txBody>
      </p:sp>
      <p:sp>
        <p:nvSpPr>
          <p:cNvPr id="30" name="Threshold 30"/>
          <p:cNvSpPr txBox="1"/>
          <p:nvPr/>
        </p:nvSpPr>
        <p:spPr>
          <a:xfrm>
            <a:off x="9066276" y="388620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0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umbral 0,35</a:t>
            </a:r>
          </a:p>
        </p:txBody>
      </p:sp>
      <p:sp>
        <p:nvSpPr>
          <p:cNvPr id="31" name="Claim 31"/>
          <p:cNvSpPr txBox="1"/>
          <p:nvPr/>
        </p:nvSpPr>
        <p:spPr>
          <a:xfrm>
            <a:off x="8595360" y="42062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200" b="0" i="1" dirty="0">
                <a:solidFill>
                  <a:srgbClr val="4A525B"/>
                </a:solidFill>
                <a:latin typeface="Arial"/>
                <a:cs typeface="Arial"/>
              </a:rPr>
              <a:t xml:space="preserve">Apoya al médico; no lo sustituye</a:t>
            </a:r>
          </a:p>
        </p:txBody>
      </p:sp>
      <p:sp>
        <p:nvSpPr>
          <p:cNvPr id="32" name="Step 32"/>
          <p:cNvSpPr/>
          <p:nvPr/>
        </p:nvSpPr>
        <p:spPr>
          <a:xfrm>
            <a:off x="548640" y="4892040"/>
            <a:ext cx="1627632" cy="868680"/>
          </a:xfrm>
          <a:prstGeom prst="roundRect">
            <a:avLst>
              <a:gd name="adj" fmla="val 12631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s-ES" sz="13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Datos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1.450 pacientes</a:t>
            </a:r>
          </a:p>
        </p:txBody>
      </p:sp>
      <p:cxnSp>
        <p:nvCxnSpPr>
          <p:cNvPr id="33" name="Line 33"/>
          <p:cNvCxnSpPr/>
          <p:nvPr/>
        </p:nvCxnSpPr>
        <p:spPr>
          <a:xfrm>
            <a:off x="2212848" y="5326380"/>
            <a:ext cx="192024" cy="0"/>
          </a:xfrm>
          <a:prstGeom prst="line">
            <a:avLst/>
          </a:prstGeom>
          <a:ln w="15875">
            <a:solidFill>
              <a:srgbClr val="15191D"/>
            </a:solidFill>
            <a:tailEnd type="triangle" w="med" len="med"/>
          </a:ln>
        </p:spPr>
      </p:cxnSp>
      <p:sp>
        <p:nvSpPr>
          <p:cNvPr id="34" name="Step 34"/>
          <p:cNvSpPr/>
          <p:nvPr/>
        </p:nvSpPr>
        <p:spPr>
          <a:xfrm>
            <a:off x="2441448" y="4892040"/>
            <a:ext cx="1627632" cy="868680"/>
          </a:xfrm>
          <a:prstGeom prst="roundRect">
            <a:avLst>
              <a:gd name="adj" fmla="val 12631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s-ES" sz="13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Preprocesado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[0, 1] · recorte 128</a:t>
            </a:r>
          </a:p>
        </p:txBody>
      </p:sp>
      <p:cxnSp>
        <p:nvCxnSpPr>
          <p:cNvPr id="35" name="Line 35"/>
          <p:cNvCxnSpPr/>
          <p:nvPr/>
        </p:nvCxnSpPr>
        <p:spPr>
          <a:xfrm>
            <a:off x="4105656" y="5326380"/>
            <a:ext cx="192024" cy="0"/>
          </a:xfrm>
          <a:prstGeom prst="line">
            <a:avLst/>
          </a:prstGeom>
          <a:ln w="15875">
            <a:solidFill>
              <a:srgbClr val="15191D"/>
            </a:solidFill>
            <a:tailEnd type="triangle" w="med" len="med"/>
          </a:ln>
        </p:spPr>
      </p:cxnSp>
      <p:sp>
        <p:nvSpPr>
          <p:cNvPr id="36" name="Step 36"/>
          <p:cNvSpPr/>
          <p:nvPr/>
        </p:nvSpPr>
        <p:spPr>
          <a:xfrm>
            <a:off x="4334256" y="4892040"/>
            <a:ext cx="1627632" cy="868680"/>
          </a:xfrm>
          <a:prstGeom prst="roundRect">
            <a:avLst>
              <a:gd name="adj" fmla="val 12631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s-ES" sz="13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CNN desde cero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74.253 parámetros</a:t>
            </a:r>
          </a:p>
        </p:txBody>
      </p:sp>
      <p:cxnSp>
        <p:nvCxnSpPr>
          <p:cNvPr id="37" name="Line 37"/>
          <p:cNvCxnSpPr/>
          <p:nvPr/>
        </p:nvCxnSpPr>
        <p:spPr>
          <a:xfrm>
            <a:off x="5998464" y="5326380"/>
            <a:ext cx="192024" cy="0"/>
          </a:xfrm>
          <a:prstGeom prst="line">
            <a:avLst/>
          </a:prstGeom>
          <a:ln w="15875">
            <a:solidFill>
              <a:srgbClr val="15191D"/>
            </a:solidFill>
            <a:tailEnd type="triangle" w="med" len="med"/>
          </a:ln>
        </p:spPr>
      </p:cxnSp>
      <p:sp>
        <p:nvSpPr>
          <p:cNvPr id="38" name="Step 38"/>
          <p:cNvSpPr/>
          <p:nvPr/>
        </p:nvSpPr>
        <p:spPr>
          <a:xfrm>
            <a:off x="6227064" y="4892040"/>
            <a:ext cx="1627632" cy="868680"/>
          </a:xfrm>
          <a:prstGeom prst="roundRect">
            <a:avLst>
              <a:gd name="adj" fmla="val 12631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s-ES" sz="13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Validación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5 folds por paciente</a:t>
            </a:r>
          </a:p>
        </p:txBody>
      </p:sp>
      <p:cxnSp>
        <p:nvCxnSpPr>
          <p:cNvPr id="39" name="Line 39"/>
          <p:cNvCxnSpPr/>
          <p:nvPr/>
        </p:nvCxnSpPr>
        <p:spPr>
          <a:xfrm>
            <a:off x="7891272" y="5326380"/>
            <a:ext cx="192024" cy="0"/>
          </a:xfrm>
          <a:prstGeom prst="line">
            <a:avLst/>
          </a:prstGeom>
          <a:ln w="15875">
            <a:solidFill>
              <a:srgbClr val="15191D"/>
            </a:solidFill>
            <a:tailEnd type="triangle" w="med" len="med"/>
          </a:ln>
        </p:spPr>
      </p:cxnSp>
      <p:sp>
        <p:nvSpPr>
          <p:cNvPr id="40" name="Step 40"/>
          <p:cNvSpPr/>
          <p:nvPr/>
        </p:nvSpPr>
        <p:spPr>
          <a:xfrm>
            <a:off x="8119872" y="4892040"/>
            <a:ext cx="1627632" cy="868680"/>
          </a:xfrm>
          <a:prstGeom prst="roundRect">
            <a:avLst>
              <a:gd name="adj" fmla="val 12631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s-ES" sz="13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Calibración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umbral en validación</a:t>
            </a:r>
          </a:p>
        </p:txBody>
      </p:sp>
      <p:cxnSp>
        <p:nvCxnSpPr>
          <p:cNvPr id="41" name="Line 41"/>
          <p:cNvCxnSpPr/>
          <p:nvPr/>
        </p:nvCxnSpPr>
        <p:spPr>
          <a:xfrm>
            <a:off x="9784080" y="5326380"/>
            <a:ext cx="192024" cy="0"/>
          </a:xfrm>
          <a:prstGeom prst="line">
            <a:avLst/>
          </a:prstGeom>
          <a:ln w="15875">
            <a:solidFill>
              <a:srgbClr val="15191D"/>
            </a:solidFill>
            <a:tailEnd type="triangle" w="med" len="med"/>
          </a:ln>
        </p:spPr>
      </p:cxnSp>
      <p:sp>
        <p:nvSpPr>
          <p:cNvPr id="42" name="Step 42"/>
          <p:cNvSpPr/>
          <p:nvPr/>
        </p:nvSpPr>
        <p:spPr>
          <a:xfrm>
            <a:off x="10012680" y="4892040"/>
            <a:ext cx="1627632" cy="868680"/>
          </a:xfrm>
          <a:prstGeom prst="roundRect">
            <a:avLst>
              <a:gd name="adj" fmla="val 12631"/>
            </a:avLst>
          </a:prstGeom>
          <a:solidFill>
            <a:srgbClr val="FFFFFF">
              <a:alpha val="70000"/>
            </a:srgbClr>
          </a:solidFill>
          <a:ln w="9525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ctr" rtlCol="0">
            <a:no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es-ES" sz="13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Aplicación web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en el navegador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 3"/>
          <p:cNvSpPr/>
          <p:nvPr/>
        </p:nvSpPr>
        <p:spPr>
          <a:xfrm>
            <a:off x="7863840" y="-1463040"/>
            <a:ext cx="5669280" cy="4572000"/>
          </a:xfrm>
          <a:prstGeom prst="ellipse">
            <a:avLst/>
          </a:prstGeom>
          <a:solidFill>
            <a:srgbClr val="D6E4E6">
              <a:alpha val="8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4" name="Blob 4"/>
          <p:cNvSpPr/>
          <p:nvPr/>
        </p:nvSpPr>
        <p:spPr>
          <a:xfrm>
            <a:off x="-1645920" y="3566160"/>
            <a:ext cx="5852160" cy="4206240"/>
          </a:xfrm>
          <a:prstGeom prst="ellipse">
            <a:avLst/>
          </a:prstGeom>
          <a:solidFill>
            <a:srgbClr val="E6E0EE">
              <a:alpha val="8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5" name="Blob 5"/>
          <p:cNvSpPr/>
          <p:nvPr/>
        </p:nvSpPr>
        <p:spPr>
          <a:xfrm>
            <a:off x="4754880" y="4206240"/>
            <a:ext cx="4937760" cy="3291840"/>
          </a:xfrm>
          <a:prstGeom prst="ellipse">
            <a:avLst/>
          </a:prstGeom>
          <a:solidFill>
            <a:srgbClr val="ECE5DC">
              <a:alpha val="7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6" name="Kicker 6"/>
          <p:cNvSpPr txBox="1"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3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2 · Datos, separación por paciente y clases</a:t>
            </a:r>
          </a:p>
        </p:txBody>
      </p:sp>
      <p:sp>
        <p:nvSpPr>
          <p:cNvPr id="7" name="Title 7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s-ES" sz="25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1.097 pacientes de entrenamiento separadas por paciente en 5 folds; solo el 29,4 % alcanza pCR</a:t>
            </a:r>
          </a:p>
        </p:txBody>
      </p:sp>
      <p:sp>
        <p:nvSpPr>
          <p:cNvPr id="8" name="Page 8"/>
          <p:cNvSpPr txBox="1"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2 / 5</a:t>
            </a:r>
          </a:p>
        </p:txBody>
      </p:sp>
      <p:sp>
        <p:nvSpPr>
          <p:cNvPr id="9" name="Viewer 9"/>
          <p:cNvSpPr/>
          <p:nvPr/>
        </p:nvSpPr>
        <p:spPr>
          <a:xfrm>
            <a:off x="548640" y="1783080"/>
            <a:ext cx="4846320" cy="4069080"/>
          </a:xfrm>
          <a:prstGeom prst="roundRect">
            <a:avLst>
              <a:gd name="adj" fmla="val 3595"/>
            </a:avLst>
          </a:prstGeom>
          <a:solidFill>
            <a:srgbClr val="0E1113"/>
          </a:solidFill>
          <a:ln>
            <a:noFill/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pic>
        <p:nvPicPr>
          <p:cNvPr id="10" name="PRE · antes del contraste 10" descr="PRE · antes del contrast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4712" y="2011680"/>
            <a:ext cx="1572768" cy="1572768"/>
          </a:xfrm>
          <a:prstGeom prst="roundRect">
            <a:avLst>
              <a:gd name="adj" fmla="val 3488"/>
            </a:avLst>
          </a:prstGeom>
        </p:spPr>
      </p:pic>
      <p:sp>
        <p:nvSpPr>
          <p:cNvPr id="11" name="Label 11"/>
          <p:cNvSpPr txBox="1"/>
          <p:nvPr/>
        </p:nvSpPr>
        <p:spPr>
          <a:xfrm>
            <a:off x="1078992" y="3602736"/>
            <a:ext cx="21214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A4A9AE"/>
                </a:solidFill>
                <a:latin typeface="Arial"/>
                <a:cs typeface="Arial"/>
              </a:rPr>
              <a:t xml:space="preserve">PRE · antes del contraste</a:t>
            </a:r>
          </a:p>
        </p:txBody>
      </p:sp>
      <p:pic>
        <p:nvPicPr>
          <p:cNvPr id="12" name="EARLY · captación inicial 12" descr="EARLY · captación inicia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46120" y="2011680"/>
            <a:ext cx="1572768" cy="1572768"/>
          </a:xfrm>
          <a:prstGeom prst="roundRect">
            <a:avLst>
              <a:gd name="adj" fmla="val 3488"/>
            </a:avLst>
          </a:prstGeom>
        </p:spPr>
      </p:pic>
      <p:sp>
        <p:nvSpPr>
          <p:cNvPr id="13" name="Label 13"/>
          <p:cNvSpPr txBox="1"/>
          <p:nvPr/>
        </p:nvSpPr>
        <p:spPr>
          <a:xfrm>
            <a:off x="3200400" y="3602736"/>
            <a:ext cx="21214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A4A9AE"/>
                </a:solidFill>
                <a:latin typeface="Arial"/>
                <a:cs typeface="Arial"/>
              </a:rPr>
              <a:t xml:space="preserve">EARLY · captación inicial</a:t>
            </a:r>
          </a:p>
        </p:txBody>
      </p:sp>
      <p:pic>
        <p:nvPicPr>
          <p:cNvPr id="14" name="LATE · fase tardía 14" descr="LATE · fase tardía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4712" y="3913632"/>
            <a:ext cx="1572768" cy="1572768"/>
          </a:xfrm>
          <a:prstGeom prst="roundRect">
            <a:avLst>
              <a:gd name="adj" fmla="val 3488"/>
            </a:avLst>
          </a:prstGeom>
        </p:spPr>
      </p:pic>
      <p:sp>
        <p:nvSpPr>
          <p:cNvPr id="15" name="Label 15"/>
          <p:cNvSpPr txBox="1"/>
          <p:nvPr/>
        </p:nvSpPr>
        <p:spPr>
          <a:xfrm>
            <a:off x="1078992" y="5504688"/>
            <a:ext cx="21214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A4A9AE"/>
                </a:solidFill>
                <a:latin typeface="Arial"/>
                <a:cs typeface="Arial"/>
              </a:rPr>
              <a:t xml:space="preserve">LATE · fase tardía</a:t>
            </a:r>
          </a:p>
        </p:txBody>
      </p:sp>
      <p:pic>
        <p:nvPicPr>
          <p:cNvPr id="16" name="EARLY − PRE · realce 16" descr="EARLY − PRE · realc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6120" y="3913632"/>
            <a:ext cx="1572768" cy="1572768"/>
          </a:xfrm>
          <a:prstGeom prst="roundRect">
            <a:avLst>
              <a:gd name="adj" fmla="val 3488"/>
            </a:avLst>
          </a:prstGeom>
        </p:spPr>
      </p:pic>
      <p:sp>
        <p:nvSpPr>
          <p:cNvPr id="17" name="Label 17"/>
          <p:cNvSpPr txBox="1"/>
          <p:nvPr/>
        </p:nvSpPr>
        <p:spPr>
          <a:xfrm>
            <a:off x="3200400" y="5504688"/>
            <a:ext cx="21214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A4A9AE"/>
                </a:solidFill>
                <a:latin typeface="Arial"/>
                <a:cs typeface="Arial"/>
              </a:rPr>
              <a:t xml:space="preserve">EARLY − PRE · realce</a:t>
            </a:r>
          </a:p>
        </p:txBody>
      </p:sp>
      <p:sp>
        <p:nvSpPr>
          <p:cNvPr id="18" name="Panel 18"/>
          <p:cNvSpPr/>
          <p:nvPr/>
        </p:nvSpPr>
        <p:spPr>
          <a:xfrm>
            <a:off x="5715000" y="1783080"/>
            <a:ext cx="5925312" cy="1874520"/>
          </a:xfrm>
          <a:prstGeom prst="roundRect">
            <a:avLst>
              <a:gd name="adj" fmla="val 7804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19" name="H 19"/>
          <p:cNvSpPr txBox="1"/>
          <p:nvPr/>
        </p:nvSpPr>
        <p:spPr>
          <a:xfrm>
            <a:off x="5989320" y="1920240"/>
            <a:ext cx="537667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5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Clases en entrenamiento (pacientes)</a:t>
            </a:r>
          </a:p>
        </p:txBody>
      </p:sp>
      <p:sp>
        <p:nvSpPr>
          <p:cNvPr id="20" name="Bar no pCR 20"/>
          <p:cNvSpPr/>
          <p:nvPr/>
        </p:nvSpPr>
        <p:spPr>
          <a:xfrm>
            <a:off x="5989320" y="2395728"/>
            <a:ext cx="3795930" cy="502920"/>
          </a:xfrm>
          <a:prstGeom prst="rect">
            <a:avLst/>
          </a:prstGeom>
          <a:solidFill>
            <a:srgbClr val="23656E"/>
          </a:solidFill>
          <a:ln>
            <a:noFill/>
          </a:ln>
        </p:spPr>
        <p:txBody>
          <a:bodyPr wrap="square" lIns="137160" tIns="0" rIns="0" bIns="0" anchor="ctr" rtlCol="0">
            <a:noAutofit/>
          </a:bodyPr>
          <a:lstStyle/>
          <a:p>
            <a:pPr algn="l">
              <a:buNone/>
            </a:pPr>
            <a:r>
              <a:rPr lang="es-ES" sz="14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No pCR · 775 · 70,6 %</a:t>
            </a:r>
          </a:p>
        </p:txBody>
      </p:sp>
      <p:sp>
        <p:nvSpPr>
          <p:cNvPr id="21" name="Bar pCR 21"/>
          <p:cNvSpPr/>
          <p:nvPr/>
        </p:nvSpPr>
        <p:spPr>
          <a:xfrm>
            <a:off x="9785250" y="2395728"/>
            <a:ext cx="1580742" cy="502920"/>
          </a:xfrm>
          <a:prstGeom prst="rect">
            <a:avLst/>
          </a:prstGeom>
          <a:solidFill>
            <a:srgbClr val="DC7867"/>
          </a:solidFill>
          <a:ln>
            <a:noFill/>
          </a:ln>
        </p:spPr>
        <p:txBody>
          <a:bodyPr wrap="square" lIns="73152" tIns="0" rIns="0" bIns="0" anchor="ctr" rtlCol="0">
            <a:no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pCR · 322 · 29,4 %</a:t>
            </a:r>
          </a:p>
        </p:txBody>
      </p:sp>
      <p:sp>
        <p:nvSpPr>
          <p:cNvPr id="22" name="Weight 22"/>
          <p:cNvSpPr txBox="1"/>
          <p:nvPr/>
        </p:nvSpPr>
        <p:spPr>
          <a:xfrm>
            <a:off x="5989320" y="3017520"/>
            <a:ext cx="537667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4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Pérdida ponderada  </a:t>
            </a:r>
            <a:r>
              <a:rPr lang="es-ES" sz="14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pos_weight = N₀ / N₁ ≈ 2,4, calculado en cada fold solo con sus pacientes de entrenamiento</a:t>
            </a:r>
          </a:p>
        </p:txBody>
      </p:sp>
      <p:sp>
        <p:nvSpPr>
          <p:cNvPr id="23" name="Panel 23"/>
          <p:cNvSpPr/>
          <p:nvPr/>
        </p:nvSpPr>
        <p:spPr>
          <a:xfrm>
            <a:off x="5715000" y="3840480"/>
            <a:ext cx="5925312" cy="2011680"/>
          </a:xfrm>
          <a:prstGeom prst="roundRect">
            <a:avLst>
              <a:gd name="adj" fmla="val 727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24" name="H 24"/>
          <p:cNvSpPr txBox="1"/>
          <p:nvPr/>
        </p:nvSpPr>
        <p:spPr>
          <a:xfrm>
            <a:off x="5989320" y="3977640"/>
            <a:ext cx="537667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5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Validación cruzada por paciente</a:t>
            </a:r>
          </a:p>
        </p:txBody>
      </p:sp>
      <p:sp>
        <p:nvSpPr>
          <p:cNvPr id="25" name="Fold 25"/>
          <p:cNvSpPr/>
          <p:nvPr/>
        </p:nvSpPr>
        <p:spPr>
          <a:xfrm>
            <a:off x="5989320" y="4434840"/>
            <a:ext cx="969264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15191D">
                <a:alpha val="20000"/>
              </a:srgbClr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4A525B"/>
                </a:solidFill>
                <a:latin typeface="Arial"/>
                <a:cs typeface="Arial"/>
              </a:rPr>
              <a:t xml:space="preserve">Fold 0</a:t>
            </a:r>
          </a:p>
          <a:p>
            <a:pPr algn="ctr">
              <a:buNone/>
            </a:pPr>
            <a:r>
              <a:rPr lang="es-ES" sz="10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entrena</a:t>
            </a:r>
          </a:p>
        </p:txBody>
      </p:sp>
      <p:sp>
        <p:nvSpPr>
          <p:cNvPr id="26" name="Fold 26"/>
          <p:cNvSpPr/>
          <p:nvPr/>
        </p:nvSpPr>
        <p:spPr>
          <a:xfrm>
            <a:off x="7054596" y="4434840"/>
            <a:ext cx="969264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15191D">
                <a:alpha val="20000"/>
              </a:srgbClr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4A525B"/>
                </a:solidFill>
                <a:latin typeface="Arial"/>
                <a:cs typeface="Arial"/>
              </a:rPr>
              <a:t xml:space="preserve">Fold 1</a:t>
            </a:r>
          </a:p>
          <a:p>
            <a:pPr algn="ctr">
              <a:buNone/>
            </a:pPr>
            <a:r>
              <a:rPr lang="es-ES" sz="10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entrena</a:t>
            </a:r>
          </a:p>
        </p:txBody>
      </p:sp>
      <p:sp>
        <p:nvSpPr>
          <p:cNvPr id="27" name="Fold 27"/>
          <p:cNvSpPr/>
          <p:nvPr/>
        </p:nvSpPr>
        <p:spPr>
          <a:xfrm>
            <a:off x="8119872" y="4434840"/>
            <a:ext cx="969264" cy="566928"/>
          </a:xfrm>
          <a:prstGeom prst="roundRect">
            <a:avLst>
              <a:gd name="adj" fmla="val 12903"/>
            </a:avLst>
          </a:prstGeom>
          <a:solidFill>
            <a:srgbClr val="15191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Fold 2</a:t>
            </a:r>
          </a:p>
          <a:p>
            <a:pPr algn="ctr">
              <a:buNone/>
            </a:pPr>
            <a:r>
              <a:rPr lang="es-ES" sz="1000" b="0" i="0" dirty="0">
                <a:solidFill>
                  <a:srgbClr val="A4A9AE"/>
                </a:solidFill>
                <a:latin typeface="Arial"/>
                <a:cs typeface="Arial"/>
              </a:rPr>
              <a:t xml:space="preserve">validación</a:t>
            </a:r>
          </a:p>
        </p:txBody>
      </p:sp>
      <p:sp>
        <p:nvSpPr>
          <p:cNvPr id="28" name="Fold 28"/>
          <p:cNvSpPr/>
          <p:nvPr/>
        </p:nvSpPr>
        <p:spPr>
          <a:xfrm>
            <a:off x="9185148" y="4434840"/>
            <a:ext cx="969264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15191D">
                <a:alpha val="20000"/>
              </a:srgbClr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4A525B"/>
                </a:solidFill>
                <a:latin typeface="Arial"/>
                <a:cs typeface="Arial"/>
              </a:rPr>
              <a:t xml:space="preserve">Fold 3</a:t>
            </a:r>
          </a:p>
          <a:p>
            <a:pPr algn="ctr">
              <a:buNone/>
            </a:pPr>
            <a:r>
              <a:rPr lang="es-ES" sz="10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entrena</a:t>
            </a:r>
          </a:p>
        </p:txBody>
      </p:sp>
      <p:sp>
        <p:nvSpPr>
          <p:cNvPr id="29" name="Fold 29"/>
          <p:cNvSpPr/>
          <p:nvPr/>
        </p:nvSpPr>
        <p:spPr>
          <a:xfrm>
            <a:off x="10250424" y="4434840"/>
            <a:ext cx="969264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15191D">
                <a:alpha val="20000"/>
              </a:srgbClr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4A525B"/>
                </a:solidFill>
                <a:latin typeface="Arial"/>
                <a:cs typeface="Arial"/>
              </a:rPr>
              <a:t xml:space="preserve">Fold 4</a:t>
            </a:r>
          </a:p>
          <a:p>
            <a:pPr algn="ctr">
              <a:buNone/>
            </a:pPr>
            <a:r>
              <a:rPr lang="es-ES" sz="10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entrena</a:t>
            </a:r>
          </a:p>
        </p:txBody>
      </p:sp>
      <p:sp>
        <p:nvSpPr>
          <p:cNvPr id="30" name="Note 30"/>
          <p:cNvSpPr txBox="1"/>
          <p:nvPr/>
        </p:nvSpPr>
        <p:spPr>
          <a:xfrm>
            <a:off x="5989320" y="5120640"/>
            <a:ext cx="5376672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3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Los ~10 cortes de una paciente quedan siempre en el mismo fold; test (176 pacientes) no interviene en ninguna decisión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 3"/>
          <p:cNvSpPr/>
          <p:nvPr/>
        </p:nvSpPr>
        <p:spPr>
          <a:xfrm>
            <a:off x="7863840" y="-1463040"/>
            <a:ext cx="5669280" cy="4572000"/>
          </a:xfrm>
          <a:prstGeom prst="ellipse">
            <a:avLst/>
          </a:prstGeom>
          <a:solidFill>
            <a:srgbClr val="D6E4E6">
              <a:alpha val="8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4" name="Blob 4"/>
          <p:cNvSpPr/>
          <p:nvPr/>
        </p:nvSpPr>
        <p:spPr>
          <a:xfrm>
            <a:off x="-1645920" y="3566160"/>
            <a:ext cx="5852160" cy="4206240"/>
          </a:xfrm>
          <a:prstGeom prst="ellipse">
            <a:avLst/>
          </a:prstGeom>
          <a:solidFill>
            <a:srgbClr val="E6E0EE">
              <a:alpha val="8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5" name="Blob 5"/>
          <p:cNvSpPr/>
          <p:nvPr/>
        </p:nvSpPr>
        <p:spPr>
          <a:xfrm>
            <a:off x="4754880" y="4206240"/>
            <a:ext cx="4937760" cy="3291840"/>
          </a:xfrm>
          <a:prstGeom prst="ellipse">
            <a:avLst/>
          </a:prstGeom>
          <a:solidFill>
            <a:srgbClr val="ECE5DC">
              <a:alpha val="7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6" name="Kicker 6"/>
          <p:cNvSpPr txBox="1"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3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3 · Arquitectura desde cero</a:t>
            </a:r>
          </a:p>
        </p:txBody>
      </p:sp>
      <p:sp>
        <p:nvSpPr>
          <p:cNvPr id="7" name="Title 7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s-ES" sz="25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Una CNN estrecha de 74.253 parámetros: con menos capacidad, la red memoriza menos</a:t>
            </a:r>
          </a:p>
        </p:txBody>
      </p:sp>
      <p:sp>
        <p:nvSpPr>
          <p:cNvPr id="8" name="Page 8"/>
          <p:cNvSpPr txBox="1"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3 / 5</a:t>
            </a:r>
          </a:p>
        </p:txBody>
      </p:sp>
      <p:sp>
        <p:nvSpPr>
          <p:cNvPr id="9" name="Panel 9"/>
          <p:cNvSpPr/>
          <p:nvPr/>
        </p:nvSpPr>
        <p:spPr>
          <a:xfrm>
            <a:off x="548640" y="1783080"/>
            <a:ext cx="11091672" cy="2606040"/>
          </a:xfrm>
          <a:prstGeom prst="roundRect">
            <a:avLst>
              <a:gd name="adj" fmla="val 5614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10" name="Viewer 10"/>
          <p:cNvSpPr/>
          <p:nvPr/>
        </p:nvSpPr>
        <p:spPr>
          <a:xfrm>
            <a:off x="777240" y="2176272"/>
            <a:ext cx="1417320" cy="1417320"/>
          </a:xfrm>
          <a:prstGeom prst="roundRect">
            <a:avLst>
              <a:gd name="adj" fmla="val 10322"/>
            </a:avLst>
          </a:prstGeom>
          <a:solidFill>
            <a:srgbClr val="0E1113"/>
          </a:solidFill>
          <a:ln>
            <a:noFill/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pic>
        <p:nvPicPr>
          <p:cNvPr id="11" name="Entrada 11" descr="Entrad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8680" y="2267712"/>
            <a:ext cx="1234440" cy="1234440"/>
          </a:xfrm>
          <a:prstGeom prst="roundRect">
            <a:avLst>
              <a:gd name="adj" fmla="val 3703"/>
            </a:avLst>
          </a:prstGeom>
        </p:spPr>
      </p:pic>
      <p:sp>
        <p:nvSpPr>
          <p:cNvPr id="12" name="Crop box 12"/>
          <p:cNvSpPr/>
          <p:nvPr/>
        </p:nvSpPr>
        <p:spPr>
          <a:xfrm>
            <a:off x="1177290" y="2576322"/>
            <a:ext cx="617220" cy="617220"/>
          </a:xfrm>
          <a:prstGeom prst="rect">
            <a:avLst/>
          </a:prstGeom>
          <a:noFill/>
          <a:ln w="19050">
            <a:solidFill>
              <a:srgbClr val="E2B55E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13" name="Label 13"/>
          <p:cNvSpPr txBox="1"/>
          <p:nvPr/>
        </p:nvSpPr>
        <p:spPr>
          <a:xfrm>
            <a:off x="731520" y="3639312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Entrada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3 × 256 × 256</a:t>
            </a:r>
          </a:p>
        </p:txBody>
      </p:sp>
      <p:cxnSp>
        <p:nvCxnSpPr>
          <p:cNvPr id="14" name="Line 14"/>
          <p:cNvCxnSpPr/>
          <p:nvPr/>
        </p:nvCxnSpPr>
        <p:spPr>
          <a:xfrm>
            <a:off x="2286000" y="2880360"/>
            <a:ext cx="292608" cy="0"/>
          </a:xfrm>
          <a:prstGeom prst="line">
            <a:avLst/>
          </a:prstGeom>
          <a:ln w="15875">
            <a:solidFill>
              <a:srgbClr val="15191D"/>
            </a:solidFill>
            <a:tailEnd type="triangle" w="med" len="med"/>
          </a:ln>
        </p:spPr>
      </p:cxnSp>
      <p:sp>
        <p:nvSpPr>
          <p:cNvPr id="15" name="Viewer 15"/>
          <p:cNvSpPr/>
          <p:nvPr/>
        </p:nvSpPr>
        <p:spPr>
          <a:xfrm>
            <a:off x="2651760" y="2331720"/>
            <a:ext cx="1097280" cy="1097280"/>
          </a:xfrm>
          <a:prstGeom prst="roundRect">
            <a:avLst>
              <a:gd name="adj" fmla="val 13333"/>
            </a:avLst>
          </a:prstGeom>
          <a:solidFill>
            <a:srgbClr val="0E1113"/>
          </a:solidFill>
          <a:ln>
            <a:noFill/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pic>
        <p:nvPicPr>
          <p:cNvPr id="16" name="Recorte central 16" descr="Recorte central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24912" y="2404872"/>
            <a:ext cx="950976" cy="950976"/>
          </a:xfrm>
          <a:prstGeom prst="roundRect">
            <a:avLst>
              <a:gd name="adj" fmla="val 4807"/>
            </a:avLst>
          </a:prstGeom>
        </p:spPr>
      </p:pic>
      <p:sp>
        <p:nvSpPr>
          <p:cNvPr id="17" name="Label 17"/>
          <p:cNvSpPr txBox="1"/>
          <p:nvPr/>
        </p:nvSpPr>
        <p:spPr>
          <a:xfrm>
            <a:off x="2514600" y="3639312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Recorte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128 × 128</a:t>
            </a:r>
          </a:p>
        </p:txBody>
      </p:sp>
      <p:cxnSp>
        <p:nvCxnSpPr>
          <p:cNvPr id="18" name="Line 18"/>
          <p:cNvCxnSpPr/>
          <p:nvPr/>
        </p:nvCxnSpPr>
        <p:spPr>
          <a:xfrm>
            <a:off x="3840480" y="2880360"/>
            <a:ext cx="292608" cy="0"/>
          </a:xfrm>
          <a:prstGeom prst="line">
            <a:avLst/>
          </a:prstGeom>
          <a:ln w="15875">
            <a:solidFill>
              <a:srgbClr val="15191D"/>
            </a:solidFill>
            <a:tailEnd type="triangle" w="med" len="med"/>
          </a:ln>
        </p:spPr>
      </p:cxnSp>
      <p:sp>
        <p:nvSpPr>
          <p:cNvPr id="19" name="Bloque 1 19"/>
          <p:cNvSpPr/>
          <p:nvPr/>
        </p:nvSpPr>
        <p:spPr>
          <a:xfrm>
            <a:off x="4224528" y="2240280"/>
            <a:ext cx="384048" cy="1280160"/>
          </a:xfrm>
          <a:prstGeom prst="roundRect">
            <a:avLst>
              <a:gd name="adj" fmla="val 14285"/>
            </a:avLst>
          </a:prstGeom>
          <a:solidFill>
            <a:srgbClr val="15191D">
              <a:alpha val="5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4</a:t>
            </a:r>
          </a:p>
        </p:txBody>
      </p:sp>
      <p:sp>
        <p:nvSpPr>
          <p:cNvPr id="20" name="Label 20"/>
          <p:cNvSpPr txBox="1"/>
          <p:nvPr/>
        </p:nvSpPr>
        <p:spPr>
          <a:xfrm>
            <a:off x="4041648" y="3639312"/>
            <a:ext cx="749808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128²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268</a:t>
            </a:r>
          </a:p>
        </p:txBody>
      </p:sp>
      <p:sp>
        <p:nvSpPr>
          <p:cNvPr id="21" name="Bloque 2 21"/>
          <p:cNvSpPr/>
          <p:nvPr/>
        </p:nvSpPr>
        <p:spPr>
          <a:xfrm>
            <a:off x="4791456" y="2340864"/>
            <a:ext cx="539496" cy="1078992"/>
          </a:xfrm>
          <a:prstGeom prst="roundRect">
            <a:avLst>
              <a:gd name="adj" fmla="val 10169"/>
            </a:avLst>
          </a:prstGeom>
          <a:solidFill>
            <a:srgbClr val="15191D">
              <a:alpha val="6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8</a:t>
            </a:r>
          </a:p>
        </p:txBody>
      </p:sp>
      <p:sp>
        <p:nvSpPr>
          <p:cNvPr id="22" name="Label 22"/>
          <p:cNvSpPr txBox="1"/>
          <p:nvPr/>
        </p:nvSpPr>
        <p:spPr>
          <a:xfrm>
            <a:off x="4608576" y="3639312"/>
            <a:ext cx="905256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64²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896</a:t>
            </a:r>
          </a:p>
        </p:txBody>
      </p:sp>
      <p:sp>
        <p:nvSpPr>
          <p:cNvPr id="23" name="Bloque 3 23"/>
          <p:cNvSpPr/>
          <p:nvPr/>
        </p:nvSpPr>
        <p:spPr>
          <a:xfrm>
            <a:off x="5513832" y="2441448"/>
            <a:ext cx="694944" cy="877824"/>
          </a:xfrm>
          <a:prstGeom prst="roundRect">
            <a:avLst>
              <a:gd name="adj" fmla="val 7894"/>
            </a:avLst>
          </a:prstGeom>
          <a:solidFill>
            <a:srgbClr val="15191D">
              <a:alpha val="7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16</a:t>
            </a:r>
          </a:p>
        </p:txBody>
      </p:sp>
      <p:sp>
        <p:nvSpPr>
          <p:cNvPr id="24" name="Label 24"/>
          <p:cNvSpPr txBox="1"/>
          <p:nvPr/>
        </p:nvSpPr>
        <p:spPr>
          <a:xfrm>
            <a:off x="5330952" y="3639312"/>
            <a:ext cx="106070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32²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3.520</a:t>
            </a:r>
          </a:p>
        </p:txBody>
      </p:sp>
      <p:sp>
        <p:nvSpPr>
          <p:cNvPr id="25" name="Bloque 4 25"/>
          <p:cNvSpPr/>
          <p:nvPr/>
        </p:nvSpPr>
        <p:spPr>
          <a:xfrm>
            <a:off x="6391656" y="2542032"/>
            <a:ext cx="850392" cy="676656"/>
          </a:xfrm>
          <a:prstGeom prst="roundRect">
            <a:avLst>
              <a:gd name="adj" fmla="val 8108"/>
            </a:avLst>
          </a:prstGeom>
          <a:solidFill>
            <a:srgbClr val="15191D">
              <a:alpha val="8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32</a:t>
            </a:r>
          </a:p>
        </p:txBody>
      </p:sp>
      <p:sp>
        <p:nvSpPr>
          <p:cNvPr id="26" name="Label 26"/>
          <p:cNvSpPr txBox="1"/>
          <p:nvPr/>
        </p:nvSpPr>
        <p:spPr>
          <a:xfrm>
            <a:off x="6208776" y="3639312"/>
            <a:ext cx="1216152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16²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13.952</a:t>
            </a:r>
          </a:p>
        </p:txBody>
      </p:sp>
      <p:sp>
        <p:nvSpPr>
          <p:cNvPr id="27" name="Bloque 5 27"/>
          <p:cNvSpPr/>
          <p:nvPr/>
        </p:nvSpPr>
        <p:spPr>
          <a:xfrm>
            <a:off x="7424928" y="2642616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5191D">
              <a:alpha val="95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3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64</a:t>
            </a:r>
          </a:p>
        </p:txBody>
      </p:sp>
      <p:sp>
        <p:nvSpPr>
          <p:cNvPr id="28" name="Label 28"/>
          <p:cNvSpPr txBox="1"/>
          <p:nvPr/>
        </p:nvSpPr>
        <p:spPr>
          <a:xfrm>
            <a:off x="7242048" y="3639312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8²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55.552</a:t>
            </a:r>
          </a:p>
        </p:txBody>
      </p:sp>
      <p:cxnSp>
        <p:nvCxnSpPr>
          <p:cNvPr id="29" name="Line 29"/>
          <p:cNvCxnSpPr/>
          <p:nvPr/>
        </p:nvCxnSpPr>
        <p:spPr>
          <a:xfrm>
            <a:off x="8540496" y="2880360"/>
            <a:ext cx="292608" cy="0"/>
          </a:xfrm>
          <a:prstGeom prst="line">
            <a:avLst/>
          </a:prstGeom>
          <a:ln w="15875">
            <a:solidFill>
              <a:srgbClr val="15191D"/>
            </a:solidFill>
            <a:tailEnd type="triangle" w="med" len="med"/>
          </a:ln>
        </p:spPr>
      </p:cxnSp>
      <p:sp>
        <p:nvSpPr>
          <p:cNvPr id="30" name="Head 30"/>
          <p:cNvSpPr/>
          <p:nvPr/>
        </p:nvSpPr>
        <p:spPr>
          <a:xfrm>
            <a:off x="8887968" y="242316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9525">
            <a:solidFill>
              <a:srgbClr val="15191D">
                <a:alpha val="25000"/>
              </a:srgbClr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Media global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dropout 0,3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lineal 64 → 1</a:t>
            </a:r>
          </a:p>
        </p:txBody>
      </p:sp>
      <p:sp>
        <p:nvSpPr>
          <p:cNvPr id="31" name="Label 31"/>
          <p:cNvSpPr txBox="1"/>
          <p:nvPr/>
        </p:nvSpPr>
        <p:spPr>
          <a:xfrm>
            <a:off x="8796528" y="3639312"/>
            <a:ext cx="16002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1 logit</a:t>
            </a:r>
          </a:p>
          <a:p>
            <a:pPr algn="ctr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65</a:t>
            </a:r>
          </a:p>
        </p:txBody>
      </p:sp>
      <p:cxnSp>
        <p:nvCxnSpPr>
          <p:cNvPr id="32" name="Line 32"/>
          <p:cNvCxnSpPr/>
          <p:nvPr/>
        </p:nvCxnSpPr>
        <p:spPr>
          <a:xfrm>
            <a:off x="10351008" y="2880360"/>
            <a:ext cx="292608" cy="0"/>
          </a:xfrm>
          <a:prstGeom prst="line">
            <a:avLst/>
          </a:prstGeom>
          <a:ln w="15875">
            <a:solidFill>
              <a:srgbClr val="15191D"/>
            </a:solidFill>
            <a:tailEnd type="triangle" w="med" len="med"/>
          </a:ln>
        </p:spPr>
      </p:cxnSp>
      <p:sp>
        <p:nvSpPr>
          <p:cNvPr id="33" name="Out 33"/>
          <p:cNvSpPr txBox="1"/>
          <p:nvPr/>
        </p:nvSpPr>
        <p:spPr>
          <a:xfrm>
            <a:off x="10671048" y="256032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5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p(pCR)</a:t>
            </a:r>
          </a:p>
          <a:p>
            <a:pPr algn="l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sigmoide</a:t>
            </a:r>
          </a:p>
        </p:txBody>
      </p:sp>
      <p:sp>
        <p:nvSpPr>
          <p:cNvPr id="34" name="Block note 34"/>
          <p:cNvSpPr txBox="1"/>
          <p:nvPr/>
        </p:nvSpPr>
        <p:spPr>
          <a:xfrm>
            <a:off x="4069080" y="1874520"/>
            <a:ext cx="54864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5 bloques: 2 × (conv 3×3 + BatchNorm + ReLU) + max-pool 2×2</a:t>
            </a:r>
          </a:p>
        </p:txBody>
      </p:sp>
      <p:sp>
        <p:nvSpPr>
          <p:cNvPr id="35" name="Panel 35"/>
          <p:cNvSpPr/>
          <p:nvPr/>
        </p:nvSpPr>
        <p:spPr>
          <a:xfrm>
            <a:off x="548640" y="4572000"/>
            <a:ext cx="5120640" cy="1280160"/>
          </a:xfrm>
          <a:prstGeom prst="roundRect">
            <a:avLst>
              <a:gd name="adj" fmla="val 1142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36" name="Why 36"/>
          <p:cNvSpPr txBox="1"/>
          <p:nvPr/>
        </p:nvSpPr>
        <p:spPr>
          <a:xfrm>
            <a:off x="822960" y="4663440"/>
            <a:ext cx="466344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s-ES" sz="15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Por qué así</a:t>
            </a:r>
          </a:p>
          <a:p>
            <a:pPr algn="l" marL="228600" indent="-228600">
              <a:spcAft>
                <a:spcPts val="200"/>
              </a:spcAft>
              <a:buClr>
                <a:srgbClr val="8B9197"/>
              </a:buClr>
              <a:buFont typeface="Arial"/>
              <a:buChar char="•"/>
            </a:pPr>
            <a:r>
              <a:rPr lang="es-ES" sz="13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Recorte central: el tumor está centrado y el borde aporta vasos y diferencias de cohorte</a:t>
            </a:r>
          </a:p>
          <a:p>
            <a:pPr algn="l" marL="228600" indent="-228600">
              <a:buClr>
                <a:srgbClr val="8B9197"/>
              </a:buClr>
              <a:buFont typeface="Arial"/>
              <a:buChar char="•"/>
            </a:pPr>
            <a:r>
              <a:rPr lang="es-ES" sz="13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Campo receptivo final de 156 px: cada salida ve todo el recorte</a:t>
            </a:r>
          </a:p>
        </p:txBody>
      </p:sp>
      <p:sp>
        <p:nvSpPr>
          <p:cNvPr id="37" name="Panel 37"/>
          <p:cNvSpPr/>
          <p:nvPr/>
        </p:nvSpPr>
        <p:spPr>
          <a:xfrm>
            <a:off x="5897880" y="4572000"/>
            <a:ext cx="5742432" cy="1280160"/>
          </a:xfrm>
          <a:prstGeom prst="roundRect">
            <a:avLst>
              <a:gd name="adj" fmla="val 11428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38" name="H 38"/>
          <p:cNvSpPr txBox="1"/>
          <p:nvPr/>
        </p:nvSpPr>
        <p:spPr>
          <a:xfrm>
            <a:off x="6172200" y="4636008"/>
            <a:ext cx="519379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3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Capacidad frente a generalización · validación, 5 folds</a:t>
            </a:r>
          </a:p>
        </p:txBody>
      </p:sp>
      <p:sp>
        <p:nvSpPr>
          <p:cNvPr id="39" name="Col 39"/>
          <p:cNvSpPr txBox="1"/>
          <p:nvPr/>
        </p:nvSpPr>
        <p:spPr>
          <a:xfrm>
            <a:off x="6172200" y="4919472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Parámetros</a:t>
            </a:r>
          </a:p>
        </p:txBody>
      </p:sp>
      <p:sp>
        <p:nvSpPr>
          <p:cNvPr id="40" name="Col 40"/>
          <p:cNvSpPr txBox="1"/>
          <p:nvPr/>
        </p:nvSpPr>
        <p:spPr>
          <a:xfrm>
            <a:off x="7589520" y="491947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AUC paciente</a:t>
            </a:r>
          </a:p>
        </p:txBody>
      </p:sp>
      <p:sp>
        <p:nvSpPr>
          <p:cNvPr id="41" name="Col 41"/>
          <p:cNvSpPr txBox="1"/>
          <p:nvPr/>
        </p:nvSpPr>
        <p:spPr>
          <a:xfrm>
            <a:off x="9052560" y="491947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Brecha entren. − valid. (40 épocas)</a:t>
            </a:r>
          </a:p>
        </p:txBody>
      </p:sp>
      <p:sp>
        <p:nvSpPr>
          <p:cNvPr id="42" name="Cell 42"/>
          <p:cNvSpPr txBox="1"/>
          <p:nvPr/>
        </p:nvSpPr>
        <p:spPr>
          <a:xfrm>
            <a:off x="6172200" y="513892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18.731</a:t>
            </a:r>
          </a:p>
        </p:txBody>
      </p:sp>
      <p:sp>
        <p:nvSpPr>
          <p:cNvPr id="43" name="Cell 43"/>
          <p:cNvSpPr txBox="1"/>
          <p:nvPr/>
        </p:nvSpPr>
        <p:spPr>
          <a:xfrm>
            <a:off x="7589520" y="513892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0,534</a:t>
            </a:r>
          </a:p>
        </p:txBody>
      </p:sp>
      <p:sp>
        <p:nvSpPr>
          <p:cNvPr id="44" name="Cell 44"/>
          <p:cNvSpPr txBox="1"/>
          <p:nvPr/>
        </p:nvSpPr>
        <p:spPr>
          <a:xfrm>
            <a:off x="9052560" y="5138928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0,08</a:t>
            </a:r>
          </a:p>
        </p:txBody>
      </p:sp>
      <p:sp>
        <p:nvSpPr>
          <p:cNvPr id="45" name="Highlight 45"/>
          <p:cNvSpPr/>
          <p:nvPr/>
        </p:nvSpPr>
        <p:spPr>
          <a:xfrm>
            <a:off x="6080760" y="5349240"/>
            <a:ext cx="5376672" cy="237744"/>
          </a:xfrm>
          <a:prstGeom prst="roundRect">
            <a:avLst>
              <a:gd name="adj" fmla="val 23076"/>
            </a:avLst>
          </a:prstGeom>
          <a:solidFill>
            <a:srgbClr val="15191D">
              <a:alpha val="8000"/>
            </a:srgbClr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46" name="Cell 46"/>
          <p:cNvSpPr txBox="1"/>
          <p:nvPr/>
        </p:nvSpPr>
        <p:spPr>
          <a:xfrm>
            <a:off x="6172200" y="535838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74.253</a:t>
            </a:r>
          </a:p>
        </p:txBody>
      </p:sp>
      <p:sp>
        <p:nvSpPr>
          <p:cNvPr id="47" name="Cell 47"/>
          <p:cNvSpPr txBox="1"/>
          <p:nvPr/>
        </p:nvSpPr>
        <p:spPr>
          <a:xfrm>
            <a:off x="7589520" y="535838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0,583</a:t>
            </a:r>
          </a:p>
        </p:txBody>
      </p:sp>
      <p:sp>
        <p:nvSpPr>
          <p:cNvPr id="48" name="Cell 48"/>
          <p:cNvSpPr txBox="1"/>
          <p:nvPr/>
        </p:nvSpPr>
        <p:spPr>
          <a:xfrm>
            <a:off x="9052560" y="5358384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0,19</a:t>
            </a:r>
          </a:p>
        </p:txBody>
      </p:sp>
      <p:sp>
        <p:nvSpPr>
          <p:cNvPr id="49" name="Cell 49"/>
          <p:cNvSpPr txBox="1"/>
          <p:nvPr/>
        </p:nvSpPr>
        <p:spPr>
          <a:xfrm>
            <a:off x="6172200" y="557784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295.673</a:t>
            </a:r>
          </a:p>
        </p:txBody>
      </p:sp>
      <p:sp>
        <p:nvSpPr>
          <p:cNvPr id="50" name="Cell 50"/>
          <p:cNvSpPr txBox="1"/>
          <p:nvPr/>
        </p:nvSpPr>
        <p:spPr>
          <a:xfrm>
            <a:off x="7589520" y="557784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0,550</a:t>
            </a:r>
          </a:p>
        </p:txBody>
      </p:sp>
      <p:sp>
        <p:nvSpPr>
          <p:cNvPr id="51" name="Cell 51"/>
          <p:cNvSpPr txBox="1"/>
          <p:nvPr/>
        </p:nvSpPr>
        <p:spPr>
          <a:xfrm>
            <a:off x="9052560" y="5577840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0,37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 3"/>
          <p:cNvSpPr/>
          <p:nvPr/>
        </p:nvSpPr>
        <p:spPr>
          <a:xfrm>
            <a:off x="7863840" y="-1463040"/>
            <a:ext cx="5669280" cy="4572000"/>
          </a:xfrm>
          <a:prstGeom prst="ellipse">
            <a:avLst/>
          </a:prstGeom>
          <a:solidFill>
            <a:srgbClr val="D6E4E6">
              <a:alpha val="8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4" name="Blob 4"/>
          <p:cNvSpPr/>
          <p:nvPr/>
        </p:nvSpPr>
        <p:spPr>
          <a:xfrm>
            <a:off x="-1645920" y="3566160"/>
            <a:ext cx="5852160" cy="4206240"/>
          </a:xfrm>
          <a:prstGeom prst="ellipse">
            <a:avLst/>
          </a:prstGeom>
          <a:solidFill>
            <a:srgbClr val="E6E0EE">
              <a:alpha val="8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5" name="Blob 5"/>
          <p:cNvSpPr/>
          <p:nvPr/>
        </p:nvSpPr>
        <p:spPr>
          <a:xfrm>
            <a:off x="4754880" y="4206240"/>
            <a:ext cx="4937760" cy="3291840"/>
          </a:xfrm>
          <a:prstGeom prst="ellipse">
            <a:avLst/>
          </a:prstGeom>
          <a:solidFill>
            <a:srgbClr val="ECE5DC">
              <a:alpha val="7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6" name="Kicker 6"/>
          <p:cNvSpPr txBox="1"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3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4 · Entrenamiento, resultados y coste de los errores</a:t>
            </a:r>
          </a:p>
        </p:txBody>
      </p:sp>
      <p:sp>
        <p:nvSpPr>
          <p:cNvPr id="7" name="Title 7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s-ES" sz="25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La imagen aporta una señal débil: no supera con claridad a la cohorte y, con especificidad del 90 %, detecta 1 de cada 10 pCR</a:t>
            </a:r>
          </a:p>
        </p:txBody>
      </p:sp>
      <p:sp>
        <p:nvSpPr>
          <p:cNvPr id="8" name="Page 8"/>
          <p:cNvSpPr txBox="1"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4 / 5</a:t>
            </a:r>
          </a:p>
        </p:txBody>
      </p:sp>
      <p:sp>
        <p:nvSpPr>
          <p:cNvPr id="9" name="Panel 9"/>
          <p:cNvSpPr/>
          <p:nvPr/>
        </p:nvSpPr>
        <p:spPr>
          <a:xfrm>
            <a:off x="548640" y="1783080"/>
            <a:ext cx="11091672" cy="658368"/>
          </a:xfrm>
          <a:prstGeom prst="roundRect">
            <a:avLst>
              <a:gd name="adj" fmla="val 2222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10" name="Training 10"/>
          <p:cNvSpPr txBox="1"/>
          <p:nvPr/>
        </p:nvSpPr>
        <p:spPr>
          <a:xfrm>
            <a:off x="822960" y="1783080"/>
            <a:ext cx="1060704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3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Entrenamiento  </a:t>
            </a:r>
            <a:r>
              <a:rPr lang="es-ES" sz="13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BCE ponderada · AdamW 10⁻⁴ · coseno + media exponencial de pesos · 8 épocas (elegidas con los otros folds) · giros, traslación, escala y volteo idénticos en las 3 fases</a:t>
            </a:r>
          </a:p>
        </p:txBody>
      </p:sp>
      <p:sp>
        <p:nvSpPr>
          <p:cNvPr id="11" name="Panel 11"/>
          <p:cNvSpPr/>
          <p:nvPr/>
        </p:nvSpPr>
        <p:spPr>
          <a:xfrm>
            <a:off x="548640" y="2624328"/>
            <a:ext cx="6263640" cy="3227832"/>
          </a:xfrm>
          <a:prstGeom prst="roundRect">
            <a:avLst>
              <a:gd name="adj" fmla="val 453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12" name="H 12"/>
          <p:cNvSpPr txBox="1"/>
          <p:nvPr/>
        </p:nvSpPr>
        <p:spPr>
          <a:xfrm>
            <a:off x="777240" y="2697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3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AUC por paciente</a:t>
            </a:r>
          </a:p>
        </p:txBody>
      </p:sp>
      <p:cxnSp>
        <p:nvCxnSpPr>
          <p:cNvPr id="13" name="Line 13"/>
          <p:cNvCxnSpPr/>
          <p:nvPr/>
        </p:nvCxnSpPr>
        <p:spPr>
          <a:xfrm>
            <a:off x="2788920" y="3063240"/>
            <a:ext cx="0" cy="2331720"/>
          </a:xfrm>
          <a:prstGeom prst="line">
            <a:avLst/>
          </a:prstGeom>
          <a:ln w="9525">
            <a:solidFill>
              <a:srgbClr val="15191D">
                <a:alpha val="10000"/>
              </a:srgbClr>
            </a:solidFill>
          </a:ln>
        </p:spPr>
      </p:cxnSp>
      <p:sp>
        <p:nvSpPr>
          <p:cNvPr id="14" name="Tick 14"/>
          <p:cNvSpPr txBox="1"/>
          <p:nvPr/>
        </p:nvSpPr>
        <p:spPr>
          <a:xfrm>
            <a:off x="2468880" y="54223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1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0,40</a:t>
            </a:r>
          </a:p>
        </p:txBody>
      </p:sp>
      <p:cxnSp>
        <p:nvCxnSpPr>
          <p:cNvPr id="15" name="Line 15"/>
          <p:cNvCxnSpPr/>
          <p:nvPr/>
        </p:nvCxnSpPr>
        <p:spPr>
          <a:xfrm>
            <a:off x="3916680" y="3063240"/>
            <a:ext cx="0" cy="2331720"/>
          </a:xfrm>
          <a:prstGeom prst="line">
            <a:avLst/>
          </a:prstGeom>
          <a:ln w="15875">
            <a:solidFill>
              <a:srgbClr val="15191D">
                <a:alpha val="35000"/>
              </a:srgbClr>
            </a:solidFill>
            <a:prstDash val="dash"/>
          </a:ln>
        </p:spPr>
      </p:cxnSp>
      <p:sp>
        <p:nvSpPr>
          <p:cNvPr id="16" name="Tick 16"/>
          <p:cNvSpPr txBox="1"/>
          <p:nvPr/>
        </p:nvSpPr>
        <p:spPr>
          <a:xfrm>
            <a:off x="3596640" y="54223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1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0,50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5044440" y="3063240"/>
            <a:ext cx="0" cy="2331720"/>
          </a:xfrm>
          <a:prstGeom prst="line">
            <a:avLst/>
          </a:prstGeom>
          <a:ln w="9525">
            <a:solidFill>
              <a:srgbClr val="15191D">
                <a:alpha val="10000"/>
              </a:srgbClr>
            </a:solidFill>
          </a:ln>
        </p:spPr>
      </p:cxnSp>
      <p:sp>
        <p:nvSpPr>
          <p:cNvPr id="18" name="Tick 18"/>
          <p:cNvSpPr txBox="1"/>
          <p:nvPr/>
        </p:nvSpPr>
        <p:spPr>
          <a:xfrm>
            <a:off x="4724400" y="54223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1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0,60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6172200" y="3063240"/>
            <a:ext cx="0" cy="2331720"/>
          </a:xfrm>
          <a:prstGeom prst="line">
            <a:avLst/>
          </a:prstGeom>
          <a:ln w="9525">
            <a:solidFill>
              <a:srgbClr val="15191D">
                <a:alpha val="10000"/>
              </a:srgbClr>
            </a:solidFill>
          </a:ln>
        </p:spPr>
      </p:cxnSp>
      <p:sp>
        <p:nvSpPr>
          <p:cNvPr id="20" name="Tick 20"/>
          <p:cNvSpPr txBox="1"/>
          <p:nvPr/>
        </p:nvSpPr>
        <p:spPr>
          <a:xfrm>
            <a:off x="5852160" y="5422392"/>
            <a:ext cx="640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1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0,70</a:t>
            </a:r>
          </a:p>
        </p:txBody>
      </p:sp>
      <p:sp>
        <p:nvSpPr>
          <p:cNvPr id="21" name="Chance 21"/>
          <p:cNvSpPr txBox="1"/>
          <p:nvPr/>
        </p:nvSpPr>
        <p:spPr>
          <a:xfrm>
            <a:off x="3368040" y="2788920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1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azar</a:t>
            </a:r>
          </a:p>
        </p:txBody>
      </p:sp>
      <p:sp>
        <p:nvSpPr>
          <p:cNvPr id="22" name="Group 22"/>
          <p:cNvSpPr txBox="1"/>
          <p:nvPr/>
        </p:nvSpPr>
        <p:spPr>
          <a:xfrm>
            <a:off x="777240" y="306324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Validación · 5 folds</a:t>
            </a:r>
            <a:r>
              <a:rPr lang="es-ES" sz="9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  media ± desv.</a:t>
            </a:r>
          </a:p>
        </p:txBody>
      </p:sp>
      <p:cxnSp>
        <p:nvCxnSpPr>
          <p:cNvPr id="23" name="Line 23"/>
          <p:cNvCxnSpPr/>
          <p:nvPr/>
        </p:nvCxnSpPr>
        <p:spPr>
          <a:xfrm>
            <a:off x="4469282" y="3319272"/>
            <a:ext cx="0" cy="768096"/>
          </a:xfrm>
          <a:prstGeom prst="line">
            <a:avLst/>
          </a:prstGeom>
          <a:ln w="25400">
            <a:solidFill>
              <a:srgbClr val="DC7867"/>
            </a:solidFill>
          </a:ln>
        </p:spPr>
      </p:cxnSp>
      <p:sp>
        <p:nvSpPr>
          <p:cNvPr id="24" name="Row 24"/>
          <p:cNvSpPr txBox="1"/>
          <p:nvPr/>
        </p:nvSpPr>
        <p:spPr>
          <a:xfrm>
            <a:off x="777240" y="3383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Estrecha (final)</a:t>
            </a:r>
          </a:p>
        </p:txBody>
      </p:sp>
      <p:cxnSp>
        <p:nvCxnSpPr>
          <p:cNvPr id="25" name="Line 25"/>
          <p:cNvCxnSpPr/>
          <p:nvPr/>
        </p:nvCxnSpPr>
        <p:spPr>
          <a:xfrm>
            <a:off x="4458005" y="3520440"/>
            <a:ext cx="766877" cy="0"/>
          </a:xfrm>
          <a:prstGeom prst="line">
            <a:avLst/>
          </a:prstGeom>
          <a:ln w="25400">
            <a:solidFill>
              <a:srgbClr val="15191D"/>
            </a:solidFill>
          </a:ln>
        </p:spPr>
      </p:cxnSp>
      <p:sp>
        <p:nvSpPr>
          <p:cNvPr id="26" name="Point 26"/>
          <p:cNvSpPr/>
          <p:nvPr/>
        </p:nvSpPr>
        <p:spPr>
          <a:xfrm>
            <a:off x="4768291" y="3447288"/>
            <a:ext cx="146304" cy="146304"/>
          </a:xfrm>
          <a:prstGeom prst="ellipse">
            <a:avLst/>
          </a:prstGeom>
          <a:solidFill>
            <a:srgbClr val="15191D"/>
          </a:solidFill>
          <a:ln w="19050">
            <a:solidFill>
              <a:srgbClr val="15191D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27" name="Value 27"/>
          <p:cNvSpPr txBox="1"/>
          <p:nvPr/>
        </p:nvSpPr>
        <p:spPr>
          <a:xfrm>
            <a:off x="5270602" y="33832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1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0,582</a:t>
            </a:r>
          </a:p>
        </p:txBody>
      </p:sp>
      <p:sp>
        <p:nvSpPr>
          <p:cNvPr id="28" name="Row 28"/>
          <p:cNvSpPr txBox="1"/>
          <p:nvPr/>
        </p:nvSpPr>
        <p:spPr>
          <a:xfrm>
            <a:off x="777240" y="37490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Ancha</a:t>
            </a:r>
          </a:p>
        </p:txBody>
      </p:sp>
      <p:cxnSp>
        <p:nvCxnSpPr>
          <p:cNvPr id="29" name="Line 29"/>
          <p:cNvCxnSpPr/>
          <p:nvPr/>
        </p:nvCxnSpPr>
        <p:spPr>
          <a:xfrm>
            <a:off x="4164787" y="3886200"/>
            <a:ext cx="834542" cy="0"/>
          </a:xfrm>
          <a:prstGeom prst="line">
            <a:avLst/>
          </a:prstGeom>
          <a:ln w="15875">
            <a:solidFill>
              <a:srgbClr val="15191D">
                <a:alpha val="55000"/>
              </a:srgbClr>
            </a:solidFill>
          </a:ln>
        </p:spPr>
      </p:cxnSp>
      <p:sp>
        <p:nvSpPr>
          <p:cNvPr id="30" name="Point 30"/>
          <p:cNvSpPr/>
          <p:nvPr/>
        </p:nvSpPr>
        <p:spPr>
          <a:xfrm>
            <a:off x="4508906" y="3813048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191D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31" name="Value 31"/>
          <p:cNvSpPr txBox="1"/>
          <p:nvPr/>
        </p:nvSpPr>
        <p:spPr>
          <a:xfrm>
            <a:off x="5045050" y="37490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15191D"/>
                </a:solidFill>
                <a:latin typeface="Arial"/>
                <a:cs typeface="Arial"/>
              </a:rPr>
              <a:t xml:space="preserve">0,559</a:t>
            </a:r>
          </a:p>
        </p:txBody>
      </p:sp>
      <p:sp>
        <p:nvSpPr>
          <p:cNvPr id="32" name="Group 32"/>
          <p:cNvSpPr txBox="1"/>
          <p:nvPr/>
        </p:nvSpPr>
        <p:spPr>
          <a:xfrm>
            <a:off x="777240" y="420624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Test · 176 pacientes</a:t>
            </a:r>
            <a:r>
              <a:rPr lang="es-ES" sz="9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  IC 95 %</a:t>
            </a:r>
          </a:p>
        </p:txBody>
      </p:sp>
      <p:cxnSp>
        <p:nvCxnSpPr>
          <p:cNvPr id="33" name="Line 33"/>
          <p:cNvCxnSpPr/>
          <p:nvPr/>
        </p:nvCxnSpPr>
        <p:spPr>
          <a:xfrm>
            <a:off x="4412894" y="4462272"/>
            <a:ext cx="0" cy="768096"/>
          </a:xfrm>
          <a:prstGeom prst="line">
            <a:avLst/>
          </a:prstGeom>
          <a:ln w="25400">
            <a:solidFill>
              <a:srgbClr val="DC7867"/>
            </a:solidFill>
          </a:ln>
        </p:spPr>
      </p:cxnSp>
      <p:sp>
        <p:nvSpPr>
          <p:cNvPr id="34" name="Row 34"/>
          <p:cNvSpPr txBox="1"/>
          <p:nvPr/>
        </p:nvSpPr>
        <p:spPr>
          <a:xfrm>
            <a:off x="777240" y="4526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Ancha · 1.ª mirada</a:t>
            </a:r>
          </a:p>
        </p:txBody>
      </p:sp>
      <p:cxnSp>
        <p:nvCxnSpPr>
          <p:cNvPr id="35" name="Line 35"/>
          <p:cNvCxnSpPr/>
          <p:nvPr/>
        </p:nvCxnSpPr>
        <p:spPr>
          <a:xfrm>
            <a:off x="4006901" y="4663440"/>
            <a:ext cx="1860804" cy="0"/>
          </a:xfrm>
          <a:prstGeom prst="line">
            <a:avLst/>
          </a:prstGeom>
          <a:ln w="15875">
            <a:solidFill>
              <a:srgbClr val="15191D">
                <a:alpha val="55000"/>
              </a:srgbClr>
            </a:solidFill>
          </a:ln>
        </p:spPr>
      </p:cxnSp>
      <p:sp>
        <p:nvSpPr>
          <p:cNvPr id="36" name="Point 36"/>
          <p:cNvSpPr/>
          <p:nvPr/>
        </p:nvSpPr>
        <p:spPr>
          <a:xfrm>
            <a:off x="4869790" y="4590288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5191D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37" name="Value 37"/>
          <p:cNvSpPr txBox="1"/>
          <p:nvPr/>
        </p:nvSpPr>
        <p:spPr>
          <a:xfrm>
            <a:off x="5913425" y="45262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15191D"/>
                </a:solidFill>
                <a:latin typeface="Arial"/>
                <a:cs typeface="Arial"/>
              </a:rPr>
              <a:t xml:space="preserve">0,591</a:t>
            </a:r>
          </a:p>
        </p:txBody>
      </p:sp>
      <p:sp>
        <p:nvSpPr>
          <p:cNvPr id="38" name="Row 38"/>
          <p:cNvSpPr txBox="1"/>
          <p:nvPr/>
        </p:nvSpPr>
        <p:spPr>
          <a:xfrm>
            <a:off x="777240" y="489204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Estrecha · 2.ª mirada</a:t>
            </a:r>
          </a:p>
        </p:txBody>
      </p:sp>
      <p:cxnSp>
        <p:nvCxnSpPr>
          <p:cNvPr id="39" name="Line 39"/>
          <p:cNvCxnSpPr/>
          <p:nvPr/>
        </p:nvCxnSpPr>
        <p:spPr>
          <a:xfrm>
            <a:off x="3262579" y="5029200"/>
            <a:ext cx="1815694" cy="0"/>
          </a:xfrm>
          <a:prstGeom prst="line">
            <a:avLst/>
          </a:prstGeom>
          <a:ln w="25400">
            <a:solidFill>
              <a:srgbClr val="15191D"/>
            </a:solidFill>
          </a:ln>
        </p:spPr>
      </p:cxnSp>
      <p:sp>
        <p:nvSpPr>
          <p:cNvPr id="40" name="Point 40"/>
          <p:cNvSpPr/>
          <p:nvPr/>
        </p:nvSpPr>
        <p:spPr>
          <a:xfrm>
            <a:off x="4091635" y="4956048"/>
            <a:ext cx="146304" cy="146304"/>
          </a:xfrm>
          <a:prstGeom prst="ellipse">
            <a:avLst/>
          </a:prstGeom>
          <a:solidFill>
            <a:srgbClr val="15191D"/>
          </a:solidFill>
          <a:ln w="19050">
            <a:solidFill>
              <a:srgbClr val="15191D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41" name="Value 41"/>
          <p:cNvSpPr txBox="1"/>
          <p:nvPr/>
        </p:nvSpPr>
        <p:spPr>
          <a:xfrm>
            <a:off x="5123993" y="489204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1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0,522</a:t>
            </a:r>
          </a:p>
        </p:txBody>
      </p:sp>
      <p:sp>
        <p:nvSpPr>
          <p:cNvPr id="42" name="Legend 42"/>
          <p:cNvSpPr txBox="1"/>
          <p:nvPr/>
        </p:nvSpPr>
        <p:spPr>
          <a:xfrm>
            <a:off x="777240" y="54406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200" b="0" i="0" dirty="0">
                <a:solidFill>
                  <a:srgbClr val="DC7867"/>
                </a:solidFill>
                <a:latin typeface="Arial"/>
                <a:cs typeface="Arial"/>
              </a:rPr>
              <a:t xml:space="preserve">▍</a:t>
            </a:r>
            <a:r>
              <a:rPr lang="es-ES" sz="11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 referencia de cohorte</a:t>
            </a:r>
          </a:p>
        </p:txBody>
      </p:sp>
      <p:sp>
        <p:nvSpPr>
          <p:cNvPr id="43" name="Panel 43"/>
          <p:cNvSpPr/>
          <p:nvPr/>
        </p:nvSpPr>
        <p:spPr>
          <a:xfrm>
            <a:off x="6995160" y="2624328"/>
            <a:ext cx="4645152" cy="3227832"/>
          </a:xfrm>
          <a:prstGeom prst="roundRect">
            <a:avLst>
              <a:gd name="adj" fmla="val 453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44" name="H 44"/>
          <p:cNvSpPr txBox="1"/>
          <p:nvPr/>
        </p:nvSpPr>
        <p:spPr>
          <a:xfrm>
            <a:off x="7251192" y="2697480"/>
            <a:ext cx="418795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3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El coste de equivocarse</a:t>
            </a:r>
            <a:r>
              <a:rPr lang="es-ES" sz="11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  test · umbral 0,35</a:t>
            </a:r>
          </a:p>
        </p:txBody>
      </p:sp>
      <p:sp>
        <p:nvSpPr>
          <p:cNvPr id="45" name="Col 45"/>
          <p:cNvSpPr txBox="1"/>
          <p:nvPr/>
        </p:nvSpPr>
        <p:spPr>
          <a:xfrm>
            <a:off x="8412480" y="299923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0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predice no pCR</a:t>
            </a:r>
          </a:p>
        </p:txBody>
      </p:sp>
      <p:sp>
        <p:nvSpPr>
          <p:cNvPr id="46" name="Col 46"/>
          <p:cNvSpPr txBox="1"/>
          <p:nvPr/>
        </p:nvSpPr>
        <p:spPr>
          <a:xfrm>
            <a:off x="9948672" y="2999232"/>
            <a:ext cx="14630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s-ES" sz="10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predice pCR</a:t>
            </a:r>
          </a:p>
        </p:txBody>
      </p:sp>
      <p:sp>
        <p:nvSpPr>
          <p:cNvPr id="47" name="Rowlab 47"/>
          <p:cNvSpPr txBox="1"/>
          <p:nvPr/>
        </p:nvSpPr>
        <p:spPr>
          <a:xfrm>
            <a:off x="7251192" y="3246120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0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real no pCR</a:t>
            </a:r>
          </a:p>
        </p:txBody>
      </p:sp>
      <p:sp>
        <p:nvSpPr>
          <p:cNvPr id="48" name="Rowlab 48"/>
          <p:cNvSpPr txBox="1"/>
          <p:nvPr/>
        </p:nvSpPr>
        <p:spPr>
          <a:xfrm>
            <a:off x="7251192" y="3886200"/>
            <a:ext cx="1097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0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real pCR</a:t>
            </a:r>
          </a:p>
        </p:txBody>
      </p:sp>
      <p:sp>
        <p:nvSpPr>
          <p:cNvPr id="49" name="Cell 49"/>
          <p:cNvSpPr/>
          <p:nvPr/>
        </p:nvSpPr>
        <p:spPr>
          <a:xfrm>
            <a:off x="8412480" y="324612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23656E">
              <a:alpha val="22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7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114</a:t>
            </a:r>
            <a:r>
              <a:rPr lang="es-ES" sz="10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  aciertos</a:t>
            </a:r>
          </a:p>
        </p:txBody>
      </p:sp>
      <p:sp>
        <p:nvSpPr>
          <p:cNvPr id="50" name="Cell 50"/>
          <p:cNvSpPr/>
          <p:nvPr/>
        </p:nvSpPr>
        <p:spPr>
          <a:xfrm>
            <a:off x="9948672" y="324612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15191D">
                <a:alpha val="35000"/>
              </a:srgbClr>
            </a:solidFill>
            <a:prstDash val="dash"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7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9</a:t>
            </a:r>
            <a:r>
              <a:rPr lang="es-ES" sz="10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  falsos positivos</a:t>
            </a:r>
          </a:p>
        </p:txBody>
      </p:sp>
      <p:sp>
        <p:nvSpPr>
          <p:cNvPr id="51" name="Cell 51"/>
          <p:cNvSpPr/>
          <p:nvPr/>
        </p:nvSpPr>
        <p:spPr>
          <a:xfrm>
            <a:off x="8412480" y="38862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15191D">
                <a:alpha val="35000"/>
              </a:srgbClr>
            </a:solidFill>
            <a:prstDash val="dash"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7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48</a:t>
            </a:r>
            <a:r>
              <a:rPr lang="es-ES" sz="10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  falsos negativos</a:t>
            </a:r>
          </a:p>
        </p:txBody>
      </p:sp>
      <p:sp>
        <p:nvSpPr>
          <p:cNvPr id="52" name="Cell 52"/>
          <p:cNvSpPr/>
          <p:nvPr/>
        </p:nvSpPr>
        <p:spPr>
          <a:xfrm>
            <a:off x="9948672" y="388620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DC7867">
              <a:alpha val="30000"/>
            </a:srgbClr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7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5</a:t>
            </a:r>
            <a:r>
              <a:rPr lang="es-ES" sz="10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  aciertos</a:t>
            </a:r>
          </a:p>
        </p:txBody>
      </p:sp>
      <p:sp>
        <p:nvSpPr>
          <p:cNvPr id="53" name="Errors 53"/>
          <p:cNvSpPr txBox="1"/>
          <p:nvPr/>
        </p:nvSpPr>
        <p:spPr>
          <a:xfrm>
            <a:off x="7251192" y="4572000"/>
            <a:ext cx="4187952" cy="1234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Falso positivo: </a:t>
            </a: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anuncia una pCR que no llega; sería el más grave si llevara a reducir el tratamiento</a:t>
            </a:r>
          </a:p>
          <a:p>
            <a:pPr algn="l">
              <a:lnSpc>
                <a:spcPct val="100000"/>
              </a:lnSpc>
              <a:spcAft>
                <a:spcPts val="400"/>
              </a:spcAft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Falso negativo: </a:t>
            </a: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no reconoce a una paciente que sí responde</a:t>
            </a:r>
          </a:p>
          <a:p>
            <a:pPr algn="l">
              <a:lnSpc>
                <a:spcPct val="100000"/>
              </a:lnSpc>
              <a:buNone/>
            </a:pPr>
            <a:r>
              <a:rPr lang="es-ES" sz="1200" b="0" i="1" dirty="0">
                <a:solidFill>
                  <a:srgbClr val="4A525B"/>
                </a:solidFill>
                <a:latin typeface="Arial"/>
                <a:cs typeface="Arial"/>
              </a:rPr>
              <a:t xml:space="preserve">Por eso el umbral prioriza la especificidad (92,7 % en test), a costa de la sensibilidad (9,4 %)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F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b 3"/>
          <p:cNvSpPr/>
          <p:nvPr/>
        </p:nvSpPr>
        <p:spPr>
          <a:xfrm>
            <a:off x="7863840" y="-1463040"/>
            <a:ext cx="5669280" cy="4572000"/>
          </a:xfrm>
          <a:prstGeom prst="ellipse">
            <a:avLst/>
          </a:prstGeom>
          <a:solidFill>
            <a:srgbClr val="D6E4E6">
              <a:alpha val="8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4" name="Blob 4"/>
          <p:cNvSpPr/>
          <p:nvPr/>
        </p:nvSpPr>
        <p:spPr>
          <a:xfrm>
            <a:off x="-1645920" y="3566160"/>
            <a:ext cx="5852160" cy="4206240"/>
          </a:xfrm>
          <a:prstGeom prst="ellipse">
            <a:avLst/>
          </a:prstGeom>
          <a:solidFill>
            <a:srgbClr val="E6E0EE">
              <a:alpha val="8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5" name="Blob 5"/>
          <p:cNvSpPr/>
          <p:nvPr/>
        </p:nvSpPr>
        <p:spPr>
          <a:xfrm>
            <a:off x="4754880" y="4206240"/>
            <a:ext cx="4937760" cy="3291840"/>
          </a:xfrm>
          <a:prstGeom prst="ellipse">
            <a:avLst/>
          </a:prstGeom>
          <a:solidFill>
            <a:srgbClr val="ECE5DC">
              <a:alpha val="70000"/>
            </a:srgbClr>
          </a:solidFill>
          <a:ln>
            <a:noFill/>
          </a:ln>
          <a:effectLst>
            <a:softEdge rad="1280160"/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6" name="Kicker 6"/>
          <p:cNvSpPr txBox="1"/>
          <p:nvPr/>
        </p:nvSpPr>
        <p:spPr>
          <a:xfrm>
            <a:off x="548640" y="347472"/>
            <a:ext cx="86868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3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5 · Producto, riesgos y propuesta de implantación</a:t>
            </a:r>
          </a:p>
        </p:txBody>
      </p:sp>
      <p:sp>
        <p:nvSpPr>
          <p:cNvPr id="7" name="Title 7"/>
          <p:cNvSpPr txBox="1"/>
          <p:nvPr/>
        </p:nvSpPr>
        <p:spPr>
          <a:xfrm>
            <a:off x="548640" y="621792"/>
            <a:ext cx="110642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s-ES" sz="25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Lector pCR ya funciona en el navegador; para uso clínico faltan el volumen 3D y una validación prospectiva</a:t>
            </a:r>
          </a:p>
        </p:txBody>
      </p:sp>
      <p:sp>
        <p:nvSpPr>
          <p:cNvPr id="8" name="Page 8"/>
          <p:cNvSpPr txBox="1"/>
          <p:nvPr/>
        </p:nvSpPr>
        <p:spPr>
          <a:xfrm>
            <a:off x="548640" y="6355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100" b="0" i="0" dirty="0">
                <a:solidFill>
                  <a:srgbClr val="8B9197"/>
                </a:solidFill>
                <a:latin typeface="Arial"/>
                <a:cs typeface="Arial"/>
              </a:rPr>
              <a:t xml:space="preserve">5 / 5</a:t>
            </a:r>
          </a:p>
        </p:txBody>
      </p:sp>
      <p:sp>
        <p:nvSpPr>
          <p:cNvPr id="9" name="Viewer 9"/>
          <p:cNvSpPr/>
          <p:nvPr/>
        </p:nvSpPr>
        <p:spPr>
          <a:xfrm>
            <a:off x="548640" y="1783080"/>
            <a:ext cx="3657600" cy="2011680"/>
          </a:xfrm>
          <a:prstGeom prst="roundRect">
            <a:avLst>
              <a:gd name="adj" fmla="val 7272"/>
            </a:avLst>
          </a:prstGeom>
          <a:solidFill>
            <a:srgbClr val="0E1113"/>
          </a:solidFill>
          <a:ln>
            <a:noFill/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10" name="App 10"/>
          <p:cNvSpPr txBox="1"/>
          <p:nvPr/>
        </p:nvSpPr>
        <p:spPr>
          <a:xfrm>
            <a:off x="804672" y="1892808"/>
            <a:ext cx="320040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es-ES" sz="1200" b="0" i="0" dirty="0">
                <a:solidFill>
                  <a:srgbClr val="A4A9AE"/>
                </a:solidFill>
                <a:latin typeface="Arial"/>
                <a:cs typeface="Arial"/>
              </a:rPr>
              <a:t xml:space="preserve">Lector pCR · demostración</a:t>
            </a:r>
          </a:p>
          <a:p>
            <a:pPr algn="l">
              <a:spcAft>
                <a:spcPts val="800"/>
              </a:spcAft>
              <a:buNone/>
            </a:pPr>
            <a:r>
              <a:rPr lang="es-ES" sz="12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alejandrobarreche.github.io/breast-cnn</a:t>
            </a:r>
          </a:p>
          <a:p>
            <a:pPr algn="l" marL="228600" indent="-228600">
              <a:spcAft>
                <a:spcPts val="200"/>
              </a:spcAft>
              <a:buClr>
                <a:srgbClr val="8B9197"/>
              </a:buClr>
              <a:buFont typeface="Arial"/>
              <a:buChar char="•"/>
            </a:pPr>
            <a:r>
              <a:rPr lang="es-ES" sz="1200" b="0" i="0" dirty="0">
                <a:solidFill>
                  <a:srgbClr val="D5D8DB"/>
                </a:solidFill>
                <a:latin typeface="Arial"/>
                <a:cs typeface="Arial"/>
              </a:rPr>
              <a:t xml:space="preserve">Modelo ONNX de 1,8 MB en el navegador</a:t>
            </a:r>
          </a:p>
          <a:p>
            <a:pPr algn="l" marL="228600" indent="-228600">
              <a:spcAft>
                <a:spcPts val="200"/>
              </a:spcAft>
              <a:buClr>
                <a:srgbClr val="8B9197"/>
              </a:buClr>
              <a:buFont typeface="Arial"/>
              <a:buChar char="•"/>
            </a:pPr>
            <a:r>
              <a:rPr lang="es-ES" sz="1200" b="0" i="0" dirty="0">
                <a:solidFill>
                  <a:srgbClr val="D5D8DB"/>
                </a:solidFill>
                <a:latin typeface="Arial"/>
                <a:cs typeface="Arial"/>
              </a:rPr>
              <a:t xml:space="preserve">Preprocesado idéntico al de Python (diferencia &lt; 10⁻⁶)</a:t>
            </a:r>
          </a:p>
          <a:p>
            <a:pPr algn="l" marL="228600" indent="-228600">
              <a:spcAft>
                <a:spcPts val="200"/>
              </a:spcAft>
              <a:buClr>
                <a:srgbClr val="8B9197"/>
              </a:buClr>
              <a:buFont typeface="Arial"/>
              <a:buChar char="•"/>
            </a:pPr>
            <a:r>
              <a:rPr lang="es-ES" sz="1200" b="0" i="0" dirty="0">
                <a:solidFill>
                  <a:srgbClr val="D5D8DB"/>
                </a:solidFill>
                <a:latin typeface="Arial"/>
                <a:cs typeface="Arial"/>
              </a:rPr>
              <a:t xml:space="preserve">Probabilidad, umbral y clase por paciente</a:t>
            </a:r>
          </a:p>
          <a:p>
            <a:pPr algn="l" marL="228600" indent="-228600">
              <a:buClr>
                <a:srgbClr val="8B9197"/>
              </a:buClr>
              <a:buFont typeface="Arial"/>
              <a:buChar char="•"/>
            </a:pPr>
            <a:r>
              <a:rPr lang="es-ES" sz="1200" b="0" i="0" dirty="0">
                <a:solidFill>
                  <a:srgbClr val="D5D8DB"/>
                </a:solidFill>
                <a:latin typeface="Arial"/>
                <a:cs typeface="Arial"/>
              </a:rPr>
              <a:t xml:space="preserve">Las imágenes no salen del equipo</a:t>
            </a:r>
          </a:p>
        </p:txBody>
      </p:sp>
      <p:sp>
        <p:nvSpPr>
          <p:cNvPr id="11" name="Panel 11"/>
          <p:cNvSpPr/>
          <p:nvPr/>
        </p:nvSpPr>
        <p:spPr>
          <a:xfrm>
            <a:off x="4434840" y="1783080"/>
            <a:ext cx="7205472" cy="2011680"/>
          </a:xfrm>
          <a:prstGeom prst="roundRect">
            <a:avLst>
              <a:gd name="adj" fmla="val 7272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12" name="H 12"/>
          <p:cNvSpPr txBox="1"/>
          <p:nvPr/>
        </p:nvSpPr>
        <p:spPr>
          <a:xfrm>
            <a:off x="4709160" y="1874520"/>
            <a:ext cx="665683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4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Plan de implantación</a:t>
            </a:r>
          </a:p>
        </p:txBody>
      </p:sp>
      <p:sp>
        <p:nvSpPr>
          <p:cNvPr id="13" name="Step 13"/>
          <p:cNvSpPr/>
          <p:nvPr/>
        </p:nvSpPr>
        <p:spPr>
          <a:xfrm>
            <a:off x="4709160" y="2221992"/>
            <a:ext cx="2103120" cy="1435608"/>
          </a:xfrm>
          <a:prstGeom prst="roundRect">
            <a:avLst>
              <a:gd name="adj" fmla="val 764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15191D">
                <a:alpha val="10000"/>
              </a:srgbClr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14" name="Num 14"/>
          <p:cNvSpPr/>
          <p:nvPr/>
        </p:nvSpPr>
        <p:spPr>
          <a:xfrm>
            <a:off x="4873752" y="2350008"/>
            <a:ext cx="329184" cy="329184"/>
          </a:xfrm>
          <a:prstGeom prst="ellipse">
            <a:avLst/>
          </a:prstGeom>
          <a:solidFill>
            <a:srgbClr val="15191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1</a:t>
            </a:r>
          </a:p>
        </p:txBody>
      </p:sp>
      <p:sp>
        <p:nvSpPr>
          <p:cNvPr id="15" name="Step title 15"/>
          <p:cNvSpPr txBox="1"/>
          <p:nvPr/>
        </p:nvSpPr>
        <p:spPr>
          <a:xfrm>
            <a:off x="5294376" y="235000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4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Datos</a:t>
            </a:r>
          </a:p>
        </p:txBody>
      </p:sp>
      <p:sp>
        <p:nvSpPr>
          <p:cNvPr id="16" name="Step body 16"/>
          <p:cNvSpPr txBox="1"/>
          <p:nvPr/>
        </p:nvSpPr>
        <p:spPr>
          <a:xfrm>
            <a:off x="4873752" y="2761488"/>
            <a:ext cx="184708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lnSpc>
                <a:spcPct val="100000"/>
              </a:lnSpc>
              <a:spcAft>
                <a:spcPts val="300"/>
              </a:spcAft>
              <a:buClr>
                <a:srgbClr val="8B9197"/>
              </a:buClr>
              <a:buFont typeface="Arial"/>
              <a:buChar char="•"/>
            </a:pP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Volumen 3D (BreastDCEDL: 2.070 pacientes)</a:t>
            </a:r>
          </a:p>
          <a:p>
            <a:pPr algn="l" marL="228600" indent="-228600">
              <a:lnSpc>
                <a:spcPct val="100000"/>
              </a:lnSpc>
              <a:spcAft>
                <a:spcPts val="300"/>
              </a:spcAft>
              <a:buClr>
                <a:srgbClr val="8B9197"/>
              </a:buClr>
              <a:buFont typeface="Arial"/>
              <a:buChar char="•"/>
            </a:pP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Tumor segmentado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6839712" y="2514600"/>
            <a:ext cx="164592" cy="0"/>
          </a:xfrm>
          <a:prstGeom prst="line">
            <a:avLst/>
          </a:prstGeom>
          <a:ln w="15875">
            <a:solidFill>
              <a:srgbClr val="15191D"/>
            </a:solidFill>
            <a:tailEnd type="triangle" w="med" len="med"/>
          </a:ln>
        </p:spPr>
      </p:cxnSp>
      <p:sp>
        <p:nvSpPr>
          <p:cNvPr id="18" name="Step 18"/>
          <p:cNvSpPr/>
          <p:nvPr/>
        </p:nvSpPr>
        <p:spPr>
          <a:xfrm>
            <a:off x="7031736" y="2221992"/>
            <a:ext cx="2103120" cy="1435608"/>
          </a:xfrm>
          <a:prstGeom prst="roundRect">
            <a:avLst>
              <a:gd name="adj" fmla="val 764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15191D">
                <a:alpha val="10000"/>
              </a:srgbClr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19" name="Num 19"/>
          <p:cNvSpPr/>
          <p:nvPr/>
        </p:nvSpPr>
        <p:spPr>
          <a:xfrm>
            <a:off x="7196328" y="2350008"/>
            <a:ext cx="329184" cy="329184"/>
          </a:xfrm>
          <a:prstGeom prst="ellipse">
            <a:avLst/>
          </a:prstGeom>
          <a:solidFill>
            <a:srgbClr val="15191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2</a:t>
            </a:r>
          </a:p>
        </p:txBody>
      </p:sp>
      <p:sp>
        <p:nvSpPr>
          <p:cNvPr id="20" name="Step title 20"/>
          <p:cNvSpPr txBox="1"/>
          <p:nvPr/>
        </p:nvSpPr>
        <p:spPr>
          <a:xfrm>
            <a:off x="7616952" y="235000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4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Modelo</a:t>
            </a:r>
          </a:p>
        </p:txBody>
      </p:sp>
      <p:sp>
        <p:nvSpPr>
          <p:cNvPr id="21" name="Step body 21"/>
          <p:cNvSpPr txBox="1"/>
          <p:nvPr/>
        </p:nvSpPr>
        <p:spPr>
          <a:xfrm>
            <a:off x="7196328" y="2761488"/>
            <a:ext cx="184708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lnSpc>
                <a:spcPct val="100000"/>
              </a:lnSpc>
              <a:spcAft>
                <a:spcPts val="300"/>
              </a:spcAft>
              <a:buClr>
                <a:srgbClr val="8B9197"/>
              </a:buClr>
              <a:buFont typeface="Arial"/>
              <a:buChar char="•"/>
            </a:pP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CNN 3D frente a la 2D, mismos folds</a:t>
            </a:r>
          </a:p>
          <a:p>
            <a:pPr algn="l" marL="228600" indent="-228600">
              <a:lnSpc>
                <a:spcPct val="100000"/>
              </a:lnSpc>
              <a:spcAft>
                <a:spcPts val="300"/>
              </a:spcAft>
              <a:buClr>
                <a:srgbClr val="8B9197"/>
              </a:buClr>
              <a:buFont typeface="Arial"/>
              <a:buChar char="•"/>
            </a:pP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Validación multicéntrica y prospectiva</a:t>
            </a:r>
          </a:p>
        </p:txBody>
      </p:sp>
      <p:cxnSp>
        <p:nvCxnSpPr>
          <p:cNvPr id="22" name="Line 22"/>
          <p:cNvCxnSpPr/>
          <p:nvPr/>
        </p:nvCxnSpPr>
        <p:spPr>
          <a:xfrm>
            <a:off x="9162288" y="2514600"/>
            <a:ext cx="164592" cy="0"/>
          </a:xfrm>
          <a:prstGeom prst="line">
            <a:avLst/>
          </a:prstGeom>
          <a:ln w="15875">
            <a:solidFill>
              <a:srgbClr val="15191D"/>
            </a:solidFill>
            <a:tailEnd type="triangle" w="med" len="med"/>
          </a:ln>
        </p:spPr>
      </p:cxnSp>
      <p:sp>
        <p:nvSpPr>
          <p:cNvPr id="23" name="Step 23"/>
          <p:cNvSpPr/>
          <p:nvPr/>
        </p:nvSpPr>
        <p:spPr>
          <a:xfrm>
            <a:off x="9354312" y="2221992"/>
            <a:ext cx="2103120" cy="1435608"/>
          </a:xfrm>
          <a:prstGeom prst="roundRect">
            <a:avLst>
              <a:gd name="adj" fmla="val 764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15191D">
                <a:alpha val="10000"/>
              </a:srgbClr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24" name="Num 24"/>
          <p:cNvSpPr/>
          <p:nvPr/>
        </p:nvSpPr>
        <p:spPr>
          <a:xfrm>
            <a:off x="9518904" y="2350008"/>
            <a:ext cx="329184" cy="329184"/>
          </a:xfrm>
          <a:prstGeom prst="ellipse">
            <a:avLst/>
          </a:prstGeom>
          <a:solidFill>
            <a:srgbClr val="15191D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s-ES" sz="12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3</a:t>
            </a:r>
          </a:p>
        </p:txBody>
      </p:sp>
      <p:sp>
        <p:nvSpPr>
          <p:cNvPr id="25" name="Step title 25"/>
          <p:cNvSpPr txBox="1"/>
          <p:nvPr/>
        </p:nvSpPr>
        <p:spPr>
          <a:xfrm>
            <a:off x="9939528" y="2350008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s-ES" sz="14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Integración</a:t>
            </a:r>
          </a:p>
        </p:txBody>
      </p:sp>
      <p:sp>
        <p:nvSpPr>
          <p:cNvPr id="26" name="Step body 26"/>
          <p:cNvSpPr txBox="1"/>
          <p:nvPr/>
        </p:nvSpPr>
        <p:spPr>
          <a:xfrm>
            <a:off x="9518904" y="2761488"/>
            <a:ext cx="1847088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28600" indent="-228600">
              <a:lnSpc>
                <a:spcPct val="100000"/>
              </a:lnSpc>
              <a:spcAft>
                <a:spcPts val="300"/>
              </a:spcAft>
              <a:buClr>
                <a:srgbClr val="8B9197"/>
              </a:buClr>
              <a:buFont typeface="Arial"/>
              <a:buChar char="•"/>
            </a:pP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PACS/DICOM y comité de tumores</a:t>
            </a:r>
          </a:p>
          <a:p>
            <a:pPr algn="l" marL="228600" indent="-228600">
              <a:lnSpc>
                <a:spcPct val="100000"/>
              </a:lnSpc>
              <a:spcAft>
                <a:spcPts val="300"/>
              </a:spcAft>
              <a:buClr>
                <a:srgbClr val="8B9197"/>
              </a:buClr>
              <a:buFont typeface="Arial"/>
              <a:buChar char="•"/>
            </a:pP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Marcado CE como producto sanitario</a:t>
            </a:r>
          </a:p>
        </p:txBody>
      </p:sp>
      <p:sp>
        <p:nvSpPr>
          <p:cNvPr id="27" name="Panel 27"/>
          <p:cNvSpPr/>
          <p:nvPr/>
        </p:nvSpPr>
        <p:spPr>
          <a:xfrm>
            <a:off x="548640" y="3931920"/>
            <a:ext cx="11091672" cy="1298448"/>
          </a:xfrm>
          <a:prstGeom prst="roundRect">
            <a:avLst>
              <a:gd name="adj" fmla="val 11267"/>
            </a:avLst>
          </a:prstGeom>
          <a:solidFill>
            <a:srgbClr val="FFFFFF">
              <a:alpha val="62000"/>
            </a:srgbClr>
          </a:solidFill>
          <a:ln w="12700">
            <a:solidFill>
              <a:srgbClr val="FFFFFF">
                <a:alpha val="90000"/>
              </a:srgbClr>
            </a:solidFill>
          </a:ln>
          <a:effectLst>
            <a:outerShdw blurRad="508000" dist="152400" dir="5400000" algn="t" rotWithShape="0">
              <a:srgbClr val="1E2832">
                <a:alpha val="9000"/>
              </a:srgbClr>
            </a:outerShdw>
          </a:effectLst>
        </p:spPr>
        <p:txBody>
          <a:bodyPr wrap="square" lIns="0" tIns="0" rIns="0" bIns="0" anchor="t" rtlCol="0">
            <a:noAutofit/>
          </a:bodyPr>
          <a:lstStyle/>
          <a:p>
            <a:endParaRPr lang="es-ES" dirty="0"/>
          </a:p>
        </p:txBody>
      </p:sp>
      <p:sp>
        <p:nvSpPr>
          <p:cNvPr id="28" name="H 28"/>
          <p:cNvSpPr txBox="1"/>
          <p:nvPr/>
        </p:nvSpPr>
        <p:spPr>
          <a:xfrm>
            <a:off x="822960" y="39959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s-ES" sz="13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Riesgos y mitigaciones</a:t>
            </a:r>
          </a:p>
        </p:txBody>
      </p:sp>
      <p:sp>
        <p:nvSpPr>
          <p:cNvPr id="29" name="Risk 29"/>
          <p:cNvSpPr txBox="1"/>
          <p:nvPr/>
        </p:nvSpPr>
        <p:spPr>
          <a:xfrm>
            <a:off x="822960" y="4297680"/>
            <a:ext cx="5349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Señal débil (AUC 0,52–0,58)  </a:t>
            </a: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3D y tumor segmentado (AUC externo 0,72 en Xu et al., 2025)</a:t>
            </a:r>
          </a:p>
        </p:txBody>
      </p:sp>
      <p:sp>
        <p:nvSpPr>
          <p:cNvPr id="30" name="Risk 30"/>
          <p:cNvSpPr txBox="1"/>
          <p:nvPr/>
        </p:nvSpPr>
        <p:spPr>
          <a:xfrm>
            <a:off x="6309360" y="4297680"/>
            <a:ext cx="5349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Diferencias entre hospitales  </a:t>
            </a: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Parte de la señal es la cohorte: validar por centro y recalibrar</a:t>
            </a:r>
          </a:p>
        </p:txBody>
      </p:sp>
      <p:sp>
        <p:nvSpPr>
          <p:cNvPr id="31" name="Risk 31"/>
          <p:cNvSpPr txBox="1"/>
          <p:nvPr/>
        </p:nvSpPr>
        <p:spPr>
          <a:xfrm>
            <a:off x="822960" y="4736592"/>
            <a:ext cx="5349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Uso como diagnóstico  </a:t>
            </a: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Solo apoyo al comité de tumores, con umbral y probabilidad explícitos</a:t>
            </a:r>
          </a:p>
        </p:txBody>
      </p:sp>
      <p:sp>
        <p:nvSpPr>
          <p:cNvPr id="32" name="Risk 32"/>
          <p:cNvSpPr txBox="1"/>
          <p:nvPr/>
        </p:nvSpPr>
        <p:spPr>
          <a:xfrm>
            <a:off x="6309360" y="4736592"/>
            <a:ext cx="53492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s-ES" sz="1200" b="1" i="0" dirty="0">
                <a:solidFill>
                  <a:srgbClr val="15191D"/>
                </a:solidFill>
                <a:latin typeface="Arial"/>
                <a:cs typeface="Arial"/>
              </a:rPr>
              <a:t xml:space="preserve">Privacidad y regulación  </a:t>
            </a:r>
            <a:r>
              <a:rPr lang="es-ES" sz="1200" b="0" i="0" dirty="0">
                <a:solidFill>
                  <a:srgbClr val="4A525B"/>
                </a:solidFill>
                <a:latin typeface="Arial"/>
                <a:cs typeface="Arial"/>
              </a:rPr>
              <a:t xml:space="preserve">Inferencia local sin servidor; marcado CE como producto sanitario</a:t>
            </a:r>
          </a:p>
        </p:txBody>
      </p:sp>
      <p:sp>
        <p:nvSpPr>
          <p:cNvPr id="33" name="Conclusion 33"/>
          <p:cNvSpPr/>
          <p:nvPr/>
        </p:nvSpPr>
        <p:spPr>
          <a:xfrm>
            <a:off x="548640" y="5349240"/>
            <a:ext cx="11091672" cy="502920"/>
          </a:xfrm>
          <a:prstGeom prst="roundRect">
            <a:avLst>
              <a:gd name="adj" fmla="val 21818"/>
            </a:avLst>
          </a:prstGeom>
          <a:solidFill>
            <a:srgbClr val="15191D"/>
          </a:solidFill>
          <a:ln>
            <a:noFill/>
          </a:ln>
        </p:spPr>
        <p:txBody>
          <a:bodyPr wrap="square" lIns="274320" tIns="27432" rIns="182880" bIns="27432" anchor="ctr" rtlCol="0">
            <a:noAutofit/>
          </a:bodyPr>
          <a:lstStyle/>
          <a:p>
            <a:pPr algn="l">
              <a:buNone/>
            </a:pPr>
            <a:r>
              <a:rPr lang="es-ES" sz="1400" b="1" i="0" dirty="0">
                <a:solidFill>
                  <a:srgbClr val="FFFFFF"/>
                </a:solidFill>
                <a:latin typeface="Arial"/>
                <a:cs typeface="Arial"/>
              </a:rPr>
              <a:t xml:space="preserve">Conclusión  </a:t>
            </a:r>
            <a:r>
              <a:rPr lang="es-ES" sz="1400" b="0" i="0" dirty="0">
                <a:solidFill>
                  <a:srgbClr val="D5D8DB"/>
                </a:solidFill>
                <a:latin typeface="Arial"/>
                <a:cs typeface="Arial"/>
              </a:rPr>
              <a:t xml:space="preserve">el sistema es reproducible y desplegable; la imagen 2D sola no basta para predecir la pCR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8">
            <a:extLst>
              <a:ext uri="{FF2B5EF4-FFF2-40B4-BE49-F238E27FC236}">
                <a16:creationId xmlns:a16="http://schemas.microsoft.com/office/drawing/2014/main" id="{49E18F14-67C1-03FD-1B54-7C091E7B083A}"/>
              </a:ext>
            </a:extLst>
          </p:cNvPr>
          <p:cNvSpPr/>
          <p:nvPr/>
        </p:nvSpPr>
        <p:spPr>
          <a:xfrm>
            <a:off x="0" y="-43543"/>
            <a:ext cx="12192000" cy="6901544"/>
          </a:xfrm>
          <a:custGeom>
            <a:avLst/>
            <a:gdLst/>
            <a:ahLst/>
            <a:cxnLst/>
            <a:rect l="l" t="t" r="r" b="b"/>
            <a:pathLst>
              <a:path w="7616190" h="7560309">
                <a:moveTo>
                  <a:pt x="7615643" y="0"/>
                </a:moveTo>
                <a:lnTo>
                  <a:pt x="0" y="0"/>
                </a:lnTo>
                <a:lnTo>
                  <a:pt x="0" y="7559992"/>
                </a:lnTo>
                <a:lnTo>
                  <a:pt x="3689819" y="7559992"/>
                </a:lnTo>
                <a:lnTo>
                  <a:pt x="7615643" y="0"/>
                </a:lnTo>
                <a:close/>
              </a:path>
            </a:pathLst>
          </a:custGeom>
          <a:solidFill>
            <a:srgbClr val="15191D"/>
          </a:solidFill>
        </p:spPr>
        <p:txBody>
          <a:bodyPr wrap="square" lIns="0" tIns="0" rIns="0" bIns="0" rtlCol="0"/>
          <a:lstStyle/>
          <a:p>
            <a:endParaRPr dirty="0">
              <a:latin typeface="+mj-lt"/>
            </a:endParaRPr>
          </a:p>
        </p:txBody>
      </p:sp>
      <p:pic>
        <p:nvPicPr>
          <p:cNvPr id="10" name="object 16">
            <a:extLst>
              <a:ext uri="{FF2B5EF4-FFF2-40B4-BE49-F238E27FC236}">
                <a16:creationId xmlns:a16="http://schemas.microsoft.com/office/drawing/2014/main" id="{58731C1D-78BA-E384-79A1-F1D7DFBABCC3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1076" y="-145846"/>
            <a:ext cx="3613741" cy="133894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D7A7B74-ACDE-3952-607E-91F98A156E41}"/>
              </a:ext>
            </a:extLst>
          </p:cNvPr>
          <p:cNvSpPr txBox="1"/>
          <p:nvPr/>
        </p:nvSpPr>
        <p:spPr>
          <a:xfrm>
            <a:off x="309713" y="4524888"/>
            <a:ext cx="427317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4000" dirty="0">
                <a:solidFill>
                  <a:schemeClr val="bg1"/>
                </a:solidFill>
                <a:latin typeface="+mj-lt"/>
              </a:rPr>
              <a:t>Soy Innovación </a:t>
            </a:r>
          </a:p>
          <a:p>
            <a:r>
              <a:rPr lang="es-ES_tradnl" sz="4000" dirty="0">
                <a:solidFill>
                  <a:schemeClr val="bg1"/>
                </a:solidFill>
                <a:latin typeface="+mj-lt"/>
              </a:rPr>
              <a:t>Soy </a:t>
            </a:r>
            <a:r>
              <a:rPr lang="es-ES_tradnl" sz="4000" dirty="0" err="1">
                <a:solidFill>
                  <a:schemeClr val="bg1"/>
                </a:solidFill>
                <a:latin typeface="+mj-lt"/>
              </a:rPr>
              <a:t>Maker</a:t>
            </a:r>
            <a:endParaRPr lang="es-ES_tradnl" sz="4000" dirty="0">
              <a:solidFill>
                <a:schemeClr val="bg1"/>
              </a:solidFill>
              <a:latin typeface="+mj-lt"/>
            </a:endParaRPr>
          </a:p>
          <a:p>
            <a:r>
              <a:rPr lang="es-ES_tradnl" sz="4800" b="1" dirty="0">
                <a:solidFill>
                  <a:schemeClr val="bg1"/>
                </a:solidFill>
                <a:latin typeface="+mj-lt"/>
              </a:rPr>
              <a:t>Soy UAX</a:t>
            </a:r>
            <a:endParaRPr lang="es-ES_tradnl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2D642AB-E684-4603-A6BD-4087E8D9F867}"/>
              </a:ext>
            </a:extLst>
          </p:cNvPr>
          <p:cNvSpPr txBox="1"/>
          <p:nvPr/>
        </p:nvSpPr>
        <p:spPr>
          <a:xfrm>
            <a:off x="2132120" y="2333112"/>
            <a:ext cx="79277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4800" b="1" dirty="0" err="1">
                <a:solidFill>
                  <a:schemeClr val="bg1"/>
                </a:solidFill>
                <a:latin typeface="+mj-lt"/>
              </a:rPr>
              <a:t/>
            </a:r>
            <a:r>
              <a:rPr lang="es-ES_tradnl" sz="48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s-ES_tradnl" sz="4800" b="1" dirty="0" err="1">
                <a:solidFill>
                  <a:schemeClr val="bg1"/>
                </a:solidFill>
                <a:latin typeface="+mj-lt"/>
              </a:rPr>
              <a:t/>
            </a:r>
            <a:r>
              <a:rPr lang="es-ES_tradnl" sz="4800" b="1" dirty="0">
                <a:solidFill>
                  <a:schemeClr val="bg1"/>
                </a:solidFill>
                <a:latin typeface="+mj-lt"/>
              </a:rPr>
              <a:t/>
            </a:r>
          </a:p>
          <a:p>
            <a:pPr algn="ctr"/>
            <a:r>
              <a:rPr lang="es-ES_tradnl" sz="4800" b="1" dirty="0">
                <a:solidFill>
                  <a:schemeClr val="bg1"/>
                </a:solidFill>
                <a:latin typeface="+mj-lt"/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1102219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M Roman 10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ceso xmlns="4bd470e1-a810-4dc7-a7f4-504af0e5f80d">PE01.01</Proceso>
    <Macroproceso xmlns="4bd470e1-a810-4dc7-a7f4-504af0e5f80d">LIDERAZGO Y ESTRATEGIA</Macroproceso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84DA0D6C2ADE46966ECE7A6B7DD2B5" ma:contentTypeVersion="8" ma:contentTypeDescription="Crear nuevo documento." ma:contentTypeScope="" ma:versionID="36dcda6161a342f68f8c529063e8cda3">
  <xsd:schema xmlns:xsd="http://www.w3.org/2001/XMLSchema" xmlns:xs="http://www.w3.org/2001/XMLSchema" xmlns:p="http://schemas.microsoft.com/office/2006/metadata/properties" xmlns:ns2="4bd470e1-a810-4dc7-a7f4-504af0e5f80d" xmlns:ns3="94bf27de-86a6-4ac7-874e-21eaa1714b2f" targetNamespace="http://schemas.microsoft.com/office/2006/metadata/properties" ma:root="true" ma:fieldsID="0e2e7ed13747b05cb62c0c7df8d0962a" ns2:_="" ns3:_="">
    <xsd:import namespace="4bd470e1-a810-4dc7-a7f4-504af0e5f80d"/>
    <xsd:import namespace="94bf27de-86a6-4ac7-874e-21eaa1714b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acroproceso" minOccurs="0"/>
                <xsd:element ref="ns2:Proceso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470e1-a810-4dc7-a7f4-504af0e5f8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acroproceso" ma:index="10" nillable="true" ma:displayName="Macroproceso" ma:format="Dropdown" ma:internalName="Macroproceso">
      <xsd:simpleType>
        <xsd:restriction base="dms:Text">
          <xsd:maxLength value="255"/>
        </xsd:restriction>
      </xsd:simpleType>
    </xsd:element>
    <xsd:element name="Proceso" ma:index="11" nillable="true" ma:displayName="Proceso" ma:format="Dropdown" ma:internalName="Proceso">
      <xsd:simpleType>
        <xsd:restriction base="dms:Text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f27de-86a6-4ac7-874e-21eaa1714b2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5FC8CCB-90C7-4014-A3CC-51D62035841A}">
  <ds:schemaRefs>
    <ds:schemaRef ds:uri="http://schemas.microsoft.com/office/2006/metadata/properties"/>
    <ds:schemaRef ds:uri="http://schemas.microsoft.com/office/infopath/2007/PartnerControls"/>
    <ds:schemaRef ds:uri="4bd470e1-a810-4dc7-a7f4-504af0e5f80d"/>
  </ds:schemaRefs>
</ds:datastoreItem>
</file>

<file path=customXml/itemProps2.xml><?xml version="1.0" encoding="utf-8"?>
<ds:datastoreItem xmlns:ds="http://schemas.openxmlformats.org/officeDocument/2006/customXml" ds:itemID="{FF8CADC5-B4F8-4677-9B61-54BC6C46CF0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87E67B-EA3D-412C-8702-4A89E4D9D8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d470e1-a810-4dc7-a7f4-504af0e5f80d"/>
    <ds:schemaRef ds:uri="94bf27de-86a6-4ac7-874e-21eaa1714b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11871</TotalTime>
  <Words>17</Words>
  <Application>Microsoft Office PowerPoint</Application>
  <PresentationFormat>Panorámica</PresentationFormat>
  <Paragraphs>12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Muli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Revisión por la Dirección</dc:title>
  <dc:creator>Javier Medina de Moya</dc:creator>
  <cp:lastModifiedBy>JACINTO VELASCO</cp:lastModifiedBy>
  <cp:revision>82</cp:revision>
  <cp:lastPrinted>2023-04-11T15:07:57Z</cp:lastPrinted>
  <dcterms:created xsi:type="dcterms:W3CDTF">2023-02-27T08:54:16Z</dcterms:created>
  <dcterms:modified xsi:type="dcterms:W3CDTF">2025-09-14T11:44:01Z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0x0101009B84DA0D6C2ADE46966ECE7A6B7DD2B5</vt:lpwstr>
  </property>
</Properties>
</file>